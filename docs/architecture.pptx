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sldIdLst>
    <p:sldId id="257" r:id="rId3"/>
    <p:sldId id="271" r:id="rId4"/>
    <p:sldId id="256" r:id="rId5"/>
    <p:sldId id="264" r:id="rId6"/>
    <p:sldId id="269" r:id="rId7"/>
    <p:sldId id="263" r:id="rId8"/>
    <p:sldId id="265" r:id="rId9"/>
    <p:sldId id="266" r:id="rId10"/>
    <p:sldId id="268" r:id="rId11"/>
    <p:sldId id="270" r:id="rId12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3" d="100"/>
          <a:sy n="83" d="100"/>
        </p:scale>
        <p:origin x="115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presProps" Target="presProp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2" Type="http://schemas.openxmlformats.org/officeDocument/2006/relationships/slideMaster" Target="slideMasters/slideMaster2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theme" Target="theme/theme1.xml"/><Relationship Id="rId10" Type="http://schemas.openxmlformats.org/officeDocument/2006/relationships/slide" Target="slides/slide8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C72DF80-EBF3-111B-5923-F65DBDEB1F2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1880307A-08B9-3DD8-1C4C-E23EAFBC6D2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382683B-1F1B-7A61-D605-B657CF5DAD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539EC6-7AF1-418C-94A7-BD258F9FEED6}" type="datetimeFigureOut">
              <a:rPr kumimoji="1" lang="ja-JP" altLang="en-US" smtClean="0"/>
              <a:t>2026/4/8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F6A04F9-9B93-05B5-680D-333BF23E79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D468B4A-08E2-F38A-A21A-A8424BC913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54C8AA-E002-499F-BACA-D169C2B566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887634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0C60283-0375-0013-5BF8-E9D77BC0F8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B2AB5D5-D4DB-2239-98E3-F33168A01D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57F0479-23EA-1238-327B-7D7D9AC1B0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539EC6-7AF1-418C-94A7-BD258F9FEED6}" type="datetimeFigureOut">
              <a:rPr kumimoji="1" lang="ja-JP" altLang="en-US" smtClean="0"/>
              <a:t>2026/4/8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77E6E47-218A-C96C-A5A0-8BF1A64962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5B641A1-011B-3A6C-4129-E93E7067E2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54C8AA-E002-499F-BACA-D169C2B566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144180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98A3DB1-BAC1-953B-8EF3-0455D47093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820E8A8E-B0E5-CE97-3048-84F8F7AA86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0147AB-253F-0ACE-6EA6-768EFE22F9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539EC6-7AF1-418C-94A7-BD258F9FEED6}" type="datetimeFigureOut">
              <a:rPr kumimoji="1" lang="ja-JP" altLang="en-US" smtClean="0"/>
              <a:t>2026/4/8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2EF73F2-5CC2-3968-8736-F51FF93355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0F301FA-3899-5BC2-04DE-6D4158116A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54C8AA-E002-499F-BACA-D169C2B566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36292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7AAEA6D-A9BC-B323-E213-346A37070F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7F33F94-BFDB-34ED-4400-C03121F72C9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C78FA227-977B-64C2-A40A-383493701EF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66115B6-4540-BEA9-44C8-2F61F7E21B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539EC6-7AF1-418C-94A7-BD258F9FEED6}" type="datetimeFigureOut">
              <a:rPr kumimoji="1" lang="ja-JP" altLang="en-US" smtClean="0"/>
              <a:t>2026/4/8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FE4881FA-FB8E-4B88-2495-E382698D7A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3F5F35D4-06D2-0A2D-675C-CB4AE74185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54C8AA-E002-499F-BACA-D169C2B566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889988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58B44EC-1968-7989-ADA1-A60F895053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0CD222C1-5B9E-AD31-8275-F873DE24B1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36D30530-41CD-C2FF-CA68-2460379F016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B31821E7-D496-5531-B8EC-B08120A609F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C8765371-9DD5-49C1-BF9D-A14C69F87ED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8075C077-D746-20F9-2EB3-3A9EE10F3A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539EC6-7AF1-418C-94A7-BD258F9FEED6}" type="datetimeFigureOut">
              <a:rPr kumimoji="1" lang="ja-JP" altLang="en-US" smtClean="0"/>
              <a:t>2026/4/8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03C6D59A-A80A-B5F6-E7A5-C29ABFC2A4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CDF495E4-38B6-8EC8-8209-ED011773E4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54C8AA-E002-499F-BACA-D169C2B566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472673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20FB56D-D51A-F5C3-9E8D-6F5F9401E4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A7508C95-8172-2040-C457-5DF7C05DCD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539EC6-7AF1-418C-94A7-BD258F9FEED6}" type="datetimeFigureOut">
              <a:rPr kumimoji="1" lang="ja-JP" altLang="en-US" smtClean="0"/>
              <a:t>2026/4/8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DB0D33F5-CB79-3276-7F3E-6079E84CF9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05362377-E65E-7454-DFA5-D4648E64B4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54C8AA-E002-499F-BACA-D169C2B566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914646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4D617F77-AA18-A42D-8934-846E817ECC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539EC6-7AF1-418C-94A7-BD258F9FEED6}" type="datetimeFigureOut">
              <a:rPr kumimoji="1" lang="ja-JP" altLang="en-US" smtClean="0"/>
              <a:t>2026/4/8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4086CA5B-F7A5-0D65-2595-EB05CD3D5F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9A3E0991-B908-2901-1988-79C6745B29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54C8AA-E002-499F-BACA-D169C2B566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49060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5D1828-AAE0-3FA8-D76F-1933BB39E2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FAD12B7-8CB5-DC12-0ED1-856F0043B5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DF9D4444-B712-4F49-0655-6CCEBBAD72C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5565F6F-E20E-7C39-EEB1-8E9F9480BD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539EC6-7AF1-418C-94A7-BD258F9FEED6}" type="datetimeFigureOut">
              <a:rPr kumimoji="1" lang="ja-JP" altLang="en-US" smtClean="0"/>
              <a:t>2026/4/8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7DDA06A2-0036-8D2A-C4F5-454F1C527B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F6F3B7A1-42AD-FAB7-C751-82BCF37042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54C8AA-E002-499F-BACA-D169C2B566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347966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D4DA68E-A0BA-EFD1-F80B-0C55D2F4FF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4C6B1F0-11F5-EAB1-14F9-5F7657FA52A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BFEBE81A-1989-7933-E35F-360377221B3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3DD7BC58-1175-9F84-062C-04078313C0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539EC6-7AF1-418C-94A7-BD258F9FEED6}" type="datetimeFigureOut">
              <a:rPr kumimoji="1" lang="ja-JP" altLang="en-US" smtClean="0"/>
              <a:t>2026/4/8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6ED3F97B-21C0-4488-322D-978071760B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9C083B25-A6A9-C26C-8A40-03B49C6E71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54C8AA-E002-499F-BACA-D169C2B566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61052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3D63165-5910-23D0-28E8-80F67A3AFE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433C25BC-A9B0-6B25-AF26-FBE74F5B81A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C15FB23-9D64-0E72-F36C-DFA64176B0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539EC6-7AF1-418C-94A7-BD258F9FEED6}" type="datetimeFigureOut">
              <a:rPr kumimoji="1" lang="ja-JP" altLang="en-US" smtClean="0"/>
              <a:t>2026/4/8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5A282D4-8804-9F4D-41ED-95152A70C9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26052DA-E18D-2B9B-9598-B7E4142744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54C8AA-E002-499F-BACA-D169C2B566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775640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62C8F68E-B689-BFF4-ADEE-ECC9005ADD2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C2B769D3-AABD-F64D-9ED2-CABA1066BC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EB51592-9E3C-F57B-8E43-24FAB33F54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539EC6-7AF1-418C-94A7-BD258F9FEED6}" type="datetimeFigureOut">
              <a:rPr kumimoji="1" lang="ja-JP" altLang="en-US" smtClean="0"/>
              <a:t>2026/4/8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025E008-2A19-2762-3C02-724DC2421D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A55890-175F-AA70-DF76-21248C5A19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54C8AA-E002-499F-BACA-D169C2B566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1348155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>
            <a:noAutofit/>
          </a:bodyPr>
          <a:lstStyle>
            <a:lvl1pPr>
              <a:defRPr sz="7200">
                <a:solidFill>
                  <a:schemeClr val="bg1"/>
                </a:solidFill>
              </a:defRPr>
            </a:lvl1pPr>
          </a:lstStyle>
          <a:p>
            <a:r>
              <a:rPr kumimoji="1" lang="ja-JP" altLang="en-US"/>
              <a:t>マスタ タイトルの書式設定</a:t>
            </a:r>
          </a:p>
        </p:txBody>
      </p:sp>
      <p:sp>
        <p:nvSpPr>
          <p:cNvPr id="3" name="サブタイトル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kumimoji="1" lang="ja-JP" altLang="en-US"/>
              <a:t>マスタ サブタイトルの書式設定</a:t>
            </a:r>
          </a:p>
        </p:txBody>
      </p:sp>
      <p:sp>
        <p:nvSpPr>
          <p:cNvPr id="4" name="日付プレースホルダ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altLang="ja-JP"/>
              <a:t>2008/8/19</a:t>
            </a:r>
            <a:endParaRPr lang="ja-JP" altLang="en-US"/>
          </a:p>
        </p:txBody>
      </p:sp>
      <p:sp>
        <p:nvSpPr>
          <p:cNvPr id="5" name="フッター プレースホル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ja-JP" altLang="en-US"/>
          </a:p>
        </p:txBody>
      </p:sp>
      <p:sp>
        <p:nvSpPr>
          <p:cNvPr id="6" name="スライド番号プレースホル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2971038740"/>
      </p:ext>
    </p:extLst>
  </p:cSld>
  <p:clrMapOvr>
    <a:masterClrMapping/>
  </p:clrMapOvr>
  <p:transition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 タイトルの書式設定</a:t>
            </a:r>
          </a:p>
        </p:txBody>
      </p:sp>
      <p:sp>
        <p:nvSpPr>
          <p:cNvPr id="3" name="コンテンツ プレースホル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ja-JP"/>
              <a:t>2008/8/19</a:t>
            </a:r>
            <a:endParaRPr kumimoji="1" lang="ja-JP" altLang="en-US"/>
          </a:p>
        </p:txBody>
      </p:sp>
      <p:sp>
        <p:nvSpPr>
          <p:cNvPr id="5" name="フッター プレースホル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D8002D-B5B0-4BAC-B1F6-782DDCCE6D9C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48684990"/>
      </p:ext>
    </p:extLst>
  </p:cSld>
  <p:clrMapOvr>
    <a:masterClrMapping/>
  </p:clrMapOvr>
  <p:transition>
    <p:fade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kumimoji="1" lang="ja-JP" altLang="en-US"/>
              <a:t>マスタ タイトルの書式設定</a:t>
            </a:r>
          </a:p>
        </p:txBody>
      </p:sp>
      <p:sp>
        <p:nvSpPr>
          <p:cNvPr id="3" name="テキスト プレースホルダ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 テキストの書式設定</a:t>
            </a:r>
          </a:p>
        </p:txBody>
      </p:sp>
      <p:sp>
        <p:nvSpPr>
          <p:cNvPr id="4" name="日付プレースホル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ja-JP"/>
              <a:t>2008/8/19</a:t>
            </a:r>
            <a:endParaRPr kumimoji="1" lang="ja-JP" altLang="en-US"/>
          </a:p>
        </p:txBody>
      </p:sp>
      <p:sp>
        <p:nvSpPr>
          <p:cNvPr id="5" name="フッター プレースホル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D8002D-B5B0-4BAC-B1F6-782DDCCE6D9C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5581622"/>
      </p:ext>
    </p:extLst>
  </p:cSld>
  <p:clrMapOvr>
    <a:masterClrMapping/>
  </p:clrMapOvr>
  <p:transition>
    <p:fade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 タイトルの書式設定</a:t>
            </a:r>
          </a:p>
        </p:txBody>
      </p:sp>
      <p:sp>
        <p:nvSpPr>
          <p:cNvPr id="3" name="コンテンツ プレースホルダ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kumimoji="1" lang="ja-JP" altLang="en-US"/>
              <a:t>マスタ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kumimoji="1" lang="ja-JP" altLang="en-US"/>
              <a:t>マスタ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ja-JP"/>
              <a:t>2008/8/19</a:t>
            </a:r>
            <a:endParaRPr kumimoji="1" lang="ja-JP" altLang="en-US"/>
          </a:p>
        </p:txBody>
      </p:sp>
      <p:sp>
        <p:nvSpPr>
          <p:cNvPr id="6" name="フッター プレースホル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D8002D-B5B0-4BAC-B1F6-782DDCCE6D9C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42274362"/>
      </p:ext>
    </p:extLst>
  </p:cSld>
  <p:clrMapOvr>
    <a:masterClrMapping/>
  </p:clrMapOvr>
  <p:transition>
    <p:fade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kumimoji="1" lang="ja-JP" altLang="en-US"/>
              <a:t>マスタ タイトルの書式設定</a:t>
            </a:r>
          </a:p>
        </p:txBody>
      </p:sp>
      <p:sp>
        <p:nvSpPr>
          <p:cNvPr id="3" name="テキスト プレースホルダ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 テキストの書式設定</a:t>
            </a:r>
          </a:p>
        </p:txBody>
      </p:sp>
      <p:sp>
        <p:nvSpPr>
          <p:cNvPr id="4" name="コンテンツ プレースホルダ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kumimoji="1" lang="ja-JP" altLang="en-US"/>
              <a:t>マスタ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 テキストの書式設定</a:t>
            </a:r>
          </a:p>
        </p:txBody>
      </p:sp>
      <p:sp>
        <p:nvSpPr>
          <p:cNvPr id="6" name="コンテンツ プレースホルダ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kumimoji="1" lang="ja-JP" altLang="en-US"/>
              <a:t>マスタ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ja-JP"/>
              <a:t>2008/8/19</a:t>
            </a:r>
            <a:endParaRPr kumimoji="1" lang="ja-JP" altLang="en-US"/>
          </a:p>
        </p:txBody>
      </p:sp>
      <p:sp>
        <p:nvSpPr>
          <p:cNvPr id="8" name="フッター プレースホル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D8002D-B5B0-4BAC-B1F6-782DDCCE6D9C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30028978"/>
      </p:ext>
    </p:extLst>
  </p:cSld>
  <p:clrMapOvr>
    <a:masterClrMapping/>
  </p:clrMapOvr>
  <p:transition>
    <p:fade/>
  </p:transition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 タイトルの書式設定</a:t>
            </a:r>
          </a:p>
        </p:txBody>
      </p:sp>
      <p:sp>
        <p:nvSpPr>
          <p:cNvPr id="3" name="日付プレースホル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ja-JP"/>
              <a:t>2008/8/19</a:t>
            </a:r>
            <a:endParaRPr kumimoji="1" lang="ja-JP" altLang="en-US"/>
          </a:p>
        </p:txBody>
      </p:sp>
      <p:sp>
        <p:nvSpPr>
          <p:cNvPr id="4" name="フッター プレースホル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D8002D-B5B0-4BAC-B1F6-782DDCCE6D9C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47894011"/>
      </p:ext>
    </p:extLst>
  </p:cSld>
  <p:clrMapOvr>
    <a:masterClrMapping/>
  </p:clrMapOvr>
  <p:transition>
    <p:fade/>
  </p:transition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ja-JP"/>
              <a:t>2008/8/19</a:t>
            </a:r>
            <a:endParaRPr kumimoji="1" lang="ja-JP" altLang="en-US"/>
          </a:p>
        </p:txBody>
      </p:sp>
      <p:sp>
        <p:nvSpPr>
          <p:cNvPr id="3" name="フッター プレースホル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D8002D-B5B0-4BAC-B1F6-782DDCCE6D9C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0167693"/>
      </p:ext>
    </p:extLst>
  </p:cSld>
  <p:clrMapOvr>
    <a:masterClrMapping/>
  </p:clrMapOvr>
  <p:transition>
    <p:fade/>
  </p:transition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kumimoji="1" lang="ja-JP" altLang="en-US"/>
              <a:t>マスタ タイトルの書式設定</a:t>
            </a:r>
          </a:p>
        </p:txBody>
      </p:sp>
      <p:sp>
        <p:nvSpPr>
          <p:cNvPr id="3" name="コンテンツ プレースホルダ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kumimoji="1" lang="ja-JP" altLang="en-US"/>
              <a:t>マスタ テキストの書式設定</a:t>
            </a:r>
          </a:p>
        </p:txBody>
      </p:sp>
      <p:sp>
        <p:nvSpPr>
          <p:cNvPr id="5" name="日付プレースホル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ja-JP"/>
              <a:t>2008/8/19</a:t>
            </a:r>
            <a:endParaRPr kumimoji="1" lang="ja-JP" altLang="en-US"/>
          </a:p>
        </p:txBody>
      </p:sp>
      <p:sp>
        <p:nvSpPr>
          <p:cNvPr id="6" name="フッター プレースホル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D8002D-B5B0-4BAC-B1F6-782DDCCE6D9C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65246000"/>
      </p:ext>
    </p:extLst>
  </p:cSld>
  <p:clrMapOvr>
    <a:masterClrMapping/>
  </p:clrMapOvr>
  <p:transition>
    <p:fade/>
  </p:transition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kumimoji="1" lang="ja-JP" altLang="en-US"/>
              <a:t>マスタ タイトルの書式設定</a:t>
            </a:r>
          </a:p>
        </p:txBody>
      </p:sp>
      <p:sp>
        <p:nvSpPr>
          <p:cNvPr id="3" name="図プレースホルダ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kumimoji="1" lang="ja-JP" altLang="en-US"/>
              <a:t>マスタ テキストの書式設定</a:t>
            </a:r>
          </a:p>
        </p:txBody>
      </p:sp>
      <p:sp>
        <p:nvSpPr>
          <p:cNvPr id="5" name="日付プレースホル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ja-JP"/>
              <a:t>2008/8/19</a:t>
            </a:r>
            <a:endParaRPr kumimoji="1" lang="ja-JP" altLang="en-US"/>
          </a:p>
        </p:txBody>
      </p:sp>
      <p:sp>
        <p:nvSpPr>
          <p:cNvPr id="6" name="フッター プレースホル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D8002D-B5B0-4BAC-B1F6-782DDCCE6D9C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00143366"/>
      </p:ext>
    </p:extLst>
  </p:cSld>
  <p:clrMapOvr>
    <a:masterClrMapping/>
  </p:clrMapOvr>
  <p:transition>
    <p:fade/>
  </p:transition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 タイトルの書式設定</a:t>
            </a:r>
          </a:p>
        </p:txBody>
      </p:sp>
      <p:sp>
        <p:nvSpPr>
          <p:cNvPr id="3" name="縦書きテキスト プレースホル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ja-JP"/>
              <a:t>2008/8/19</a:t>
            </a:r>
            <a:endParaRPr kumimoji="1" lang="ja-JP" altLang="en-US"/>
          </a:p>
        </p:txBody>
      </p:sp>
      <p:sp>
        <p:nvSpPr>
          <p:cNvPr id="5" name="フッター プレースホル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D8002D-B5B0-4BAC-B1F6-782DDCCE6D9C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70551184"/>
      </p:ext>
    </p:extLst>
  </p:cSld>
  <p:clrMapOvr>
    <a:masterClrMapping/>
  </p:clrMapOvr>
  <p:transition>
    <p:fade/>
  </p:transition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kumimoji="1" lang="ja-JP" altLang="en-US"/>
              <a:t>マスタ タイトルの書式設定</a:t>
            </a:r>
          </a:p>
        </p:txBody>
      </p:sp>
      <p:sp>
        <p:nvSpPr>
          <p:cNvPr id="3" name="縦書きテキスト プレースホルダ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kumimoji="1" lang="ja-JP" altLang="en-US"/>
              <a:t>マスタ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ja-JP"/>
              <a:t>2008/8/19</a:t>
            </a:r>
            <a:endParaRPr kumimoji="1" lang="ja-JP" altLang="en-US"/>
          </a:p>
        </p:txBody>
      </p:sp>
      <p:sp>
        <p:nvSpPr>
          <p:cNvPr id="5" name="フッター プレースホル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D8002D-B5B0-4BAC-B1F6-782DDCCE6D9C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8987192"/>
      </p:ext>
    </p:extLst>
  </p:cSld>
  <p:clrMapOvr>
    <a:masterClrMapping/>
  </p:clrMapOvr>
  <p:transition>
    <p:fade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2955B98F-EB33-BA20-CE12-7BF2AD1115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03F592F1-AFA6-0E98-D431-D97B1389CD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1CAE540-5AF3-F33F-56AA-938E5B4E172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D539EC6-7AF1-418C-94A7-BD258F9FEED6}" type="datetimeFigureOut">
              <a:rPr kumimoji="1" lang="ja-JP" altLang="en-US" smtClean="0"/>
              <a:t>2026/4/8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D709A9-4F41-47FD-1403-FDE2755EC9D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80F0BE7-80E1-4ADA-7E0E-22DCC3A0CE5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B54C8AA-E002-499F-BACA-D169C2B566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330582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 タイトルの書式設定</a:t>
            </a:r>
          </a:p>
        </p:txBody>
      </p:sp>
      <p:sp>
        <p:nvSpPr>
          <p:cNvPr id="3" name="テキスト プレースホルダ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bg1"/>
                </a:solidFill>
              </a:defRPr>
            </a:lvl1pPr>
          </a:lstStyle>
          <a:p>
            <a:r>
              <a:rPr lang="en-US" altLang="ja-JP"/>
              <a:t>2008/8/19</a:t>
            </a:r>
            <a:endParaRPr lang="ja-JP" altLang="en-US"/>
          </a:p>
        </p:txBody>
      </p:sp>
      <p:sp>
        <p:nvSpPr>
          <p:cNvPr id="5" name="フッター プレースホルダ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/>
                </a:solidFill>
              </a:defRPr>
            </a:lvl1pPr>
          </a:lstStyle>
          <a:p>
            <a:endParaRPr lang="ja-JP" altLang="en-US"/>
          </a:p>
        </p:txBody>
      </p:sp>
      <p:sp>
        <p:nvSpPr>
          <p:cNvPr id="6" name="スライド番号プレースホルダ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40087422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ransition>
    <p:fade/>
  </p:transition>
  <p:hf hdr="0" ftr="0" dt="0"/>
  <p:txStyles>
    <p:titleStyle>
      <a:lvl1pPr algn="ctr" defTabSz="914400" rtl="0" eaLnBrk="1" latinLnBrk="0" hangingPunct="1">
        <a:spcBef>
          <a:spcPct val="0"/>
        </a:spcBef>
        <a:buNone/>
        <a:defRPr kumimoji="1" sz="4400" kern="1200">
          <a:solidFill>
            <a:schemeClr val="bg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3200" kern="1200">
          <a:solidFill>
            <a:schemeClr val="bg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kumimoji="1" sz="2800" kern="1200">
          <a:solidFill>
            <a:schemeClr val="bg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400" kern="1200">
          <a:solidFill>
            <a:schemeClr val="bg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kumimoji="1" sz="2000" kern="1200">
          <a:solidFill>
            <a:schemeClr val="bg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kumimoji="1" sz="2000" kern="1200">
          <a:solidFill>
            <a:schemeClr val="bg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18" Type="http://schemas.openxmlformats.org/officeDocument/2006/relationships/image" Target="../media/image17.png"/><Relationship Id="rId3" Type="http://schemas.openxmlformats.org/officeDocument/2006/relationships/image" Target="../media/image2.png"/><Relationship Id="rId21" Type="http://schemas.openxmlformats.org/officeDocument/2006/relationships/image" Target="../media/image20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17" Type="http://schemas.openxmlformats.org/officeDocument/2006/relationships/image" Target="../media/image16.pn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20" Type="http://schemas.openxmlformats.org/officeDocument/2006/relationships/image" Target="../media/image19.png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10" Type="http://schemas.openxmlformats.org/officeDocument/2006/relationships/image" Target="../media/image9.png"/><Relationship Id="rId19" Type="http://schemas.openxmlformats.org/officeDocument/2006/relationships/image" Target="../media/image18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Relationship Id="rId22" Type="http://schemas.openxmlformats.org/officeDocument/2006/relationships/image" Target="../media/image2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4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92D05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96ADF39-3468-2D4E-D74D-04D6D816E9E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ja-JP" altLang="en-US"/>
              <a:t>失敗する</a:t>
            </a:r>
            <a:r>
              <a:rPr lang="en-US" altLang="ja-JP"/>
              <a:t>AI</a:t>
            </a:r>
            <a:r>
              <a:rPr lang="ja-JP" altLang="en-US"/>
              <a:t>による</a:t>
            </a:r>
            <a:r>
              <a:rPr lang="en-US" altLang="ja-JP"/>
              <a:t>AI</a:t>
            </a:r>
            <a:r>
              <a:rPr lang="ja-JP" altLang="en-US"/>
              <a:t>の学習サイトへの統合案</a:t>
            </a:r>
            <a:endParaRPr kumimoji="1" lang="ja-JP" altLang="en-US"/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6394D71-ABD2-A30D-20A5-504E6A68766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330236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8E30684A-F96F-1A4D-A1FC-FCAA29DC31C0}"/>
              </a:ext>
            </a:extLst>
          </p:cNvPr>
          <p:cNvSpPr txBox="1"/>
          <p:nvPr/>
        </p:nvSpPr>
        <p:spPr>
          <a:xfrm>
            <a:off x="2223247" y="1325487"/>
            <a:ext cx="3630706" cy="286232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kumimoji="1" lang="ja-JP" altLang="en-US"/>
              <a:t>ソースコード</a:t>
            </a:r>
            <a:endParaRPr kumimoji="1" lang="en-US" altLang="ja-JP"/>
          </a:p>
          <a:p>
            <a:endParaRPr lang="en-US" altLang="ja-JP"/>
          </a:p>
          <a:p>
            <a:endParaRPr kumimoji="1" lang="en-US" altLang="ja-JP"/>
          </a:p>
          <a:p>
            <a:endParaRPr lang="en-US" altLang="ja-JP"/>
          </a:p>
          <a:p>
            <a:endParaRPr kumimoji="1" lang="en-US" altLang="ja-JP"/>
          </a:p>
          <a:p>
            <a:endParaRPr lang="en-US" altLang="ja-JP"/>
          </a:p>
          <a:p>
            <a:endParaRPr kumimoji="1" lang="en-US" altLang="ja-JP"/>
          </a:p>
          <a:p>
            <a:endParaRPr lang="en-US" altLang="ja-JP"/>
          </a:p>
          <a:p>
            <a:endParaRPr kumimoji="1" lang="en-US" altLang="ja-JP"/>
          </a:p>
          <a:p>
            <a:endParaRPr kumimoji="1"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FA438E3D-2C16-4709-1721-AA61E21329C9}"/>
              </a:ext>
            </a:extLst>
          </p:cNvPr>
          <p:cNvSpPr txBox="1"/>
          <p:nvPr/>
        </p:nvSpPr>
        <p:spPr>
          <a:xfrm>
            <a:off x="2773943" y="1082078"/>
            <a:ext cx="2339102" cy="25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kumimoji="1" lang="ja-JP" altLang="en-US" sz="1050"/>
              <a:t>プレイ（手動、自動、データ収集）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B03E189E-595D-823C-C358-90A8A2E8DB0E}"/>
              </a:ext>
            </a:extLst>
          </p:cNvPr>
          <p:cNvSpPr txBox="1"/>
          <p:nvPr/>
        </p:nvSpPr>
        <p:spPr>
          <a:xfrm>
            <a:off x="5113045" y="1082078"/>
            <a:ext cx="740908" cy="25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ja-JP" sz="1050"/>
              <a:t>AI</a:t>
            </a:r>
            <a:r>
              <a:rPr lang="ja-JP" altLang="en-US" sz="1050"/>
              <a:t>の学習</a:t>
            </a:r>
            <a:endParaRPr kumimoji="1" lang="ja-JP" altLang="en-US" sz="105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028ADFE0-69FF-BCCC-9BBC-A08A0A6D20B9}"/>
              </a:ext>
            </a:extLst>
          </p:cNvPr>
          <p:cNvSpPr txBox="1"/>
          <p:nvPr/>
        </p:nvSpPr>
        <p:spPr>
          <a:xfrm>
            <a:off x="6096000" y="3264479"/>
            <a:ext cx="3630706" cy="92333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kumimoji="1" lang="ja-JP" altLang="en-US"/>
              <a:t>実行画面</a:t>
            </a:r>
            <a:endParaRPr lang="en-US" altLang="ja-JP"/>
          </a:p>
          <a:p>
            <a:endParaRPr kumimoji="1" lang="en-US" altLang="ja-JP"/>
          </a:p>
          <a:p>
            <a:endParaRPr kumimoji="1" lang="ja-JP" alt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C973C821-23BA-3247-8533-2CEBE82BD6B3}"/>
              </a:ext>
            </a:extLst>
          </p:cNvPr>
          <p:cNvSpPr txBox="1"/>
          <p:nvPr/>
        </p:nvSpPr>
        <p:spPr>
          <a:xfrm>
            <a:off x="6096000" y="1072842"/>
            <a:ext cx="3630706" cy="203132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ja-JP" altLang="en-US"/>
              <a:t>内部状態</a:t>
            </a:r>
            <a:endParaRPr lang="en-US" altLang="ja-JP"/>
          </a:p>
          <a:p>
            <a:r>
              <a:rPr kumimoji="1" lang="ja-JP" altLang="en-US"/>
              <a:t>どうやって弾を作るか？</a:t>
            </a:r>
            <a:endParaRPr kumimoji="1" lang="en-US" altLang="ja-JP"/>
          </a:p>
          <a:p>
            <a:r>
              <a:rPr lang="ja-JP" altLang="en-US"/>
              <a:t>手動：クリック場所</a:t>
            </a:r>
            <a:endParaRPr lang="en-US" altLang="ja-JP"/>
          </a:p>
          <a:p>
            <a:r>
              <a:rPr kumimoji="1" lang="ja-JP" altLang="en-US"/>
              <a:t>自動：ランダム</a:t>
            </a:r>
            <a:r>
              <a:rPr kumimoji="1" lang="en-US" altLang="ja-JP"/>
              <a:t>/</a:t>
            </a:r>
            <a:r>
              <a:rPr kumimoji="1" lang="ja-JP" altLang="en-US"/>
              <a:t>線形予測</a:t>
            </a:r>
            <a:r>
              <a:rPr lang="en-US" altLang="ja-JP"/>
              <a:t>/AI</a:t>
            </a:r>
          </a:p>
          <a:p>
            <a:endParaRPr kumimoji="1" lang="en-US" altLang="ja-JP"/>
          </a:p>
          <a:p>
            <a:r>
              <a:rPr lang="en-US" altLang="ja-JP"/>
              <a:t>AI</a:t>
            </a:r>
            <a:r>
              <a:rPr lang="ja-JP" altLang="en-US"/>
              <a:t>の学習過程</a:t>
            </a:r>
            <a:endParaRPr kumimoji="1" lang="en-US" altLang="ja-JP"/>
          </a:p>
          <a:p>
            <a:r>
              <a:rPr lang="ja-JP" altLang="en-US"/>
              <a:t>保存されたデータのリスト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611751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92D05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9B4F15C-3DF3-F53B-E92F-0BD3354F0BC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kumimoji="1" lang="ja-JP" altLang="en-US"/>
              <a:t>数学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685263BF-8119-092E-F5F2-F4F01B48E31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1961130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BBF16040-602D-178E-1D89-AE3FB5FF64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D8002D-B5B0-4BAC-B1F6-782DDCCE6D9C}" type="slidenum">
              <a:rPr kumimoji="1" lang="ja-JP" altLang="en-US" smtClean="0"/>
              <a:pPr/>
              <a:t>4</a:t>
            </a:fld>
            <a:endParaRPr kumimoji="1" lang="ja-JP" altLang="en-US"/>
          </a:p>
        </p:txBody>
      </p:sp>
      <p:sp>
        <p:nvSpPr>
          <p:cNvPr id="5" name="楕円 4">
            <a:extLst>
              <a:ext uri="{FF2B5EF4-FFF2-40B4-BE49-F238E27FC236}">
                <a16:creationId xmlns:a16="http://schemas.microsoft.com/office/drawing/2014/main" id="{AD4FFCB7-DD93-A71D-ABF7-BC117D9F995D}"/>
              </a:ext>
            </a:extLst>
          </p:cNvPr>
          <p:cNvSpPr/>
          <p:nvPr/>
        </p:nvSpPr>
        <p:spPr>
          <a:xfrm>
            <a:off x="2212772" y="3740024"/>
            <a:ext cx="432048" cy="432048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sp>
        <p:nvSpPr>
          <p:cNvPr id="6" name="楕円 5">
            <a:extLst>
              <a:ext uri="{FF2B5EF4-FFF2-40B4-BE49-F238E27FC236}">
                <a16:creationId xmlns:a16="http://schemas.microsoft.com/office/drawing/2014/main" id="{3EF78A5F-50DF-46D8-AB94-33788E881115}"/>
              </a:ext>
            </a:extLst>
          </p:cNvPr>
          <p:cNvSpPr/>
          <p:nvPr/>
        </p:nvSpPr>
        <p:spPr>
          <a:xfrm>
            <a:off x="3023500" y="762781"/>
            <a:ext cx="432048" cy="432048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sp>
        <p:nvSpPr>
          <p:cNvPr id="7" name="楕円 6">
            <a:extLst>
              <a:ext uri="{FF2B5EF4-FFF2-40B4-BE49-F238E27FC236}">
                <a16:creationId xmlns:a16="http://schemas.microsoft.com/office/drawing/2014/main" id="{0992E4C9-BB88-63C7-1E6E-8185CB84DD30}"/>
              </a:ext>
            </a:extLst>
          </p:cNvPr>
          <p:cNvSpPr/>
          <p:nvPr/>
        </p:nvSpPr>
        <p:spPr>
          <a:xfrm>
            <a:off x="5039724" y="1770893"/>
            <a:ext cx="432048" cy="432048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cxnSp>
        <p:nvCxnSpPr>
          <p:cNvPr id="9" name="直線矢印コネクタ 8">
            <a:extLst>
              <a:ext uri="{FF2B5EF4-FFF2-40B4-BE49-F238E27FC236}">
                <a16:creationId xmlns:a16="http://schemas.microsoft.com/office/drawing/2014/main" id="{01042E7D-4A71-2458-7243-982F8C8548ED}"/>
              </a:ext>
            </a:extLst>
          </p:cNvPr>
          <p:cNvCxnSpPr>
            <a:cxnSpLocks/>
          </p:cNvCxnSpPr>
          <p:nvPr/>
        </p:nvCxnSpPr>
        <p:spPr>
          <a:xfrm flipV="1">
            <a:off x="2428796" y="978805"/>
            <a:ext cx="810728" cy="298733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直線矢印コネクタ 2">
            <a:extLst>
              <a:ext uri="{FF2B5EF4-FFF2-40B4-BE49-F238E27FC236}">
                <a16:creationId xmlns:a16="http://schemas.microsoft.com/office/drawing/2014/main" id="{04D4B345-058E-69C5-402F-2149D410C811}"/>
              </a:ext>
            </a:extLst>
          </p:cNvPr>
          <p:cNvCxnSpPr>
            <a:cxnSpLocks/>
          </p:cNvCxnSpPr>
          <p:nvPr/>
        </p:nvCxnSpPr>
        <p:spPr>
          <a:xfrm>
            <a:off x="3239525" y="978805"/>
            <a:ext cx="2016223" cy="101265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4486C9E3-5166-26DC-1705-435BD7A071A9}"/>
              </a:ext>
            </a:extLst>
          </p:cNvPr>
          <p:cNvSpPr txBox="1"/>
          <p:nvPr/>
        </p:nvSpPr>
        <p:spPr>
          <a:xfrm>
            <a:off x="3377743" y="1393247"/>
            <a:ext cx="143340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200"/>
              <a:t>e.getVelocity() * t</a:t>
            </a:r>
            <a:endParaRPr lang="ja-JP" altLang="en-US" sz="1200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64618244-7BD9-3D60-F932-029B3C2A4386}"/>
              </a:ext>
            </a:extLst>
          </p:cNvPr>
          <p:cNvSpPr txBox="1"/>
          <p:nvPr/>
        </p:nvSpPr>
        <p:spPr>
          <a:xfrm>
            <a:off x="4042706" y="2769715"/>
            <a:ext cx="55656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200"/>
              <a:t>Vbt*t</a:t>
            </a:r>
            <a:endParaRPr lang="ja-JP" altLang="en-US" sz="1200"/>
          </a:p>
        </p:txBody>
      </p:sp>
      <p:cxnSp>
        <p:nvCxnSpPr>
          <p:cNvPr id="14" name="直線矢印コネクタ 13">
            <a:extLst>
              <a:ext uri="{FF2B5EF4-FFF2-40B4-BE49-F238E27FC236}">
                <a16:creationId xmlns:a16="http://schemas.microsoft.com/office/drawing/2014/main" id="{5FB8E42B-6A2C-AA83-87C6-C78F50FAD993}"/>
              </a:ext>
            </a:extLst>
          </p:cNvPr>
          <p:cNvCxnSpPr>
            <a:cxnSpLocks/>
          </p:cNvCxnSpPr>
          <p:nvPr/>
        </p:nvCxnSpPr>
        <p:spPr>
          <a:xfrm flipV="1">
            <a:off x="2428795" y="1991459"/>
            <a:ext cx="2826952" cy="197468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線矢印コネクタ 17">
            <a:extLst>
              <a:ext uri="{FF2B5EF4-FFF2-40B4-BE49-F238E27FC236}">
                <a16:creationId xmlns:a16="http://schemas.microsoft.com/office/drawing/2014/main" id="{25E1B796-1FBD-F09B-8BC8-57B3A245CBB1}"/>
              </a:ext>
            </a:extLst>
          </p:cNvPr>
          <p:cNvCxnSpPr>
            <a:cxnSpLocks/>
          </p:cNvCxnSpPr>
          <p:nvPr/>
        </p:nvCxnSpPr>
        <p:spPr>
          <a:xfrm>
            <a:off x="2428796" y="3966139"/>
            <a:ext cx="2826953" cy="3700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矢印コネクタ 20">
            <a:extLst>
              <a:ext uri="{FF2B5EF4-FFF2-40B4-BE49-F238E27FC236}">
                <a16:creationId xmlns:a16="http://schemas.microsoft.com/office/drawing/2014/main" id="{2AF14E7B-830F-A838-81D9-7D91ABC7D660}"/>
              </a:ext>
            </a:extLst>
          </p:cNvPr>
          <p:cNvCxnSpPr>
            <a:cxnSpLocks/>
          </p:cNvCxnSpPr>
          <p:nvPr/>
        </p:nvCxnSpPr>
        <p:spPr>
          <a:xfrm flipV="1">
            <a:off x="5255748" y="1981273"/>
            <a:ext cx="0" cy="202186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86E930FA-DD69-0D66-1465-F340A10C50D7}"/>
              </a:ext>
            </a:extLst>
          </p:cNvPr>
          <p:cNvSpPr txBox="1"/>
          <p:nvPr/>
        </p:nvSpPr>
        <p:spPr>
          <a:xfrm>
            <a:off x="5255748" y="2943410"/>
            <a:ext cx="4587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200"/>
              <a:t>dY1</a:t>
            </a:r>
            <a:endParaRPr lang="ja-JP" altLang="en-US" sz="1200"/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D5FD2288-772A-192D-A7C2-7EA6BD54FBC8}"/>
              </a:ext>
            </a:extLst>
          </p:cNvPr>
          <p:cNvSpPr txBox="1"/>
          <p:nvPr/>
        </p:nvSpPr>
        <p:spPr>
          <a:xfrm>
            <a:off x="4378956" y="3633811"/>
            <a:ext cx="4587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200"/>
              <a:t>dX1</a:t>
            </a:r>
            <a:endParaRPr lang="ja-JP" altLang="en-US" sz="1200"/>
          </a:p>
        </p:txBody>
      </p: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23630613-0A6E-3BEF-2013-545B646AA4C3}"/>
              </a:ext>
            </a:extLst>
          </p:cNvPr>
          <p:cNvSpPr txBox="1"/>
          <p:nvPr/>
        </p:nvSpPr>
        <p:spPr>
          <a:xfrm>
            <a:off x="3403206" y="3449145"/>
            <a:ext cx="42351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200"/>
              <a:t>θ1</a:t>
            </a:r>
            <a:endParaRPr lang="ja-JP" altLang="en-US" sz="1200"/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8995C1D7-6330-CED0-C789-E2C9A53DB8BC}"/>
              </a:ext>
            </a:extLst>
          </p:cNvPr>
          <p:cNvSpPr txBox="1"/>
          <p:nvPr/>
        </p:nvSpPr>
        <p:spPr>
          <a:xfrm>
            <a:off x="1754614" y="4517932"/>
            <a:ext cx="321754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200"/>
              <a:t>(</a:t>
            </a:r>
            <a:r>
              <a:rPr lang="en-US" altLang="ja-JP" sz="1200">
                <a:solidFill>
                  <a:srgbClr val="0070C0"/>
                </a:solidFill>
              </a:rPr>
              <a:t>Vbt</a:t>
            </a:r>
            <a:r>
              <a:rPr lang="en-US" altLang="ja-JP" sz="1200"/>
              <a:t>*t)^2=dX1^2+dY1^2</a:t>
            </a:r>
          </a:p>
          <a:p>
            <a:r>
              <a:rPr lang="en-US" altLang="ja-JP" sz="1200"/>
              <a:t>dX1 = dX0+dXem</a:t>
            </a:r>
          </a:p>
          <a:p>
            <a:r>
              <a:rPr lang="en-US" altLang="ja-JP" sz="1200"/>
              <a:t>dY1 = dY0+dYem</a:t>
            </a:r>
          </a:p>
          <a:p>
            <a:r>
              <a:rPr lang="en-US" altLang="ja-JP" sz="1200"/>
              <a:t>dX0 = </a:t>
            </a:r>
            <a:r>
              <a:rPr lang="en-US" altLang="ja-JP" sz="1200">
                <a:solidFill>
                  <a:srgbClr val="0070C0"/>
                </a:solidFill>
              </a:rPr>
              <a:t>e.getDistance()</a:t>
            </a:r>
            <a:r>
              <a:rPr lang="en-US" altLang="ja-JP" sz="1200"/>
              <a:t>*</a:t>
            </a:r>
            <a:r>
              <a:rPr lang="en-US" altLang="ja-JP" sz="1200">
                <a:solidFill>
                  <a:srgbClr val="0070C0"/>
                </a:solidFill>
              </a:rPr>
              <a:t>cos(e.getBearing())</a:t>
            </a:r>
          </a:p>
          <a:p>
            <a:r>
              <a:rPr lang="en-US" altLang="ja-JP" sz="1200"/>
              <a:t>dY1 = </a:t>
            </a:r>
            <a:r>
              <a:rPr lang="en-US" altLang="ja-JP" sz="1200">
                <a:solidFill>
                  <a:srgbClr val="0070C0"/>
                </a:solidFill>
              </a:rPr>
              <a:t>e.getDistance()</a:t>
            </a:r>
            <a:r>
              <a:rPr lang="en-US" altLang="ja-JP" sz="1200"/>
              <a:t>*</a:t>
            </a:r>
            <a:r>
              <a:rPr lang="en-US" altLang="ja-JP" sz="1200">
                <a:solidFill>
                  <a:srgbClr val="0070C0"/>
                </a:solidFill>
              </a:rPr>
              <a:t>sin(e.getBearing())</a:t>
            </a:r>
          </a:p>
          <a:p>
            <a:r>
              <a:rPr lang="en-US" altLang="ja-JP" sz="1200"/>
              <a:t>[dXem,dYem] = </a:t>
            </a:r>
            <a:r>
              <a:rPr lang="en-US" altLang="ja-JP" sz="1200">
                <a:solidFill>
                  <a:srgbClr val="0070C0"/>
                </a:solidFill>
              </a:rPr>
              <a:t>e.getVelocity()</a:t>
            </a:r>
            <a:r>
              <a:rPr lang="en-US" altLang="ja-JP" sz="1200"/>
              <a:t>*t</a:t>
            </a:r>
          </a:p>
        </p:txBody>
      </p:sp>
      <p:cxnSp>
        <p:nvCxnSpPr>
          <p:cNvPr id="33" name="直線矢印コネクタ 32">
            <a:extLst>
              <a:ext uri="{FF2B5EF4-FFF2-40B4-BE49-F238E27FC236}">
                <a16:creationId xmlns:a16="http://schemas.microsoft.com/office/drawing/2014/main" id="{3F1EE5FB-88F4-E294-5EDB-40AF46CA3B47}"/>
              </a:ext>
            </a:extLst>
          </p:cNvPr>
          <p:cNvCxnSpPr>
            <a:cxnSpLocks/>
          </p:cNvCxnSpPr>
          <p:nvPr/>
        </p:nvCxnSpPr>
        <p:spPr>
          <a:xfrm>
            <a:off x="2428794" y="3936534"/>
            <a:ext cx="779962" cy="91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線矢印コネクタ 34">
            <a:extLst>
              <a:ext uri="{FF2B5EF4-FFF2-40B4-BE49-F238E27FC236}">
                <a16:creationId xmlns:a16="http://schemas.microsoft.com/office/drawing/2014/main" id="{8F6D783C-BAF2-B7E9-B8C9-60DE7B0F98C4}"/>
              </a:ext>
            </a:extLst>
          </p:cNvPr>
          <p:cNvCxnSpPr>
            <a:cxnSpLocks/>
          </p:cNvCxnSpPr>
          <p:nvPr/>
        </p:nvCxnSpPr>
        <p:spPr>
          <a:xfrm flipV="1">
            <a:off x="3208756" y="964004"/>
            <a:ext cx="30768" cy="298170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テキスト ボックス 38">
            <a:extLst>
              <a:ext uri="{FF2B5EF4-FFF2-40B4-BE49-F238E27FC236}">
                <a16:creationId xmlns:a16="http://schemas.microsoft.com/office/drawing/2014/main" id="{CA00D379-2790-A532-5E33-30934885ED23}"/>
              </a:ext>
            </a:extLst>
          </p:cNvPr>
          <p:cNvSpPr txBox="1"/>
          <p:nvPr/>
        </p:nvSpPr>
        <p:spPr>
          <a:xfrm>
            <a:off x="2650664" y="4057370"/>
            <a:ext cx="4587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200"/>
              <a:t>dX0</a:t>
            </a:r>
            <a:endParaRPr lang="ja-JP" altLang="en-US" sz="1200"/>
          </a:p>
        </p:txBody>
      </p:sp>
      <p:sp>
        <p:nvSpPr>
          <p:cNvPr id="40" name="テキスト ボックス 39">
            <a:extLst>
              <a:ext uri="{FF2B5EF4-FFF2-40B4-BE49-F238E27FC236}">
                <a16:creationId xmlns:a16="http://schemas.microsoft.com/office/drawing/2014/main" id="{ECBF6118-DEE2-949B-7AC2-2D4D016493AE}"/>
              </a:ext>
            </a:extLst>
          </p:cNvPr>
          <p:cNvSpPr txBox="1"/>
          <p:nvPr/>
        </p:nvSpPr>
        <p:spPr>
          <a:xfrm>
            <a:off x="3135848" y="2630687"/>
            <a:ext cx="53572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200"/>
              <a:t>dY0</a:t>
            </a:r>
            <a:endParaRPr lang="ja-JP" altLang="en-US" sz="1200"/>
          </a:p>
        </p:txBody>
      </p:sp>
      <p:cxnSp>
        <p:nvCxnSpPr>
          <p:cNvPr id="42" name="直線矢印コネクタ 41">
            <a:extLst>
              <a:ext uri="{FF2B5EF4-FFF2-40B4-BE49-F238E27FC236}">
                <a16:creationId xmlns:a16="http://schemas.microsoft.com/office/drawing/2014/main" id="{77CACB63-6036-28B2-3534-D447756426B9}"/>
              </a:ext>
            </a:extLst>
          </p:cNvPr>
          <p:cNvCxnSpPr>
            <a:cxnSpLocks/>
          </p:cNvCxnSpPr>
          <p:nvPr/>
        </p:nvCxnSpPr>
        <p:spPr>
          <a:xfrm flipV="1">
            <a:off x="3239524" y="976276"/>
            <a:ext cx="2029654" cy="25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線矢印コネクタ 44">
            <a:extLst>
              <a:ext uri="{FF2B5EF4-FFF2-40B4-BE49-F238E27FC236}">
                <a16:creationId xmlns:a16="http://schemas.microsoft.com/office/drawing/2014/main" id="{F638DF08-1FBA-DAE5-DE8E-E3EF2509ACFD}"/>
              </a:ext>
            </a:extLst>
          </p:cNvPr>
          <p:cNvCxnSpPr>
            <a:cxnSpLocks/>
          </p:cNvCxnSpPr>
          <p:nvPr/>
        </p:nvCxnSpPr>
        <p:spPr>
          <a:xfrm>
            <a:off x="5255748" y="984155"/>
            <a:ext cx="0" cy="100276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テキスト ボックス 49">
            <a:extLst>
              <a:ext uri="{FF2B5EF4-FFF2-40B4-BE49-F238E27FC236}">
                <a16:creationId xmlns:a16="http://schemas.microsoft.com/office/drawing/2014/main" id="{3EEB73F0-268D-F384-CBF7-0BF480EE294A}"/>
              </a:ext>
            </a:extLst>
          </p:cNvPr>
          <p:cNvSpPr txBox="1"/>
          <p:nvPr/>
        </p:nvSpPr>
        <p:spPr>
          <a:xfrm>
            <a:off x="4001334" y="613631"/>
            <a:ext cx="59343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200"/>
              <a:t>dXem</a:t>
            </a:r>
            <a:endParaRPr lang="ja-JP" altLang="en-US" sz="1200"/>
          </a:p>
        </p:txBody>
      </p:sp>
      <p:sp>
        <p:nvSpPr>
          <p:cNvPr id="51" name="テキスト ボックス 50">
            <a:extLst>
              <a:ext uri="{FF2B5EF4-FFF2-40B4-BE49-F238E27FC236}">
                <a16:creationId xmlns:a16="http://schemas.microsoft.com/office/drawing/2014/main" id="{69C03182-37AA-10FA-F775-F91A3A265B9F}"/>
              </a:ext>
            </a:extLst>
          </p:cNvPr>
          <p:cNvSpPr txBox="1"/>
          <p:nvPr/>
        </p:nvSpPr>
        <p:spPr>
          <a:xfrm>
            <a:off x="5255747" y="1215994"/>
            <a:ext cx="59343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200"/>
              <a:t>dYem</a:t>
            </a:r>
            <a:endParaRPr lang="ja-JP" altLang="en-US" sz="1200"/>
          </a:p>
        </p:txBody>
      </p:sp>
      <p:sp>
        <p:nvSpPr>
          <p:cNvPr id="55" name="テキスト ボックス 54">
            <a:extLst>
              <a:ext uri="{FF2B5EF4-FFF2-40B4-BE49-F238E27FC236}">
                <a16:creationId xmlns:a16="http://schemas.microsoft.com/office/drawing/2014/main" id="{14F3118B-1E77-3C8C-DED9-BF427033FB5F}"/>
              </a:ext>
            </a:extLst>
          </p:cNvPr>
          <p:cNvSpPr txBox="1"/>
          <p:nvPr/>
        </p:nvSpPr>
        <p:spPr>
          <a:xfrm>
            <a:off x="5877830" y="1189001"/>
            <a:ext cx="4729180" cy="5280420"/>
          </a:xfrm>
          <a:prstGeom prst="rect">
            <a:avLst/>
          </a:prstGeom>
          <a:solidFill>
            <a:schemeClr val="tx1"/>
          </a:solidFill>
        </p:spPr>
        <p:txBody>
          <a:bodyPr wrap="none">
            <a:spAutoFit/>
          </a:bodyPr>
          <a:lstStyle/>
          <a:p>
            <a:pPr>
              <a:lnSpc>
                <a:spcPts val="1425"/>
              </a:lnSpc>
            </a:pPr>
            <a:r>
              <a:rPr lang="en-US" altLang="ja-JP" sz="800">
                <a:solidFill>
                  <a:srgbClr val="569CD6"/>
                </a:solidFill>
                <a:latin typeface="Consolas" panose="020B0609020204030204" pitchFamily="49" charset="0"/>
              </a:rPr>
              <a:t>function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 </a:t>
            </a:r>
            <a:r>
              <a:rPr lang="en-US" altLang="ja-JP" sz="800">
                <a:solidFill>
                  <a:srgbClr val="DCDCAA"/>
                </a:solidFill>
                <a:latin typeface="Consolas" panose="020B0609020204030204" pitchFamily="49" charset="0"/>
              </a:rPr>
              <a:t>getLinearPredictiveBullet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(</a:t>
            </a:r>
            <a:r>
              <a:rPr lang="en-US" altLang="ja-JP" sz="800">
                <a:solidFill>
                  <a:srgbClr val="9CDCFE"/>
                </a:solidFill>
                <a:latin typeface="Consolas" panose="020B0609020204030204" pitchFamily="49" charset="0"/>
              </a:rPr>
              <a:t>state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altLang="ja-JP" sz="800">
                <a:solidFill>
                  <a:srgbClr val="4EC9B0"/>
                </a:solidFill>
                <a:latin typeface="Consolas" panose="020B0609020204030204" pitchFamily="49" charset="0"/>
              </a:rPr>
              <a:t>GameState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): </a:t>
            </a:r>
            <a:r>
              <a:rPr lang="en-US" altLang="ja-JP" sz="800">
                <a:solidFill>
                  <a:srgbClr val="4EC9B0"/>
                </a:solidFill>
                <a:latin typeface="Consolas" panose="020B0609020204030204" pitchFamily="49" charset="0"/>
              </a:rPr>
              <a:t>Bullet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 | </a:t>
            </a:r>
            <a:r>
              <a:rPr lang="en-US" altLang="ja-JP" sz="800">
                <a:solidFill>
                  <a:srgbClr val="4EC9B0"/>
                </a:solidFill>
                <a:latin typeface="Consolas" panose="020B0609020204030204" pitchFamily="49" charset="0"/>
              </a:rPr>
              <a:t>null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 {</a:t>
            </a:r>
          </a:p>
          <a:p>
            <a:pPr>
              <a:lnSpc>
                <a:spcPts val="1425"/>
              </a:lnSpc>
            </a:pP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altLang="ja-JP" sz="800">
                <a:solidFill>
                  <a:srgbClr val="C586C0"/>
                </a:solidFill>
                <a:latin typeface="Consolas" panose="020B0609020204030204" pitchFamily="49" charset="0"/>
              </a:rPr>
              <a:t>if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 (</a:t>
            </a:r>
            <a:r>
              <a:rPr lang="en-US" altLang="ja-JP" sz="800">
                <a:solidFill>
                  <a:srgbClr val="9CDCFE"/>
                </a:solidFill>
                <a:latin typeface="Consolas" panose="020B0609020204030204" pitchFamily="49" charset="0"/>
              </a:rPr>
              <a:t>state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.</a:t>
            </a:r>
            <a:r>
              <a:rPr lang="en-US" altLang="ja-JP" sz="800">
                <a:solidFill>
                  <a:srgbClr val="9CDCFE"/>
                </a:solidFill>
                <a:latin typeface="Consolas" panose="020B0609020204030204" pitchFamily="49" charset="0"/>
              </a:rPr>
              <a:t>enemies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.</a:t>
            </a:r>
            <a:r>
              <a:rPr lang="en-US" altLang="ja-JP" sz="800">
                <a:solidFill>
                  <a:srgbClr val="9CDCFE"/>
                </a:solidFill>
                <a:latin typeface="Consolas" panose="020B0609020204030204" pitchFamily="49" charset="0"/>
              </a:rPr>
              <a:t>length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 === </a:t>
            </a:r>
            <a:r>
              <a:rPr lang="en-US" altLang="ja-JP" sz="800">
                <a:solidFill>
                  <a:srgbClr val="B5CEA8"/>
                </a:solidFill>
                <a:latin typeface="Consolas" panose="020B0609020204030204" pitchFamily="49" charset="0"/>
              </a:rPr>
              <a:t>0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) {</a:t>
            </a:r>
          </a:p>
          <a:p>
            <a:pPr>
              <a:lnSpc>
                <a:spcPts val="1425"/>
              </a:lnSpc>
            </a:pP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    </a:t>
            </a:r>
            <a:r>
              <a:rPr lang="en-US" altLang="ja-JP" sz="800">
                <a:solidFill>
                  <a:srgbClr val="C586C0"/>
                </a:solidFill>
                <a:latin typeface="Consolas" panose="020B0609020204030204" pitchFamily="49" charset="0"/>
              </a:rPr>
              <a:t>return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 </a:t>
            </a:r>
            <a:r>
              <a:rPr lang="en-US" altLang="ja-JP" sz="800">
                <a:solidFill>
                  <a:srgbClr val="569CD6"/>
                </a:solidFill>
                <a:latin typeface="Consolas" panose="020B0609020204030204" pitchFamily="49" charset="0"/>
              </a:rPr>
              <a:t>null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</a:pP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  }</a:t>
            </a:r>
          </a:p>
          <a:p>
            <a:pPr>
              <a:lnSpc>
                <a:spcPts val="1425"/>
              </a:lnSpc>
            </a:pP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altLang="ja-JP" sz="800">
                <a:solidFill>
                  <a:srgbClr val="569CD6"/>
                </a:solidFill>
                <a:latin typeface="Consolas" panose="020B0609020204030204" pitchFamily="49" charset="0"/>
              </a:rPr>
              <a:t>const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 </a:t>
            </a:r>
            <a:r>
              <a:rPr lang="en-US" altLang="ja-JP" sz="800">
                <a:solidFill>
                  <a:srgbClr val="4FC1FF"/>
                </a:solidFill>
                <a:latin typeface="Consolas" panose="020B0609020204030204" pitchFamily="49" charset="0"/>
              </a:rPr>
              <a:t>enemy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 = </a:t>
            </a:r>
            <a:r>
              <a:rPr lang="en-US" altLang="ja-JP" sz="800">
                <a:solidFill>
                  <a:srgbClr val="9CDCFE"/>
                </a:solidFill>
                <a:latin typeface="Consolas" panose="020B0609020204030204" pitchFamily="49" charset="0"/>
              </a:rPr>
              <a:t>state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.</a:t>
            </a:r>
            <a:r>
              <a:rPr lang="en-US" altLang="ja-JP" sz="800">
                <a:solidFill>
                  <a:srgbClr val="9CDCFE"/>
                </a:solidFill>
                <a:latin typeface="Consolas" panose="020B0609020204030204" pitchFamily="49" charset="0"/>
              </a:rPr>
              <a:t>enemies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[</a:t>
            </a:r>
            <a:r>
              <a:rPr lang="en-US" altLang="ja-JP" sz="800">
                <a:solidFill>
                  <a:srgbClr val="B5CEA8"/>
                </a:solidFill>
                <a:latin typeface="Consolas" panose="020B0609020204030204" pitchFamily="49" charset="0"/>
              </a:rPr>
              <a:t>0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];</a:t>
            </a:r>
          </a:p>
          <a:p>
            <a:pPr>
              <a:lnSpc>
                <a:spcPts val="1425"/>
              </a:lnSpc>
            </a:pP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altLang="ja-JP" sz="800">
                <a:solidFill>
                  <a:srgbClr val="569CD6"/>
                </a:solidFill>
                <a:latin typeface="Consolas" panose="020B0609020204030204" pitchFamily="49" charset="0"/>
              </a:rPr>
              <a:t>const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 </a:t>
            </a:r>
            <a:r>
              <a:rPr lang="en-US" altLang="ja-JP" sz="800">
                <a:solidFill>
                  <a:srgbClr val="4FC1FF"/>
                </a:solidFill>
                <a:latin typeface="Consolas" panose="020B0609020204030204" pitchFamily="49" charset="0"/>
              </a:rPr>
              <a:t>v_bt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 = </a:t>
            </a:r>
            <a:r>
              <a:rPr lang="en-US" altLang="ja-JP" sz="800">
                <a:solidFill>
                  <a:srgbClr val="4FC1FF"/>
                </a:solidFill>
                <a:latin typeface="Consolas" panose="020B0609020204030204" pitchFamily="49" charset="0"/>
              </a:rPr>
              <a:t>GAME_CONFIG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.</a:t>
            </a:r>
            <a:r>
              <a:rPr lang="en-US" altLang="ja-JP" sz="800">
                <a:solidFill>
                  <a:srgbClr val="4FC1FF"/>
                </a:solidFill>
                <a:latin typeface="Consolas" panose="020B0609020204030204" pitchFamily="49" charset="0"/>
              </a:rPr>
              <a:t>BULLET_SPEED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</a:pP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altLang="ja-JP" sz="800">
                <a:solidFill>
                  <a:srgbClr val="569CD6"/>
                </a:solidFill>
                <a:latin typeface="Consolas" panose="020B0609020204030204" pitchFamily="49" charset="0"/>
              </a:rPr>
              <a:t>const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 </a:t>
            </a:r>
            <a:r>
              <a:rPr lang="en-US" altLang="ja-JP" sz="800">
                <a:solidFill>
                  <a:srgbClr val="4FC1FF"/>
                </a:solidFill>
                <a:latin typeface="Consolas" panose="020B0609020204030204" pitchFamily="49" charset="0"/>
              </a:rPr>
              <a:t>v_em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 = </a:t>
            </a:r>
            <a:r>
              <a:rPr lang="en-US" altLang="ja-JP" sz="800">
                <a:solidFill>
                  <a:srgbClr val="9CDCFE"/>
                </a:solidFill>
                <a:latin typeface="Consolas" panose="020B0609020204030204" pitchFamily="49" charset="0"/>
              </a:rPr>
              <a:t>Math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.</a:t>
            </a:r>
            <a:r>
              <a:rPr lang="en-US" altLang="ja-JP" sz="800">
                <a:solidFill>
                  <a:srgbClr val="DCDCAA"/>
                </a:solidFill>
                <a:latin typeface="Consolas" panose="020B0609020204030204" pitchFamily="49" charset="0"/>
              </a:rPr>
              <a:t>sqrt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(</a:t>
            </a:r>
            <a:r>
              <a:rPr lang="en-US" altLang="ja-JP" sz="800">
                <a:solidFill>
                  <a:srgbClr val="9CDCFE"/>
                </a:solidFill>
                <a:latin typeface="Consolas" panose="020B0609020204030204" pitchFamily="49" charset="0"/>
              </a:rPr>
              <a:t>Math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.</a:t>
            </a:r>
            <a:r>
              <a:rPr lang="en-US" altLang="ja-JP" sz="800">
                <a:solidFill>
                  <a:srgbClr val="DCDCAA"/>
                </a:solidFill>
                <a:latin typeface="Consolas" panose="020B0609020204030204" pitchFamily="49" charset="0"/>
              </a:rPr>
              <a:t>pow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(</a:t>
            </a:r>
            <a:r>
              <a:rPr lang="en-US" altLang="ja-JP" sz="800">
                <a:solidFill>
                  <a:srgbClr val="9CDCFE"/>
                </a:solidFill>
                <a:latin typeface="Consolas" panose="020B0609020204030204" pitchFamily="49" charset="0"/>
              </a:rPr>
              <a:t>enemy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.</a:t>
            </a:r>
            <a:r>
              <a:rPr lang="en-US" altLang="ja-JP" sz="800">
                <a:solidFill>
                  <a:srgbClr val="9CDCFE"/>
                </a:solidFill>
                <a:latin typeface="Consolas" panose="020B0609020204030204" pitchFamily="49" charset="0"/>
              </a:rPr>
              <a:t>vx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, </a:t>
            </a:r>
            <a:r>
              <a:rPr lang="en-US" altLang="ja-JP" sz="800">
                <a:solidFill>
                  <a:srgbClr val="B5CEA8"/>
                </a:solidFill>
                <a:latin typeface="Consolas" panose="020B0609020204030204" pitchFamily="49" charset="0"/>
              </a:rPr>
              <a:t>2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) + </a:t>
            </a:r>
            <a:r>
              <a:rPr lang="en-US" altLang="ja-JP" sz="800">
                <a:solidFill>
                  <a:srgbClr val="9CDCFE"/>
                </a:solidFill>
                <a:latin typeface="Consolas" panose="020B0609020204030204" pitchFamily="49" charset="0"/>
              </a:rPr>
              <a:t>Math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.</a:t>
            </a:r>
            <a:r>
              <a:rPr lang="en-US" altLang="ja-JP" sz="800">
                <a:solidFill>
                  <a:srgbClr val="DCDCAA"/>
                </a:solidFill>
                <a:latin typeface="Consolas" panose="020B0609020204030204" pitchFamily="49" charset="0"/>
              </a:rPr>
              <a:t>pow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(</a:t>
            </a:r>
            <a:r>
              <a:rPr lang="en-US" altLang="ja-JP" sz="800">
                <a:solidFill>
                  <a:srgbClr val="9CDCFE"/>
                </a:solidFill>
                <a:latin typeface="Consolas" panose="020B0609020204030204" pitchFamily="49" charset="0"/>
              </a:rPr>
              <a:t>enemy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.</a:t>
            </a:r>
            <a:r>
              <a:rPr lang="en-US" altLang="ja-JP" sz="800">
                <a:solidFill>
                  <a:srgbClr val="9CDCFE"/>
                </a:solidFill>
                <a:latin typeface="Consolas" panose="020B0609020204030204" pitchFamily="49" charset="0"/>
              </a:rPr>
              <a:t>vy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, </a:t>
            </a:r>
            <a:r>
              <a:rPr lang="en-US" altLang="ja-JP" sz="800">
                <a:solidFill>
                  <a:srgbClr val="B5CEA8"/>
                </a:solidFill>
                <a:latin typeface="Consolas" panose="020B0609020204030204" pitchFamily="49" charset="0"/>
              </a:rPr>
              <a:t>2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));</a:t>
            </a:r>
          </a:p>
          <a:p>
            <a:pPr>
              <a:lnSpc>
                <a:spcPts val="1425"/>
              </a:lnSpc>
            </a:pP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altLang="ja-JP" sz="800">
                <a:solidFill>
                  <a:srgbClr val="569CD6"/>
                </a:solidFill>
                <a:latin typeface="Consolas" panose="020B0609020204030204" pitchFamily="49" charset="0"/>
              </a:rPr>
              <a:t>const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 </a:t>
            </a:r>
            <a:r>
              <a:rPr lang="en-US" altLang="ja-JP" sz="800">
                <a:solidFill>
                  <a:srgbClr val="4FC1FF"/>
                </a:solidFill>
                <a:latin typeface="Consolas" panose="020B0609020204030204" pitchFamily="49" charset="0"/>
              </a:rPr>
              <a:t>seta2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 = </a:t>
            </a:r>
            <a:r>
              <a:rPr lang="en-US" altLang="ja-JP" sz="800">
                <a:solidFill>
                  <a:srgbClr val="9CDCFE"/>
                </a:solidFill>
                <a:latin typeface="Consolas" panose="020B0609020204030204" pitchFamily="49" charset="0"/>
              </a:rPr>
              <a:t>Math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.</a:t>
            </a:r>
            <a:r>
              <a:rPr lang="en-US" altLang="ja-JP" sz="800">
                <a:solidFill>
                  <a:srgbClr val="DCDCAA"/>
                </a:solidFill>
                <a:latin typeface="Consolas" panose="020B0609020204030204" pitchFamily="49" charset="0"/>
              </a:rPr>
              <a:t>atan2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(</a:t>
            </a:r>
            <a:r>
              <a:rPr lang="en-US" altLang="ja-JP" sz="800">
                <a:solidFill>
                  <a:srgbClr val="9CDCFE"/>
                </a:solidFill>
                <a:latin typeface="Consolas" panose="020B0609020204030204" pitchFamily="49" charset="0"/>
              </a:rPr>
              <a:t>enemy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.</a:t>
            </a:r>
            <a:r>
              <a:rPr lang="en-US" altLang="ja-JP" sz="800">
                <a:solidFill>
                  <a:srgbClr val="9CDCFE"/>
                </a:solidFill>
                <a:latin typeface="Consolas" panose="020B0609020204030204" pitchFamily="49" charset="0"/>
              </a:rPr>
              <a:t>vy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, </a:t>
            </a:r>
            <a:r>
              <a:rPr lang="en-US" altLang="ja-JP" sz="800">
                <a:solidFill>
                  <a:srgbClr val="9CDCFE"/>
                </a:solidFill>
                <a:latin typeface="Consolas" panose="020B0609020204030204" pitchFamily="49" charset="0"/>
              </a:rPr>
              <a:t>enemy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.</a:t>
            </a:r>
            <a:r>
              <a:rPr lang="en-US" altLang="ja-JP" sz="800">
                <a:solidFill>
                  <a:srgbClr val="9CDCFE"/>
                </a:solidFill>
                <a:latin typeface="Consolas" panose="020B0609020204030204" pitchFamily="49" charset="0"/>
              </a:rPr>
              <a:t>vx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);</a:t>
            </a:r>
          </a:p>
          <a:p>
            <a:pPr>
              <a:lnSpc>
                <a:spcPts val="1425"/>
              </a:lnSpc>
            </a:pP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altLang="ja-JP" sz="800">
                <a:solidFill>
                  <a:srgbClr val="569CD6"/>
                </a:solidFill>
                <a:latin typeface="Consolas" panose="020B0609020204030204" pitchFamily="49" charset="0"/>
              </a:rPr>
              <a:t>const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 </a:t>
            </a:r>
            <a:r>
              <a:rPr lang="en-US" altLang="ja-JP" sz="800">
                <a:solidFill>
                  <a:srgbClr val="4FC1FF"/>
                </a:solidFill>
                <a:latin typeface="Consolas" panose="020B0609020204030204" pitchFamily="49" charset="0"/>
              </a:rPr>
              <a:t>dx0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 = </a:t>
            </a:r>
            <a:r>
              <a:rPr lang="en-US" altLang="ja-JP" sz="800">
                <a:solidFill>
                  <a:srgbClr val="9CDCFE"/>
                </a:solidFill>
                <a:latin typeface="Consolas" panose="020B0609020204030204" pitchFamily="49" charset="0"/>
              </a:rPr>
              <a:t>enemy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.</a:t>
            </a:r>
            <a:r>
              <a:rPr lang="en-US" altLang="ja-JP" sz="800">
                <a:solidFill>
                  <a:srgbClr val="9CDCFE"/>
                </a:solidFill>
                <a:latin typeface="Consolas" panose="020B0609020204030204" pitchFamily="49" charset="0"/>
              </a:rPr>
              <a:t>x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-</a:t>
            </a:r>
            <a:r>
              <a:rPr lang="en-US" altLang="ja-JP" sz="800">
                <a:solidFill>
                  <a:srgbClr val="9CDCFE"/>
                </a:solidFill>
                <a:latin typeface="Consolas" panose="020B0609020204030204" pitchFamily="49" charset="0"/>
              </a:rPr>
              <a:t>state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.</a:t>
            </a:r>
            <a:r>
              <a:rPr lang="en-US" altLang="ja-JP" sz="800">
                <a:solidFill>
                  <a:srgbClr val="9CDCFE"/>
                </a:solidFill>
                <a:latin typeface="Consolas" panose="020B0609020204030204" pitchFamily="49" charset="0"/>
              </a:rPr>
              <a:t>player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.</a:t>
            </a:r>
            <a:r>
              <a:rPr lang="en-US" altLang="ja-JP" sz="800">
                <a:solidFill>
                  <a:srgbClr val="9CDCFE"/>
                </a:solidFill>
                <a:latin typeface="Consolas" panose="020B0609020204030204" pitchFamily="49" charset="0"/>
              </a:rPr>
              <a:t>x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</a:pP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altLang="ja-JP" sz="800">
                <a:solidFill>
                  <a:srgbClr val="569CD6"/>
                </a:solidFill>
                <a:latin typeface="Consolas" panose="020B0609020204030204" pitchFamily="49" charset="0"/>
              </a:rPr>
              <a:t>const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 </a:t>
            </a:r>
            <a:r>
              <a:rPr lang="en-US" altLang="ja-JP" sz="800">
                <a:solidFill>
                  <a:srgbClr val="4FC1FF"/>
                </a:solidFill>
                <a:latin typeface="Consolas" panose="020B0609020204030204" pitchFamily="49" charset="0"/>
              </a:rPr>
              <a:t>dy0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 = </a:t>
            </a:r>
            <a:r>
              <a:rPr lang="en-US" altLang="ja-JP" sz="800">
                <a:solidFill>
                  <a:srgbClr val="9CDCFE"/>
                </a:solidFill>
                <a:latin typeface="Consolas" panose="020B0609020204030204" pitchFamily="49" charset="0"/>
              </a:rPr>
              <a:t>enemy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.</a:t>
            </a:r>
            <a:r>
              <a:rPr lang="en-US" altLang="ja-JP" sz="800">
                <a:solidFill>
                  <a:srgbClr val="9CDCFE"/>
                </a:solidFill>
                <a:latin typeface="Consolas" panose="020B0609020204030204" pitchFamily="49" charset="0"/>
              </a:rPr>
              <a:t>y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-</a:t>
            </a:r>
            <a:r>
              <a:rPr lang="en-US" altLang="ja-JP" sz="800">
                <a:solidFill>
                  <a:srgbClr val="9CDCFE"/>
                </a:solidFill>
                <a:latin typeface="Consolas" panose="020B0609020204030204" pitchFamily="49" charset="0"/>
              </a:rPr>
              <a:t>state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.</a:t>
            </a:r>
            <a:r>
              <a:rPr lang="en-US" altLang="ja-JP" sz="800">
                <a:solidFill>
                  <a:srgbClr val="9CDCFE"/>
                </a:solidFill>
                <a:latin typeface="Consolas" panose="020B0609020204030204" pitchFamily="49" charset="0"/>
              </a:rPr>
              <a:t>player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.</a:t>
            </a:r>
            <a:r>
              <a:rPr lang="en-US" altLang="ja-JP" sz="800">
                <a:solidFill>
                  <a:srgbClr val="9CDCFE"/>
                </a:solidFill>
                <a:latin typeface="Consolas" panose="020B0609020204030204" pitchFamily="49" charset="0"/>
              </a:rPr>
              <a:t>y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</a:pP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altLang="ja-JP" sz="800">
                <a:solidFill>
                  <a:srgbClr val="569CD6"/>
                </a:solidFill>
                <a:latin typeface="Consolas" panose="020B0609020204030204" pitchFamily="49" charset="0"/>
              </a:rPr>
              <a:t>const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 </a:t>
            </a:r>
            <a:r>
              <a:rPr lang="en-US" altLang="ja-JP" sz="800">
                <a:solidFill>
                  <a:srgbClr val="4FC1FF"/>
                </a:solidFill>
                <a:latin typeface="Consolas" panose="020B0609020204030204" pitchFamily="49" charset="0"/>
              </a:rPr>
              <a:t>a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 = </a:t>
            </a:r>
            <a:r>
              <a:rPr lang="en-US" altLang="ja-JP" sz="800">
                <a:solidFill>
                  <a:srgbClr val="9CDCFE"/>
                </a:solidFill>
                <a:latin typeface="Consolas" panose="020B0609020204030204" pitchFamily="49" charset="0"/>
              </a:rPr>
              <a:t>Math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.</a:t>
            </a:r>
            <a:r>
              <a:rPr lang="en-US" altLang="ja-JP" sz="800">
                <a:solidFill>
                  <a:srgbClr val="DCDCAA"/>
                </a:solidFill>
                <a:latin typeface="Consolas" panose="020B0609020204030204" pitchFamily="49" charset="0"/>
              </a:rPr>
              <a:t>pow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(</a:t>
            </a:r>
            <a:r>
              <a:rPr lang="en-US" altLang="ja-JP" sz="800">
                <a:solidFill>
                  <a:srgbClr val="9CDCFE"/>
                </a:solidFill>
                <a:latin typeface="Consolas" panose="020B0609020204030204" pitchFamily="49" charset="0"/>
              </a:rPr>
              <a:t>v_bt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, </a:t>
            </a:r>
            <a:r>
              <a:rPr lang="en-US" altLang="ja-JP" sz="800">
                <a:solidFill>
                  <a:srgbClr val="B5CEA8"/>
                </a:solidFill>
                <a:latin typeface="Consolas" panose="020B0609020204030204" pitchFamily="49" charset="0"/>
              </a:rPr>
              <a:t>2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) - </a:t>
            </a:r>
            <a:r>
              <a:rPr lang="en-US" altLang="ja-JP" sz="800">
                <a:solidFill>
                  <a:srgbClr val="9CDCFE"/>
                </a:solidFill>
                <a:latin typeface="Consolas" panose="020B0609020204030204" pitchFamily="49" charset="0"/>
              </a:rPr>
              <a:t>Math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.</a:t>
            </a:r>
            <a:r>
              <a:rPr lang="en-US" altLang="ja-JP" sz="800">
                <a:solidFill>
                  <a:srgbClr val="DCDCAA"/>
                </a:solidFill>
                <a:latin typeface="Consolas" panose="020B0609020204030204" pitchFamily="49" charset="0"/>
              </a:rPr>
              <a:t>pow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(</a:t>
            </a:r>
            <a:r>
              <a:rPr lang="en-US" altLang="ja-JP" sz="800">
                <a:solidFill>
                  <a:srgbClr val="9CDCFE"/>
                </a:solidFill>
                <a:latin typeface="Consolas" panose="020B0609020204030204" pitchFamily="49" charset="0"/>
              </a:rPr>
              <a:t>v_em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, </a:t>
            </a:r>
            <a:r>
              <a:rPr lang="en-US" altLang="ja-JP" sz="800">
                <a:solidFill>
                  <a:srgbClr val="B5CEA8"/>
                </a:solidFill>
                <a:latin typeface="Consolas" panose="020B0609020204030204" pitchFamily="49" charset="0"/>
              </a:rPr>
              <a:t>2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);</a:t>
            </a:r>
          </a:p>
          <a:p>
            <a:pPr>
              <a:lnSpc>
                <a:spcPts val="1425"/>
              </a:lnSpc>
            </a:pP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altLang="ja-JP" sz="800">
                <a:solidFill>
                  <a:srgbClr val="569CD6"/>
                </a:solidFill>
                <a:latin typeface="Consolas" panose="020B0609020204030204" pitchFamily="49" charset="0"/>
              </a:rPr>
              <a:t>const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 </a:t>
            </a:r>
            <a:r>
              <a:rPr lang="en-US" altLang="ja-JP" sz="800">
                <a:solidFill>
                  <a:srgbClr val="4FC1FF"/>
                </a:solidFill>
                <a:latin typeface="Consolas" panose="020B0609020204030204" pitchFamily="49" charset="0"/>
              </a:rPr>
              <a:t>b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 = -</a:t>
            </a:r>
            <a:r>
              <a:rPr lang="en-US" altLang="ja-JP" sz="800">
                <a:solidFill>
                  <a:srgbClr val="B5CEA8"/>
                </a:solidFill>
                <a:latin typeface="Consolas" panose="020B0609020204030204" pitchFamily="49" charset="0"/>
              </a:rPr>
              <a:t>2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 * </a:t>
            </a:r>
            <a:r>
              <a:rPr lang="en-US" altLang="ja-JP" sz="800">
                <a:solidFill>
                  <a:srgbClr val="9CDCFE"/>
                </a:solidFill>
                <a:latin typeface="Consolas" panose="020B0609020204030204" pitchFamily="49" charset="0"/>
              </a:rPr>
              <a:t>dx0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 * </a:t>
            </a:r>
            <a:r>
              <a:rPr lang="en-US" altLang="ja-JP" sz="800">
                <a:solidFill>
                  <a:srgbClr val="9CDCFE"/>
                </a:solidFill>
                <a:latin typeface="Consolas" panose="020B0609020204030204" pitchFamily="49" charset="0"/>
              </a:rPr>
              <a:t>v_em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 * </a:t>
            </a:r>
            <a:r>
              <a:rPr lang="en-US" altLang="ja-JP" sz="800">
                <a:solidFill>
                  <a:srgbClr val="9CDCFE"/>
                </a:solidFill>
                <a:latin typeface="Consolas" panose="020B0609020204030204" pitchFamily="49" charset="0"/>
              </a:rPr>
              <a:t>Math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.</a:t>
            </a:r>
            <a:r>
              <a:rPr lang="en-US" altLang="ja-JP" sz="800">
                <a:solidFill>
                  <a:srgbClr val="DCDCAA"/>
                </a:solidFill>
                <a:latin typeface="Consolas" panose="020B0609020204030204" pitchFamily="49" charset="0"/>
              </a:rPr>
              <a:t>cos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(</a:t>
            </a:r>
            <a:r>
              <a:rPr lang="en-US" altLang="ja-JP" sz="800">
                <a:solidFill>
                  <a:srgbClr val="9CDCFE"/>
                </a:solidFill>
                <a:latin typeface="Consolas" panose="020B0609020204030204" pitchFamily="49" charset="0"/>
              </a:rPr>
              <a:t>seta2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) - </a:t>
            </a:r>
            <a:r>
              <a:rPr lang="en-US" altLang="ja-JP" sz="800">
                <a:solidFill>
                  <a:srgbClr val="B5CEA8"/>
                </a:solidFill>
                <a:latin typeface="Consolas" panose="020B0609020204030204" pitchFamily="49" charset="0"/>
              </a:rPr>
              <a:t>2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 * </a:t>
            </a:r>
            <a:r>
              <a:rPr lang="en-US" altLang="ja-JP" sz="800">
                <a:solidFill>
                  <a:srgbClr val="9CDCFE"/>
                </a:solidFill>
                <a:latin typeface="Consolas" panose="020B0609020204030204" pitchFamily="49" charset="0"/>
              </a:rPr>
              <a:t>dy0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 * </a:t>
            </a:r>
            <a:r>
              <a:rPr lang="en-US" altLang="ja-JP" sz="800">
                <a:solidFill>
                  <a:srgbClr val="9CDCFE"/>
                </a:solidFill>
                <a:latin typeface="Consolas" panose="020B0609020204030204" pitchFamily="49" charset="0"/>
              </a:rPr>
              <a:t>v_em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 * </a:t>
            </a:r>
            <a:r>
              <a:rPr lang="en-US" altLang="ja-JP" sz="800">
                <a:solidFill>
                  <a:srgbClr val="9CDCFE"/>
                </a:solidFill>
                <a:latin typeface="Consolas" panose="020B0609020204030204" pitchFamily="49" charset="0"/>
              </a:rPr>
              <a:t>Math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.</a:t>
            </a:r>
            <a:r>
              <a:rPr lang="en-US" altLang="ja-JP" sz="800">
                <a:solidFill>
                  <a:srgbClr val="DCDCAA"/>
                </a:solidFill>
                <a:latin typeface="Consolas" panose="020B0609020204030204" pitchFamily="49" charset="0"/>
              </a:rPr>
              <a:t>sin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(</a:t>
            </a:r>
            <a:r>
              <a:rPr lang="en-US" altLang="ja-JP" sz="800">
                <a:solidFill>
                  <a:srgbClr val="9CDCFE"/>
                </a:solidFill>
                <a:latin typeface="Consolas" panose="020B0609020204030204" pitchFamily="49" charset="0"/>
              </a:rPr>
              <a:t>seta2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);</a:t>
            </a:r>
          </a:p>
          <a:p>
            <a:pPr>
              <a:lnSpc>
                <a:spcPts val="1425"/>
              </a:lnSpc>
            </a:pP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altLang="ja-JP" sz="800">
                <a:solidFill>
                  <a:srgbClr val="569CD6"/>
                </a:solidFill>
                <a:latin typeface="Consolas" panose="020B0609020204030204" pitchFamily="49" charset="0"/>
              </a:rPr>
              <a:t>const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 </a:t>
            </a:r>
            <a:r>
              <a:rPr lang="en-US" altLang="ja-JP" sz="800">
                <a:solidFill>
                  <a:srgbClr val="4FC1FF"/>
                </a:solidFill>
                <a:latin typeface="Consolas" panose="020B0609020204030204" pitchFamily="49" charset="0"/>
              </a:rPr>
              <a:t>c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 = -</a:t>
            </a:r>
            <a:r>
              <a:rPr lang="en-US" altLang="ja-JP" sz="800">
                <a:solidFill>
                  <a:srgbClr val="9CDCFE"/>
                </a:solidFill>
                <a:latin typeface="Consolas" panose="020B0609020204030204" pitchFamily="49" charset="0"/>
              </a:rPr>
              <a:t>Math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.</a:t>
            </a:r>
            <a:r>
              <a:rPr lang="en-US" altLang="ja-JP" sz="800">
                <a:solidFill>
                  <a:srgbClr val="DCDCAA"/>
                </a:solidFill>
                <a:latin typeface="Consolas" panose="020B0609020204030204" pitchFamily="49" charset="0"/>
              </a:rPr>
              <a:t>pow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(</a:t>
            </a:r>
            <a:r>
              <a:rPr lang="en-US" altLang="ja-JP" sz="800">
                <a:solidFill>
                  <a:srgbClr val="9CDCFE"/>
                </a:solidFill>
                <a:latin typeface="Consolas" panose="020B0609020204030204" pitchFamily="49" charset="0"/>
              </a:rPr>
              <a:t>dx0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, </a:t>
            </a:r>
            <a:r>
              <a:rPr lang="en-US" altLang="ja-JP" sz="800">
                <a:solidFill>
                  <a:srgbClr val="B5CEA8"/>
                </a:solidFill>
                <a:latin typeface="Consolas" panose="020B0609020204030204" pitchFamily="49" charset="0"/>
              </a:rPr>
              <a:t>2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) - </a:t>
            </a:r>
            <a:r>
              <a:rPr lang="en-US" altLang="ja-JP" sz="800">
                <a:solidFill>
                  <a:srgbClr val="9CDCFE"/>
                </a:solidFill>
                <a:latin typeface="Consolas" panose="020B0609020204030204" pitchFamily="49" charset="0"/>
              </a:rPr>
              <a:t>Math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.</a:t>
            </a:r>
            <a:r>
              <a:rPr lang="en-US" altLang="ja-JP" sz="800">
                <a:solidFill>
                  <a:srgbClr val="DCDCAA"/>
                </a:solidFill>
                <a:latin typeface="Consolas" panose="020B0609020204030204" pitchFamily="49" charset="0"/>
              </a:rPr>
              <a:t>pow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(</a:t>
            </a:r>
            <a:r>
              <a:rPr lang="en-US" altLang="ja-JP" sz="800">
                <a:solidFill>
                  <a:srgbClr val="9CDCFE"/>
                </a:solidFill>
                <a:latin typeface="Consolas" panose="020B0609020204030204" pitchFamily="49" charset="0"/>
              </a:rPr>
              <a:t>dy0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, </a:t>
            </a:r>
            <a:r>
              <a:rPr lang="en-US" altLang="ja-JP" sz="800">
                <a:solidFill>
                  <a:srgbClr val="B5CEA8"/>
                </a:solidFill>
                <a:latin typeface="Consolas" panose="020B0609020204030204" pitchFamily="49" charset="0"/>
              </a:rPr>
              <a:t>2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);</a:t>
            </a:r>
          </a:p>
          <a:p>
            <a:pPr>
              <a:lnSpc>
                <a:spcPts val="1425"/>
              </a:lnSpc>
            </a:pP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altLang="ja-JP" sz="800">
                <a:solidFill>
                  <a:srgbClr val="569CD6"/>
                </a:solidFill>
                <a:latin typeface="Consolas" panose="020B0609020204030204" pitchFamily="49" charset="0"/>
              </a:rPr>
              <a:t>const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 </a:t>
            </a:r>
            <a:r>
              <a:rPr lang="en-US" altLang="ja-JP" sz="800">
                <a:solidFill>
                  <a:srgbClr val="4FC1FF"/>
                </a:solidFill>
                <a:latin typeface="Consolas" panose="020B0609020204030204" pitchFamily="49" charset="0"/>
              </a:rPr>
              <a:t>t1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 = (-</a:t>
            </a:r>
            <a:r>
              <a:rPr lang="en-US" altLang="ja-JP" sz="800">
                <a:solidFill>
                  <a:srgbClr val="9CDCFE"/>
                </a:solidFill>
                <a:latin typeface="Consolas" panose="020B0609020204030204" pitchFamily="49" charset="0"/>
              </a:rPr>
              <a:t>b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 + </a:t>
            </a:r>
            <a:r>
              <a:rPr lang="en-US" altLang="ja-JP" sz="800">
                <a:solidFill>
                  <a:srgbClr val="9CDCFE"/>
                </a:solidFill>
                <a:latin typeface="Consolas" panose="020B0609020204030204" pitchFamily="49" charset="0"/>
              </a:rPr>
              <a:t>Math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.</a:t>
            </a:r>
            <a:r>
              <a:rPr lang="en-US" altLang="ja-JP" sz="800">
                <a:solidFill>
                  <a:srgbClr val="DCDCAA"/>
                </a:solidFill>
                <a:latin typeface="Consolas" panose="020B0609020204030204" pitchFamily="49" charset="0"/>
              </a:rPr>
              <a:t>sqrt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(</a:t>
            </a:r>
            <a:r>
              <a:rPr lang="en-US" altLang="ja-JP" sz="800">
                <a:solidFill>
                  <a:srgbClr val="9CDCFE"/>
                </a:solidFill>
                <a:latin typeface="Consolas" panose="020B0609020204030204" pitchFamily="49" charset="0"/>
              </a:rPr>
              <a:t>Math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.</a:t>
            </a:r>
            <a:r>
              <a:rPr lang="en-US" altLang="ja-JP" sz="800">
                <a:solidFill>
                  <a:srgbClr val="DCDCAA"/>
                </a:solidFill>
                <a:latin typeface="Consolas" panose="020B0609020204030204" pitchFamily="49" charset="0"/>
              </a:rPr>
              <a:t>pow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(</a:t>
            </a:r>
            <a:r>
              <a:rPr lang="en-US" altLang="ja-JP" sz="800">
                <a:solidFill>
                  <a:srgbClr val="9CDCFE"/>
                </a:solidFill>
                <a:latin typeface="Consolas" panose="020B0609020204030204" pitchFamily="49" charset="0"/>
              </a:rPr>
              <a:t>b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, </a:t>
            </a:r>
            <a:r>
              <a:rPr lang="en-US" altLang="ja-JP" sz="800">
                <a:solidFill>
                  <a:srgbClr val="B5CEA8"/>
                </a:solidFill>
                <a:latin typeface="Consolas" panose="020B0609020204030204" pitchFamily="49" charset="0"/>
              </a:rPr>
              <a:t>2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) - </a:t>
            </a:r>
            <a:r>
              <a:rPr lang="en-US" altLang="ja-JP" sz="800">
                <a:solidFill>
                  <a:srgbClr val="B5CEA8"/>
                </a:solidFill>
                <a:latin typeface="Consolas" panose="020B0609020204030204" pitchFamily="49" charset="0"/>
              </a:rPr>
              <a:t>4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 * </a:t>
            </a:r>
            <a:r>
              <a:rPr lang="en-US" altLang="ja-JP" sz="800">
                <a:solidFill>
                  <a:srgbClr val="9CDCFE"/>
                </a:solidFill>
                <a:latin typeface="Consolas" panose="020B0609020204030204" pitchFamily="49" charset="0"/>
              </a:rPr>
              <a:t>a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 * </a:t>
            </a:r>
            <a:r>
              <a:rPr lang="en-US" altLang="ja-JP" sz="800">
                <a:solidFill>
                  <a:srgbClr val="9CDCFE"/>
                </a:solidFill>
                <a:latin typeface="Consolas" panose="020B0609020204030204" pitchFamily="49" charset="0"/>
              </a:rPr>
              <a:t>c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)) / (</a:t>
            </a:r>
            <a:r>
              <a:rPr lang="en-US" altLang="ja-JP" sz="800">
                <a:solidFill>
                  <a:srgbClr val="B5CEA8"/>
                </a:solidFill>
                <a:latin typeface="Consolas" panose="020B0609020204030204" pitchFamily="49" charset="0"/>
              </a:rPr>
              <a:t>2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 * </a:t>
            </a:r>
            <a:r>
              <a:rPr lang="en-US" altLang="ja-JP" sz="800">
                <a:solidFill>
                  <a:srgbClr val="9CDCFE"/>
                </a:solidFill>
                <a:latin typeface="Consolas" panose="020B0609020204030204" pitchFamily="49" charset="0"/>
              </a:rPr>
              <a:t>a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);</a:t>
            </a:r>
          </a:p>
          <a:p>
            <a:pPr>
              <a:lnSpc>
                <a:spcPts val="1425"/>
              </a:lnSpc>
            </a:pP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altLang="ja-JP" sz="800">
                <a:solidFill>
                  <a:srgbClr val="569CD6"/>
                </a:solidFill>
                <a:latin typeface="Consolas" panose="020B0609020204030204" pitchFamily="49" charset="0"/>
              </a:rPr>
              <a:t>const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 </a:t>
            </a:r>
            <a:r>
              <a:rPr lang="en-US" altLang="ja-JP" sz="800">
                <a:solidFill>
                  <a:srgbClr val="4FC1FF"/>
                </a:solidFill>
                <a:latin typeface="Consolas" panose="020B0609020204030204" pitchFamily="49" charset="0"/>
              </a:rPr>
              <a:t>t2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 = (-</a:t>
            </a:r>
            <a:r>
              <a:rPr lang="en-US" altLang="ja-JP" sz="800">
                <a:solidFill>
                  <a:srgbClr val="9CDCFE"/>
                </a:solidFill>
                <a:latin typeface="Consolas" panose="020B0609020204030204" pitchFamily="49" charset="0"/>
              </a:rPr>
              <a:t>b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 - </a:t>
            </a:r>
            <a:r>
              <a:rPr lang="en-US" altLang="ja-JP" sz="800">
                <a:solidFill>
                  <a:srgbClr val="9CDCFE"/>
                </a:solidFill>
                <a:latin typeface="Consolas" panose="020B0609020204030204" pitchFamily="49" charset="0"/>
              </a:rPr>
              <a:t>Math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.</a:t>
            </a:r>
            <a:r>
              <a:rPr lang="en-US" altLang="ja-JP" sz="800">
                <a:solidFill>
                  <a:srgbClr val="DCDCAA"/>
                </a:solidFill>
                <a:latin typeface="Consolas" panose="020B0609020204030204" pitchFamily="49" charset="0"/>
              </a:rPr>
              <a:t>sqrt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(</a:t>
            </a:r>
            <a:r>
              <a:rPr lang="en-US" altLang="ja-JP" sz="800">
                <a:solidFill>
                  <a:srgbClr val="9CDCFE"/>
                </a:solidFill>
                <a:latin typeface="Consolas" panose="020B0609020204030204" pitchFamily="49" charset="0"/>
              </a:rPr>
              <a:t>Math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.</a:t>
            </a:r>
            <a:r>
              <a:rPr lang="en-US" altLang="ja-JP" sz="800">
                <a:solidFill>
                  <a:srgbClr val="DCDCAA"/>
                </a:solidFill>
                <a:latin typeface="Consolas" panose="020B0609020204030204" pitchFamily="49" charset="0"/>
              </a:rPr>
              <a:t>pow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(</a:t>
            </a:r>
            <a:r>
              <a:rPr lang="en-US" altLang="ja-JP" sz="800">
                <a:solidFill>
                  <a:srgbClr val="9CDCFE"/>
                </a:solidFill>
                <a:latin typeface="Consolas" panose="020B0609020204030204" pitchFamily="49" charset="0"/>
              </a:rPr>
              <a:t>b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, </a:t>
            </a:r>
            <a:r>
              <a:rPr lang="en-US" altLang="ja-JP" sz="800">
                <a:solidFill>
                  <a:srgbClr val="B5CEA8"/>
                </a:solidFill>
                <a:latin typeface="Consolas" panose="020B0609020204030204" pitchFamily="49" charset="0"/>
              </a:rPr>
              <a:t>2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) - </a:t>
            </a:r>
            <a:r>
              <a:rPr lang="en-US" altLang="ja-JP" sz="800">
                <a:solidFill>
                  <a:srgbClr val="B5CEA8"/>
                </a:solidFill>
                <a:latin typeface="Consolas" panose="020B0609020204030204" pitchFamily="49" charset="0"/>
              </a:rPr>
              <a:t>4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 * </a:t>
            </a:r>
            <a:r>
              <a:rPr lang="en-US" altLang="ja-JP" sz="800">
                <a:solidFill>
                  <a:srgbClr val="9CDCFE"/>
                </a:solidFill>
                <a:latin typeface="Consolas" panose="020B0609020204030204" pitchFamily="49" charset="0"/>
              </a:rPr>
              <a:t>a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 * </a:t>
            </a:r>
            <a:r>
              <a:rPr lang="en-US" altLang="ja-JP" sz="800">
                <a:solidFill>
                  <a:srgbClr val="9CDCFE"/>
                </a:solidFill>
                <a:latin typeface="Consolas" panose="020B0609020204030204" pitchFamily="49" charset="0"/>
              </a:rPr>
              <a:t>c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)) / (</a:t>
            </a:r>
            <a:r>
              <a:rPr lang="en-US" altLang="ja-JP" sz="800">
                <a:solidFill>
                  <a:srgbClr val="B5CEA8"/>
                </a:solidFill>
                <a:latin typeface="Consolas" panose="020B0609020204030204" pitchFamily="49" charset="0"/>
              </a:rPr>
              <a:t>2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 * </a:t>
            </a:r>
            <a:r>
              <a:rPr lang="en-US" altLang="ja-JP" sz="800">
                <a:solidFill>
                  <a:srgbClr val="9CDCFE"/>
                </a:solidFill>
                <a:latin typeface="Consolas" panose="020B0609020204030204" pitchFamily="49" charset="0"/>
              </a:rPr>
              <a:t>a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);</a:t>
            </a:r>
          </a:p>
          <a:p>
            <a:pPr>
              <a:lnSpc>
                <a:spcPts val="1425"/>
              </a:lnSpc>
            </a:pP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altLang="ja-JP" sz="800">
                <a:solidFill>
                  <a:srgbClr val="569CD6"/>
                </a:solidFill>
                <a:latin typeface="Consolas" panose="020B0609020204030204" pitchFamily="49" charset="0"/>
              </a:rPr>
              <a:t>const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 </a:t>
            </a:r>
            <a:r>
              <a:rPr lang="en-US" altLang="ja-JP" sz="800">
                <a:solidFill>
                  <a:srgbClr val="4FC1FF"/>
                </a:solidFill>
                <a:latin typeface="Consolas" panose="020B0609020204030204" pitchFamily="49" charset="0"/>
              </a:rPr>
              <a:t>t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 = </a:t>
            </a:r>
            <a:r>
              <a:rPr lang="en-US" altLang="ja-JP" sz="800">
                <a:solidFill>
                  <a:srgbClr val="9CDCFE"/>
                </a:solidFill>
                <a:latin typeface="Consolas" panose="020B0609020204030204" pitchFamily="49" charset="0"/>
              </a:rPr>
              <a:t>Math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.</a:t>
            </a:r>
            <a:r>
              <a:rPr lang="en-US" altLang="ja-JP" sz="800">
                <a:solidFill>
                  <a:srgbClr val="DCDCAA"/>
                </a:solidFill>
                <a:latin typeface="Consolas" panose="020B0609020204030204" pitchFamily="49" charset="0"/>
              </a:rPr>
              <a:t>max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(</a:t>
            </a:r>
            <a:r>
              <a:rPr lang="en-US" altLang="ja-JP" sz="800">
                <a:solidFill>
                  <a:srgbClr val="9CDCFE"/>
                </a:solidFill>
                <a:latin typeface="Consolas" panose="020B0609020204030204" pitchFamily="49" charset="0"/>
              </a:rPr>
              <a:t>t1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, </a:t>
            </a:r>
            <a:r>
              <a:rPr lang="en-US" altLang="ja-JP" sz="800">
                <a:solidFill>
                  <a:srgbClr val="9CDCFE"/>
                </a:solidFill>
                <a:latin typeface="Consolas" panose="020B0609020204030204" pitchFamily="49" charset="0"/>
              </a:rPr>
              <a:t>t2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);</a:t>
            </a:r>
          </a:p>
          <a:p>
            <a:pPr>
              <a:lnSpc>
                <a:spcPts val="1425"/>
              </a:lnSpc>
            </a:pP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altLang="ja-JP" sz="800">
                <a:solidFill>
                  <a:srgbClr val="569CD6"/>
                </a:solidFill>
                <a:latin typeface="Consolas" panose="020B0609020204030204" pitchFamily="49" charset="0"/>
              </a:rPr>
              <a:t>const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 </a:t>
            </a:r>
            <a:r>
              <a:rPr lang="en-US" altLang="ja-JP" sz="800">
                <a:solidFill>
                  <a:srgbClr val="4FC1FF"/>
                </a:solidFill>
                <a:latin typeface="Consolas" panose="020B0609020204030204" pitchFamily="49" charset="0"/>
              </a:rPr>
              <a:t>dx1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 = </a:t>
            </a:r>
            <a:r>
              <a:rPr lang="en-US" altLang="ja-JP" sz="800">
                <a:solidFill>
                  <a:srgbClr val="9CDCFE"/>
                </a:solidFill>
                <a:latin typeface="Consolas" panose="020B0609020204030204" pitchFamily="49" charset="0"/>
              </a:rPr>
              <a:t>dx0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 + </a:t>
            </a:r>
            <a:r>
              <a:rPr lang="en-US" altLang="ja-JP" sz="800">
                <a:solidFill>
                  <a:srgbClr val="9CDCFE"/>
                </a:solidFill>
                <a:latin typeface="Consolas" panose="020B0609020204030204" pitchFamily="49" charset="0"/>
              </a:rPr>
              <a:t>v_em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 * </a:t>
            </a:r>
            <a:r>
              <a:rPr lang="en-US" altLang="ja-JP" sz="800">
                <a:solidFill>
                  <a:srgbClr val="9CDCFE"/>
                </a:solidFill>
                <a:latin typeface="Consolas" panose="020B0609020204030204" pitchFamily="49" charset="0"/>
              </a:rPr>
              <a:t>t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 * </a:t>
            </a:r>
            <a:r>
              <a:rPr lang="en-US" altLang="ja-JP" sz="800">
                <a:solidFill>
                  <a:srgbClr val="9CDCFE"/>
                </a:solidFill>
                <a:latin typeface="Consolas" panose="020B0609020204030204" pitchFamily="49" charset="0"/>
              </a:rPr>
              <a:t>Math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.</a:t>
            </a:r>
            <a:r>
              <a:rPr lang="en-US" altLang="ja-JP" sz="800">
                <a:solidFill>
                  <a:srgbClr val="DCDCAA"/>
                </a:solidFill>
                <a:latin typeface="Consolas" panose="020B0609020204030204" pitchFamily="49" charset="0"/>
              </a:rPr>
              <a:t>cos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(</a:t>
            </a:r>
            <a:r>
              <a:rPr lang="en-US" altLang="ja-JP" sz="800">
                <a:solidFill>
                  <a:srgbClr val="9CDCFE"/>
                </a:solidFill>
                <a:latin typeface="Consolas" panose="020B0609020204030204" pitchFamily="49" charset="0"/>
              </a:rPr>
              <a:t>seta2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);</a:t>
            </a:r>
          </a:p>
          <a:p>
            <a:pPr>
              <a:lnSpc>
                <a:spcPts val="1425"/>
              </a:lnSpc>
            </a:pP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altLang="ja-JP" sz="800">
                <a:solidFill>
                  <a:srgbClr val="569CD6"/>
                </a:solidFill>
                <a:latin typeface="Consolas" panose="020B0609020204030204" pitchFamily="49" charset="0"/>
              </a:rPr>
              <a:t>const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 </a:t>
            </a:r>
            <a:r>
              <a:rPr lang="en-US" altLang="ja-JP" sz="800">
                <a:solidFill>
                  <a:srgbClr val="4FC1FF"/>
                </a:solidFill>
                <a:latin typeface="Consolas" panose="020B0609020204030204" pitchFamily="49" charset="0"/>
              </a:rPr>
              <a:t>dy1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 = </a:t>
            </a:r>
            <a:r>
              <a:rPr lang="en-US" altLang="ja-JP" sz="800">
                <a:solidFill>
                  <a:srgbClr val="9CDCFE"/>
                </a:solidFill>
                <a:latin typeface="Consolas" panose="020B0609020204030204" pitchFamily="49" charset="0"/>
              </a:rPr>
              <a:t>dy0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 + </a:t>
            </a:r>
            <a:r>
              <a:rPr lang="en-US" altLang="ja-JP" sz="800">
                <a:solidFill>
                  <a:srgbClr val="9CDCFE"/>
                </a:solidFill>
                <a:latin typeface="Consolas" panose="020B0609020204030204" pitchFamily="49" charset="0"/>
              </a:rPr>
              <a:t>v_em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 * </a:t>
            </a:r>
            <a:r>
              <a:rPr lang="en-US" altLang="ja-JP" sz="800">
                <a:solidFill>
                  <a:srgbClr val="9CDCFE"/>
                </a:solidFill>
                <a:latin typeface="Consolas" panose="020B0609020204030204" pitchFamily="49" charset="0"/>
              </a:rPr>
              <a:t>t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 * </a:t>
            </a:r>
            <a:r>
              <a:rPr lang="en-US" altLang="ja-JP" sz="800">
                <a:solidFill>
                  <a:srgbClr val="9CDCFE"/>
                </a:solidFill>
                <a:latin typeface="Consolas" panose="020B0609020204030204" pitchFamily="49" charset="0"/>
              </a:rPr>
              <a:t>Math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.</a:t>
            </a:r>
            <a:r>
              <a:rPr lang="en-US" altLang="ja-JP" sz="800">
                <a:solidFill>
                  <a:srgbClr val="DCDCAA"/>
                </a:solidFill>
                <a:latin typeface="Consolas" panose="020B0609020204030204" pitchFamily="49" charset="0"/>
              </a:rPr>
              <a:t>sin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(</a:t>
            </a:r>
            <a:r>
              <a:rPr lang="en-US" altLang="ja-JP" sz="800">
                <a:solidFill>
                  <a:srgbClr val="9CDCFE"/>
                </a:solidFill>
                <a:latin typeface="Consolas" panose="020B0609020204030204" pitchFamily="49" charset="0"/>
              </a:rPr>
              <a:t>seta2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);</a:t>
            </a:r>
          </a:p>
          <a:p>
            <a:pPr>
              <a:lnSpc>
                <a:spcPts val="1425"/>
              </a:lnSpc>
            </a:pP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altLang="ja-JP" sz="800">
                <a:solidFill>
                  <a:srgbClr val="569CD6"/>
                </a:solidFill>
                <a:latin typeface="Consolas" panose="020B0609020204030204" pitchFamily="49" charset="0"/>
              </a:rPr>
              <a:t>const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 </a:t>
            </a:r>
            <a:r>
              <a:rPr lang="en-US" altLang="ja-JP" sz="800">
                <a:solidFill>
                  <a:srgbClr val="4FC1FF"/>
                </a:solidFill>
                <a:latin typeface="Consolas" panose="020B0609020204030204" pitchFamily="49" charset="0"/>
              </a:rPr>
              <a:t>seta1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 = </a:t>
            </a:r>
            <a:r>
              <a:rPr lang="en-US" altLang="ja-JP" sz="800">
                <a:solidFill>
                  <a:srgbClr val="9CDCFE"/>
                </a:solidFill>
                <a:latin typeface="Consolas" panose="020B0609020204030204" pitchFamily="49" charset="0"/>
              </a:rPr>
              <a:t>Math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.</a:t>
            </a:r>
            <a:r>
              <a:rPr lang="en-US" altLang="ja-JP" sz="800">
                <a:solidFill>
                  <a:srgbClr val="DCDCAA"/>
                </a:solidFill>
                <a:latin typeface="Consolas" panose="020B0609020204030204" pitchFamily="49" charset="0"/>
              </a:rPr>
              <a:t>atan2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(</a:t>
            </a:r>
            <a:r>
              <a:rPr lang="en-US" altLang="ja-JP" sz="800">
                <a:solidFill>
                  <a:srgbClr val="9CDCFE"/>
                </a:solidFill>
                <a:latin typeface="Consolas" panose="020B0609020204030204" pitchFamily="49" charset="0"/>
              </a:rPr>
              <a:t>dy1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, </a:t>
            </a:r>
            <a:r>
              <a:rPr lang="en-US" altLang="ja-JP" sz="800">
                <a:solidFill>
                  <a:srgbClr val="9CDCFE"/>
                </a:solidFill>
                <a:latin typeface="Consolas" panose="020B0609020204030204" pitchFamily="49" charset="0"/>
              </a:rPr>
              <a:t>dx1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);</a:t>
            </a:r>
          </a:p>
          <a:p>
            <a:pPr>
              <a:lnSpc>
                <a:spcPts val="1425"/>
              </a:lnSpc>
            </a:pP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altLang="ja-JP" sz="800">
                <a:solidFill>
                  <a:srgbClr val="C586C0"/>
                </a:solidFill>
                <a:latin typeface="Consolas" panose="020B0609020204030204" pitchFamily="49" charset="0"/>
              </a:rPr>
              <a:t>return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 {</a:t>
            </a:r>
          </a:p>
          <a:p>
            <a:pPr>
              <a:lnSpc>
                <a:spcPts val="1425"/>
              </a:lnSpc>
            </a:pP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    </a:t>
            </a:r>
            <a:r>
              <a:rPr lang="en-US" altLang="ja-JP" sz="800">
                <a:solidFill>
                  <a:srgbClr val="9CDCFE"/>
                </a:solidFill>
                <a:latin typeface="Consolas" panose="020B0609020204030204" pitchFamily="49" charset="0"/>
              </a:rPr>
              <a:t>id: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 </a:t>
            </a:r>
            <a:r>
              <a:rPr lang="en-US" altLang="ja-JP" sz="800">
                <a:solidFill>
                  <a:srgbClr val="9CDCFE"/>
                </a:solidFill>
                <a:latin typeface="Consolas" panose="020B0609020204030204" pitchFamily="49" charset="0"/>
              </a:rPr>
              <a:t>Math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.</a:t>
            </a:r>
            <a:r>
              <a:rPr lang="en-US" altLang="ja-JP" sz="800">
                <a:solidFill>
                  <a:srgbClr val="DCDCAA"/>
                </a:solidFill>
                <a:latin typeface="Consolas" panose="020B0609020204030204" pitchFamily="49" charset="0"/>
              </a:rPr>
              <a:t>random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().</a:t>
            </a:r>
            <a:r>
              <a:rPr lang="en-US" altLang="ja-JP" sz="800">
                <a:solidFill>
                  <a:srgbClr val="DCDCAA"/>
                </a:solidFill>
                <a:latin typeface="Consolas" panose="020B0609020204030204" pitchFamily="49" charset="0"/>
              </a:rPr>
              <a:t>toString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(),</a:t>
            </a:r>
          </a:p>
          <a:p>
            <a:pPr>
              <a:lnSpc>
                <a:spcPts val="1425"/>
              </a:lnSpc>
            </a:pP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    </a:t>
            </a:r>
            <a:r>
              <a:rPr lang="en-US" altLang="ja-JP" sz="800">
                <a:solidFill>
                  <a:srgbClr val="9CDCFE"/>
                </a:solidFill>
                <a:latin typeface="Consolas" panose="020B0609020204030204" pitchFamily="49" charset="0"/>
              </a:rPr>
              <a:t>x: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 </a:t>
            </a:r>
            <a:r>
              <a:rPr lang="en-US" altLang="ja-JP" sz="800">
                <a:solidFill>
                  <a:srgbClr val="9CDCFE"/>
                </a:solidFill>
                <a:latin typeface="Consolas" panose="020B0609020204030204" pitchFamily="49" charset="0"/>
              </a:rPr>
              <a:t>state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.</a:t>
            </a:r>
            <a:r>
              <a:rPr lang="en-US" altLang="ja-JP" sz="800">
                <a:solidFill>
                  <a:srgbClr val="9CDCFE"/>
                </a:solidFill>
                <a:latin typeface="Consolas" panose="020B0609020204030204" pitchFamily="49" charset="0"/>
              </a:rPr>
              <a:t>player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.</a:t>
            </a:r>
            <a:r>
              <a:rPr lang="en-US" altLang="ja-JP" sz="800">
                <a:solidFill>
                  <a:srgbClr val="9CDCFE"/>
                </a:solidFill>
                <a:latin typeface="Consolas" panose="020B0609020204030204" pitchFamily="49" charset="0"/>
              </a:rPr>
              <a:t>x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,</a:t>
            </a:r>
          </a:p>
          <a:p>
            <a:pPr>
              <a:lnSpc>
                <a:spcPts val="1425"/>
              </a:lnSpc>
            </a:pP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    </a:t>
            </a:r>
            <a:r>
              <a:rPr lang="en-US" altLang="ja-JP" sz="800">
                <a:solidFill>
                  <a:srgbClr val="9CDCFE"/>
                </a:solidFill>
                <a:latin typeface="Consolas" panose="020B0609020204030204" pitchFamily="49" charset="0"/>
              </a:rPr>
              <a:t>y: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 </a:t>
            </a:r>
            <a:r>
              <a:rPr lang="en-US" altLang="ja-JP" sz="800">
                <a:solidFill>
                  <a:srgbClr val="9CDCFE"/>
                </a:solidFill>
                <a:latin typeface="Consolas" panose="020B0609020204030204" pitchFamily="49" charset="0"/>
              </a:rPr>
              <a:t>state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.</a:t>
            </a:r>
            <a:r>
              <a:rPr lang="en-US" altLang="ja-JP" sz="800">
                <a:solidFill>
                  <a:srgbClr val="9CDCFE"/>
                </a:solidFill>
                <a:latin typeface="Consolas" panose="020B0609020204030204" pitchFamily="49" charset="0"/>
              </a:rPr>
              <a:t>player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.</a:t>
            </a:r>
            <a:r>
              <a:rPr lang="en-US" altLang="ja-JP" sz="800">
                <a:solidFill>
                  <a:srgbClr val="9CDCFE"/>
                </a:solidFill>
                <a:latin typeface="Consolas" panose="020B0609020204030204" pitchFamily="49" charset="0"/>
              </a:rPr>
              <a:t>y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,</a:t>
            </a:r>
          </a:p>
          <a:p>
            <a:pPr>
              <a:lnSpc>
                <a:spcPts val="1425"/>
              </a:lnSpc>
            </a:pP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    </a:t>
            </a:r>
            <a:r>
              <a:rPr lang="en-US" altLang="ja-JP" sz="800">
                <a:solidFill>
                  <a:srgbClr val="9CDCFE"/>
                </a:solidFill>
                <a:latin typeface="Consolas" panose="020B0609020204030204" pitchFamily="49" charset="0"/>
              </a:rPr>
              <a:t>direction: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 </a:t>
            </a:r>
            <a:r>
              <a:rPr lang="en-US" altLang="ja-JP" sz="800">
                <a:solidFill>
                  <a:srgbClr val="9CDCFE"/>
                </a:solidFill>
                <a:latin typeface="Consolas" panose="020B0609020204030204" pitchFamily="49" charset="0"/>
              </a:rPr>
              <a:t>seta1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,</a:t>
            </a:r>
          </a:p>
          <a:p>
            <a:pPr>
              <a:lnSpc>
                <a:spcPts val="1425"/>
              </a:lnSpc>
            </a:pP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    </a:t>
            </a:r>
            <a:r>
              <a:rPr lang="en-US" altLang="ja-JP" sz="800">
                <a:solidFill>
                  <a:srgbClr val="9CDCFE"/>
                </a:solidFill>
                <a:latin typeface="Consolas" panose="020B0609020204030204" pitchFamily="49" charset="0"/>
              </a:rPr>
              <a:t>speed: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 </a:t>
            </a:r>
            <a:r>
              <a:rPr lang="en-US" altLang="ja-JP" sz="800">
                <a:solidFill>
                  <a:srgbClr val="4FC1FF"/>
                </a:solidFill>
                <a:latin typeface="Consolas" panose="020B0609020204030204" pitchFamily="49" charset="0"/>
              </a:rPr>
              <a:t>GAME_CONFIG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.</a:t>
            </a:r>
            <a:r>
              <a:rPr lang="en-US" altLang="ja-JP" sz="800">
                <a:solidFill>
                  <a:srgbClr val="4FC1FF"/>
                </a:solidFill>
                <a:latin typeface="Consolas" panose="020B0609020204030204" pitchFamily="49" charset="0"/>
              </a:rPr>
              <a:t>BULLET_SPEED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,</a:t>
            </a:r>
          </a:p>
          <a:p>
            <a:pPr>
              <a:lnSpc>
                <a:spcPts val="1425"/>
              </a:lnSpc>
            </a:pP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    </a:t>
            </a:r>
            <a:r>
              <a:rPr lang="en-US" altLang="ja-JP" sz="800">
                <a:solidFill>
                  <a:srgbClr val="9CDCFE"/>
                </a:solidFill>
                <a:latin typeface="Consolas" panose="020B0609020204030204" pitchFamily="49" charset="0"/>
              </a:rPr>
              <a:t>size: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 </a:t>
            </a:r>
            <a:r>
              <a:rPr lang="en-US" altLang="ja-JP" sz="800">
                <a:solidFill>
                  <a:srgbClr val="4FC1FF"/>
                </a:solidFill>
                <a:latin typeface="Consolas" panose="020B0609020204030204" pitchFamily="49" charset="0"/>
              </a:rPr>
              <a:t>GAME_CONFIG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.</a:t>
            </a:r>
            <a:r>
              <a:rPr lang="en-US" altLang="ja-JP" sz="800">
                <a:solidFill>
                  <a:srgbClr val="4FC1FF"/>
                </a:solidFill>
                <a:latin typeface="Consolas" panose="020B0609020204030204" pitchFamily="49" charset="0"/>
              </a:rPr>
              <a:t>BULLET_SIZE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,</a:t>
            </a:r>
          </a:p>
          <a:p>
            <a:pPr>
              <a:lnSpc>
                <a:spcPts val="1425"/>
              </a:lnSpc>
            </a:pP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    </a:t>
            </a:r>
            <a:r>
              <a:rPr lang="en-US" altLang="ja-JP" sz="800">
                <a:solidFill>
                  <a:srgbClr val="9CDCFE"/>
                </a:solidFill>
                <a:latin typeface="Consolas" panose="020B0609020204030204" pitchFamily="49" charset="0"/>
              </a:rPr>
              <a:t>color: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 </a:t>
            </a:r>
            <a:r>
              <a:rPr lang="en-US" altLang="ja-JP" sz="800">
                <a:solidFill>
                  <a:srgbClr val="4FC1FF"/>
                </a:solidFill>
                <a:latin typeface="Consolas" panose="020B0609020204030204" pitchFamily="49" charset="0"/>
              </a:rPr>
              <a:t>GAME_CONFIG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.</a:t>
            </a:r>
            <a:r>
              <a:rPr lang="en-US" altLang="ja-JP" sz="800">
                <a:solidFill>
                  <a:srgbClr val="4FC1FF"/>
                </a:solidFill>
                <a:latin typeface="Consolas" panose="020B0609020204030204" pitchFamily="49" charset="0"/>
              </a:rPr>
              <a:t>BULLET_COLOR</a:t>
            </a: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,</a:t>
            </a:r>
          </a:p>
          <a:p>
            <a:pPr>
              <a:lnSpc>
                <a:spcPts val="1425"/>
              </a:lnSpc>
            </a:pP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  };</a:t>
            </a:r>
          </a:p>
          <a:p>
            <a:pPr>
              <a:lnSpc>
                <a:spcPts val="1425"/>
              </a:lnSpc>
            </a:pPr>
            <a:r>
              <a:rPr lang="en-US" altLang="ja-JP" sz="800">
                <a:solidFill>
                  <a:srgbClr val="D4D4D4"/>
                </a:solidFill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1670549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0F03435B-7385-5663-E5EB-E12D55A368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D8002D-B5B0-4BAC-B1F6-782DDCCE6D9C}" type="slidenum">
              <a:rPr lang="ja-JP" altLang="en-US">
                <a:solidFill>
                  <a:prstClr val="white"/>
                </a:solidFill>
                <a:latin typeface="Calibri"/>
                <a:ea typeface="ＭＳ Ｐゴシック" panose="020B0600070205080204" pitchFamily="50" charset="-128"/>
              </a:rPr>
              <a:pPr/>
              <a:t>5</a:t>
            </a:fld>
            <a:endParaRPr lang="ja-JP" altLang="en-US">
              <a:solidFill>
                <a:prstClr val="white"/>
              </a:solidFill>
              <a:latin typeface="Calibri"/>
              <a:ea typeface="ＭＳ Ｐゴシック" panose="020B0600070205080204" pitchFamily="50" charset="-128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5FB3601A-3FCE-53CA-8E4E-F585400B466D}"/>
              </a:ext>
            </a:extLst>
          </p:cNvPr>
          <p:cNvSpPr txBox="1"/>
          <p:nvPr/>
        </p:nvSpPr>
        <p:spPr>
          <a:xfrm>
            <a:off x="5244773" y="3244334"/>
            <a:ext cx="17024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>
                <a:solidFill>
                  <a:prstClr val="white"/>
                </a:solidFill>
                <a:latin typeface="Calibri"/>
                <a:ea typeface="ＭＳ Ｐゴシック" panose="020B0600070205080204" pitchFamily="50" charset="-128"/>
              </a:rPr>
              <a:t>参考</a:t>
            </a:r>
            <a:r>
              <a:rPr lang="en-US" altLang="ja-JP">
                <a:solidFill>
                  <a:prstClr val="white"/>
                </a:solidFill>
                <a:latin typeface="Calibri"/>
                <a:ea typeface="ＭＳ Ｐゴシック" panose="020B0600070205080204" pitchFamily="50" charset="-128"/>
              </a:rPr>
              <a:t>: Robocode</a:t>
            </a:r>
            <a:endParaRPr lang="ja-JP" altLang="en-US">
              <a:solidFill>
                <a:prstClr val="white"/>
              </a:solidFill>
              <a:latin typeface="Calibri"/>
              <a:ea typeface="ＭＳ Ｐゴシック" panose="020B060007020508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4274648176"/>
      </p:ext>
    </p:extLst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1981200" y="44624"/>
            <a:ext cx="8229600" cy="864096"/>
          </a:xfrm>
        </p:spPr>
        <p:txBody>
          <a:bodyPr>
            <a:normAutofit/>
          </a:bodyPr>
          <a:lstStyle/>
          <a:p>
            <a:r>
              <a:rPr lang="ja-JP" altLang="en-US" sz="3200" dirty="0"/>
              <a:t>敵の動作の予測（幾何学）</a:t>
            </a:r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D8002D-B5B0-4BAC-B1F6-782DDCCE6D9C}" type="slidenum">
              <a:rPr lang="ja-JP" altLang="en-US">
                <a:solidFill>
                  <a:prstClr val="white"/>
                </a:solidFill>
                <a:latin typeface="Calibri"/>
                <a:ea typeface="ＭＳ Ｐゴシック" panose="020B0600070205080204" pitchFamily="50" charset="-128"/>
              </a:rPr>
              <a:pPr/>
              <a:t>6</a:t>
            </a:fld>
            <a:endParaRPr lang="ja-JP" altLang="en-US">
              <a:solidFill>
                <a:prstClr val="white"/>
              </a:solidFill>
              <a:latin typeface="Calibri"/>
              <a:ea typeface="ＭＳ Ｐゴシック" panose="020B0600070205080204" pitchFamily="50" charset="-128"/>
            </a:endParaRPr>
          </a:p>
        </p:txBody>
      </p:sp>
      <p:cxnSp>
        <p:nvCxnSpPr>
          <p:cNvPr id="6" name="直線矢印コネクタ 5"/>
          <p:cNvCxnSpPr/>
          <p:nvPr/>
        </p:nvCxnSpPr>
        <p:spPr>
          <a:xfrm>
            <a:off x="2063552" y="4878452"/>
            <a:ext cx="8280920" cy="0"/>
          </a:xfrm>
          <a:prstGeom prst="straightConnector1">
            <a:avLst/>
          </a:prstGeom>
          <a:ln w="22225">
            <a:solidFill>
              <a:schemeClr val="bg1">
                <a:lumMod val="95000"/>
              </a:schemeClr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直線矢印コネクタ 6"/>
          <p:cNvCxnSpPr/>
          <p:nvPr/>
        </p:nvCxnSpPr>
        <p:spPr>
          <a:xfrm flipV="1">
            <a:off x="2351584" y="1350060"/>
            <a:ext cx="0" cy="3897724"/>
          </a:xfrm>
          <a:prstGeom prst="straightConnector1">
            <a:avLst/>
          </a:prstGeom>
          <a:ln w="22225">
            <a:solidFill>
              <a:schemeClr val="bg1">
                <a:lumMod val="95000"/>
              </a:schemeClr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線矢印コネクタ 14"/>
          <p:cNvCxnSpPr/>
          <p:nvPr/>
        </p:nvCxnSpPr>
        <p:spPr>
          <a:xfrm>
            <a:off x="2351584" y="4878452"/>
            <a:ext cx="2000138" cy="0"/>
          </a:xfrm>
          <a:prstGeom prst="straightConnector1">
            <a:avLst/>
          </a:prstGeom>
          <a:ln w="34925">
            <a:solidFill>
              <a:srgbClr val="FFC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線矢印コネクタ 17"/>
          <p:cNvCxnSpPr/>
          <p:nvPr/>
        </p:nvCxnSpPr>
        <p:spPr>
          <a:xfrm flipV="1">
            <a:off x="2351584" y="4077980"/>
            <a:ext cx="0" cy="800472"/>
          </a:xfrm>
          <a:prstGeom prst="straightConnector1">
            <a:avLst/>
          </a:prstGeom>
          <a:ln w="34925">
            <a:solidFill>
              <a:srgbClr val="FFC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線矢印コネクタ 19"/>
          <p:cNvCxnSpPr/>
          <p:nvPr/>
        </p:nvCxnSpPr>
        <p:spPr>
          <a:xfrm>
            <a:off x="2310680" y="4158372"/>
            <a:ext cx="2000138" cy="0"/>
          </a:xfrm>
          <a:prstGeom prst="straightConnector1">
            <a:avLst/>
          </a:prstGeom>
          <a:ln w="34925">
            <a:solidFill>
              <a:srgbClr val="FFC000"/>
            </a:solidFill>
            <a:prstDash val="sys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矢印コネクタ 20"/>
          <p:cNvCxnSpPr/>
          <p:nvPr/>
        </p:nvCxnSpPr>
        <p:spPr>
          <a:xfrm flipV="1">
            <a:off x="4266717" y="4069310"/>
            <a:ext cx="3668" cy="809142"/>
          </a:xfrm>
          <a:prstGeom prst="straightConnector1">
            <a:avLst/>
          </a:prstGeom>
          <a:ln w="34925">
            <a:solidFill>
              <a:srgbClr val="FFC000"/>
            </a:solidFill>
            <a:prstDash val="sys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直線矢印コネクタ 21"/>
          <p:cNvCxnSpPr/>
          <p:nvPr/>
        </p:nvCxnSpPr>
        <p:spPr>
          <a:xfrm>
            <a:off x="6023992" y="1998133"/>
            <a:ext cx="2160240" cy="698013"/>
          </a:xfrm>
          <a:prstGeom prst="straightConnector1">
            <a:avLst/>
          </a:prstGeom>
          <a:ln w="34925">
            <a:solidFill>
              <a:srgbClr val="92D050"/>
            </a:solidFill>
            <a:prstDash val="sys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線矢印コネクタ 23"/>
          <p:cNvCxnSpPr/>
          <p:nvPr/>
        </p:nvCxnSpPr>
        <p:spPr>
          <a:xfrm flipV="1">
            <a:off x="4266718" y="1998132"/>
            <a:ext cx="1757275" cy="2173586"/>
          </a:xfrm>
          <a:prstGeom prst="straightConnector1">
            <a:avLst/>
          </a:prstGeom>
          <a:ln w="34925">
            <a:solidFill>
              <a:schemeClr val="accent5">
                <a:lumMod val="40000"/>
                <a:lumOff val="60000"/>
              </a:schemeClr>
            </a:solidFill>
            <a:prstDash val="sys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線矢印コネクタ 25"/>
          <p:cNvCxnSpPr/>
          <p:nvPr/>
        </p:nvCxnSpPr>
        <p:spPr>
          <a:xfrm flipV="1">
            <a:off x="4310818" y="2696146"/>
            <a:ext cx="3873414" cy="1462229"/>
          </a:xfrm>
          <a:prstGeom prst="straightConnector1">
            <a:avLst/>
          </a:prstGeom>
          <a:ln w="34925">
            <a:solidFill>
              <a:srgbClr val="FF0000"/>
            </a:solidFill>
            <a:prstDash val="sys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線矢印コネクタ 15"/>
          <p:cNvCxnSpPr/>
          <p:nvPr/>
        </p:nvCxnSpPr>
        <p:spPr>
          <a:xfrm>
            <a:off x="4270386" y="4158372"/>
            <a:ext cx="1753607" cy="2"/>
          </a:xfrm>
          <a:prstGeom prst="straightConnector1">
            <a:avLst/>
          </a:prstGeom>
          <a:ln w="22225">
            <a:solidFill>
              <a:schemeClr val="accent5">
                <a:lumMod val="40000"/>
                <a:lumOff val="60000"/>
              </a:schemeClr>
            </a:solidFill>
            <a:prstDash val="sys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線矢印コネクタ 18"/>
          <p:cNvCxnSpPr/>
          <p:nvPr/>
        </p:nvCxnSpPr>
        <p:spPr>
          <a:xfrm flipV="1">
            <a:off x="6023992" y="1998132"/>
            <a:ext cx="0" cy="2160240"/>
          </a:xfrm>
          <a:prstGeom prst="straightConnector1">
            <a:avLst/>
          </a:prstGeom>
          <a:ln w="22225">
            <a:solidFill>
              <a:schemeClr val="accent5">
                <a:lumMod val="40000"/>
                <a:lumOff val="60000"/>
              </a:schemeClr>
            </a:solidFill>
            <a:prstDash val="sys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線矢印コネクタ 24"/>
          <p:cNvCxnSpPr/>
          <p:nvPr/>
        </p:nvCxnSpPr>
        <p:spPr>
          <a:xfrm flipV="1">
            <a:off x="6023993" y="1965985"/>
            <a:ext cx="2183697" cy="30906"/>
          </a:xfrm>
          <a:prstGeom prst="straightConnector1">
            <a:avLst/>
          </a:prstGeom>
          <a:ln w="22225">
            <a:solidFill>
              <a:srgbClr val="92D050"/>
            </a:solidFill>
            <a:prstDash val="sys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直線矢印コネクタ 26"/>
          <p:cNvCxnSpPr/>
          <p:nvPr/>
        </p:nvCxnSpPr>
        <p:spPr>
          <a:xfrm>
            <a:off x="8184232" y="1996891"/>
            <a:ext cx="0" cy="699254"/>
          </a:xfrm>
          <a:prstGeom prst="straightConnector1">
            <a:avLst/>
          </a:prstGeom>
          <a:ln w="22225">
            <a:solidFill>
              <a:srgbClr val="92D050"/>
            </a:solidFill>
            <a:prstDash val="sys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直線矢印コネクタ 38"/>
          <p:cNvCxnSpPr/>
          <p:nvPr/>
        </p:nvCxnSpPr>
        <p:spPr>
          <a:xfrm>
            <a:off x="4291116" y="4186216"/>
            <a:ext cx="3893117" cy="0"/>
          </a:xfrm>
          <a:prstGeom prst="straightConnector1">
            <a:avLst/>
          </a:prstGeom>
          <a:ln w="22225">
            <a:solidFill>
              <a:srgbClr val="FF0000"/>
            </a:solidFill>
            <a:prstDash val="sys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直線矢印コネクタ 40"/>
          <p:cNvCxnSpPr/>
          <p:nvPr/>
        </p:nvCxnSpPr>
        <p:spPr>
          <a:xfrm flipV="1">
            <a:off x="8207689" y="2682760"/>
            <a:ext cx="0" cy="1475613"/>
          </a:xfrm>
          <a:prstGeom prst="straightConnector1">
            <a:avLst/>
          </a:prstGeom>
          <a:ln w="22225">
            <a:solidFill>
              <a:srgbClr val="FF0000"/>
            </a:solidFill>
            <a:prstDash val="sys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直線矢印コネクタ 46"/>
          <p:cNvCxnSpPr/>
          <p:nvPr/>
        </p:nvCxnSpPr>
        <p:spPr>
          <a:xfrm flipV="1">
            <a:off x="4280196" y="3222268"/>
            <a:ext cx="303636" cy="855712"/>
          </a:xfrm>
          <a:prstGeom prst="straightConnector1">
            <a:avLst/>
          </a:prstGeom>
          <a:ln w="22225">
            <a:solidFill>
              <a:srgbClr val="0070C0"/>
            </a:solidFill>
            <a:prstDash val="sys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直線矢印コネクタ 52"/>
          <p:cNvCxnSpPr/>
          <p:nvPr/>
        </p:nvCxnSpPr>
        <p:spPr>
          <a:xfrm flipV="1">
            <a:off x="4270385" y="3169720"/>
            <a:ext cx="0" cy="1016496"/>
          </a:xfrm>
          <a:prstGeom prst="straightConnector1">
            <a:avLst/>
          </a:prstGeom>
          <a:ln w="9525">
            <a:solidFill>
              <a:srgbClr val="FFC000"/>
            </a:solidFill>
            <a:prstDash val="sys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0" name="円弧 1039"/>
          <p:cNvSpPr/>
          <p:nvPr/>
        </p:nvSpPr>
        <p:spPr>
          <a:xfrm rot="18635117">
            <a:off x="4126943" y="3518678"/>
            <a:ext cx="367748" cy="276015"/>
          </a:xfrm>
          <a:prstGeom prst="arc">
            <a:avLst>
              <a:gd name="adj1" fmla="val 18600999"/>
              <a:gd name="adj2" fmla="val 538003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black"/>
              </a:solidFill>
              <a:latin typeface="Calibri"/>
              <a:ea typeface="ＭＳ Ｐゴシック" panose="020B0600070205080204" pitchFamily="50" charset="-128"/>
            </a:endParaRPr>
          </a:p>
        </p:txBody>
      </p:sp>
      <p:cxnSp>
        <p:nvCxnSpPr>
          <p:cNvPr id="1042" name="直線矢印コネクタ 1041"/>
          <p:cNvCxnSpPr/>
          <p:nvPr/>
        </p:nvCxnSpPr>
        <p:spPr>
          <a:xfrm flipH="1">
            <a:off x="4361493" y="3008321"/>
            <a:ext cx="28495" cy="421183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直線矢印コネクタ 78"/>
          <p:cNvCxnSpPr/>
          <p:nvPr/>
        </p:nvCxnSpPr>
        <p:spPr>
          <a:xfrm flipH="1">
            <a:off x="4705404" y="2632852"/>
            <a:ext cx="238468" cy="863645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円弧 79"/>
          <p:cNvSpPr/>
          <p:nvPr/>
        </p:nvSpPr>
        <p:spPr>
          <a:xfrm rot="19965134">
            <a:off x="4173558" y="3528030"/>
            <a:ext cx="564125" cy="390661"/>
          </a:xfrm>
          <a:prstGeom prst="arc">
            <a:avLst>
              <a:gd name="adj1" fmla="val 18600999"/>
              <a:gd name="adj2" fmla="val 147383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black"/>
              </a:solidFill>
              <a:latin typeface="Calibri"/>
              <a:ea typeface="ＭＳ Ｐゴシック" panose="020B0600070205080204" pitchFamily="50" charset="-128"/>
            </a:endParaRPr>
          </a:p>
        </p:txBody>
      </p:sp>
      <p:cxnSp>
        <p:nvCxnSpPr>
          <p:cNvPr id="84" name="直線矢印コネクタ 83"/>
          <p:cNvCxnSpPr/>
          <p:nvPr/>
        </p:nvCxnSpPr>
        <p:spPr>
          <a:xfrm>
            <a:off x="5303912" y="2284876"/>
            <a:ext cx="216025" cy="244718"/>
          </a:xfrm>
          <a:prstGeom prst="straightConnector1">
            <a:avLst/>
          </a:prstGeom>
          <a:ln>
            <a:solidFill>
              <a:schemeClr val="tx2">
                <a:lumMod val="20000"/>
                <a:lumOff val="8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直線矢印コネクタ 85"/>
          <p:cNvCxnSpPr/>
          <p:nvPr/>
        </p:nvCxnSpPr>
        <p:spPr>
          <a:xfrm flipV="1">
            <a:off x="6030717" y="981636"/>
            <a:ext cx="0" cy="1016496"/>
          </a:xfrm>
          <a:prstGeom prst="straightConnector1">
            <a:avLst/>
          </a:prstGeom>
          <a:ln w="9525">
            <a:solidFill>
              <a:srgbClr val="FFC000"/>
            </a:solidFill>
            <a:prstDash val="sys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円弧 86"/>
          <p:cNvSpPr/>
          <p:nvPr/>
        </p:nvSpPr>
        <p:spPr>
          <a:xfrm rot="19965134">
            <a:off x="5451860" y="1659135"/>
            <a:ext cx="937678" cy="873551"/>
          </a:xfrm>
          <a:prstGeom prst="arc">
            <a:avLst>
              <a:gd name="adj1" fmla="val 18600999"/>
              <a:gd name="adj2" fmla="val 1918726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black"/>
              </a:solidFill>
              <a:latin typeface="Calibri"/>
              <a:ea typeface="ＭＳ Ｐゴシック" panose="020B0600070205080204" pitchFamily="50" charset="-128"/>
            </a:endParaRPr>
          </a:p>
        </p:txBody>
      </p:sp>
      <p:cxnSp>
        <p:nvCxnSpPr>
          <p:cNvPr id="89" name="直線矢印コネクタ 88"/>
          <p:cNvCxnSpPr/>
          <p:nvPr/>
        </p:nvCxnSpPr>
        <p:spPr>
          <a:xfrm flipH="1">
            <a:off x="6247525" y="1356198"/>
            <a:ext cx="135402" cy="281895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円弧 90"/>
          <p:cNvSpPr/>
          <p:nvPr/>
        </p:nvSpPr>
        <p:spPr>
          <a:xfrm rot="1042521">
            <a:off x="4067326" y="3652235"/>
            <a:ext cx="776587" cy="668212"/>
          </a:xfrm>
          <a:prstGeom prst="arc">
            <a:avLst>
              <a:gd name="adj1" fmla="val 17493012"/>
              <a:gd name="adj2" fmla="val 303382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black"/>
              </a:solidFill>
              <a:latin typeface="Calibri"/>
              <a:ea typeface="ＭＳ Ｐゴシック" panose="020B0600070205080204" pitchFamily="50" charset="-128"/>
            </a:endParaRPr>
          </a:p>
        </p:txBody>
      </p:sp>
      <p:cxnSp>
        <p:nvCxnSpPr>
          <p:cNvPr id="92" name="直線矢印コネクタ 91"/>
          <p:cNvCxnSpPr/>
          <p:nvPr/>
        </p:nvCxnSpPr>
        <p:spPr>
          <a:xfrm flipH="1">
            <a:off x="4806734" y="3575788"/>
            <a:ext cx="238468" cy="204361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直線矢印コネクタ 98"/>
          <p:cNvCxnSpPr/>
          <p:nvPr/>
        </p:nvCxnSpPr>
        <p:spPr>
          <a:xfrm flipH="1">
            <a:off x="5258938" y="3953673"/>
            <a:ext cx="299208" cy="143900"/>
          </a:xfrm>
          <a:prstGeom prst="straightConnector1">
            <a:avLst/>
          </a:prstGeom>
          <a:ln>
            <a:solidFill>
              <a:schemeClr val="tx2">
                <a:lumMod val="20000"/>
                <a:lumOff val="8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円弧 103"/>
          <p:cNvSpPr/>
          <p:nvPr/>
        </p:nvSpPr>
        <p:spPr>
          <a:xfrm rot="3429772">
            <a:off x="6156777" y="1858277"/>
            <a:ext cx="454831" cy="423726"/>
          </a:xfrm>
          <a:prstGeom prst="arc">
            <a:avLst>
              <a:gd name="adj1" fmla="val 17161516"/>
              <a:gd name="adj2" fmla="val 19705923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black"/>
              </a:solidFill>
              <a:latin typeface="Calibri"/>
              <a:ea typeface="ＭＳ Ｐゴシック" panose="020B0600070205080204" pitchFamily="50" charset="-128"/>
            </a:endParaRPr>
          </a:p>
        </p:txBody>
      </p:sp>
      <p:cxnSp>
        <p:nvCxnSpPr>
          <p:cNvPr id="105" name="直線矢印コネクタ 104"/>
          <p:cNvCxnSpPr/>
          <p:nvPr/>
        </p:nvCxnSpPr>
        <p:spPr>
          <a:xfrm flipH="1">
            <a:off x="6637510" y="1829532"/>
            <a:ext cx="177885" cy="270679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0" name="テキスト ボックス 59"/>
              <p:cNvSpPr txBox="1"/>
              <p:nvPr/>
            </p:nvSpPr>
            <p:spPr>
              <a:xfrm>
                <a:off x="2510765" y="4953775"/>
                <a:ext cx="3798476" cy="182588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ja-JP" sz="1600" i="1">
                              <a:solidFill>
                                <a:prstClr val="white"/>
                              </a:solidFill>
                              <a:latin typeface="Cambria Math" panose="02040503050406030204" pitchFamily="18" charset="0"/>
                              <a:ea typeface="Cambria Math"/>
                            </a:rPr>
                          </m:ctrlPr>
                        </m:sSupPr>
                        <m:e>
                          <m:r>
                            <a:rPr lang="en-US" altLang="ja-JP" sz="1600" i="1">
                              <a:solidFill>
                                <a:prstClr val="white"/>
                              </a:solidFill>
                              <a:latin typeface="Cambria Math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altLang="ja-JP" sz="1600" i="1">
                                  <a:solidFill>
                                    <a:prstClr val="white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sz="1600" i="1">
                                  <a:solidFill>
                                    <a:prstClr val="white"/>
                                  </a:solidFill>
                                  <a:latin typeface="Cambria Math"/>
                                </a:rPr>
                                <m:t>𝑉</m:t>
                              </m:r>
                            </m:e>
                            <m:sub>
                              <m:r>
                                <a:rPr lang="en-US" altLang="ja-JP" sz="1600" i="1">
                                  <a:solidFill>
                                    <a:prstClr val="white"/>
                                  </a:solidFill>
                                  <a:latin typeface="Cambria Math"/>
                                </a:rPr>
                                <m:t>𝑏𝑡</m:t>
                              </m:r>
                            </m:sub>
                          </m:sSub>
                          <m:r>
                            <a:rPr lang="en-US" altLang="ja-JP" sz="1600" i="1">
                              <a:solidFill>
                                <a:prstClr val="white"/>
                              </a:solidFill>
                              <a:latin typeface="Cambria Math"/>
                              <a:ea typeface="Cambria Math"/>
                            </a:rPr>
                            <m:t>×</m:t>
                          </m:r>
                          <m:r>
                            <a:rPr lang="en-US" altLang="ja-JP" sz="1600" i="1">
                              <a:solidFill>
                                <a:prstClr val="white"/>
                              </a:solidFill>
                              <a:latin typeface="Cambria Math"/>
                              <a:ea typeface="Cambria Math"/>
                            </a:rPr>
                            <m:t>𝑡</m:t>
                          </m:r>
                          <m:r>
                            <a:rPr lang="en-US" altLang="ja-JP" sz="1600" i="1">
                              <a:solidFill>
                                <a:prstClr val="white"/>
                              </a:solidFill>
                              <a:latin typeface="Cambria Math"/>
                              <a:ea typeface="Cambria Math"/>
                            </a:rPr>
                            <m:t>)</m:t>
                          </m:r>
                        </m:e>
                        <m:sup>
                          <m:r>
                            <a:rPr lang="en-US" altLang="ja-JP" sz="1600" i="1">
                              <a:solidFill>
                                <a:prstClr val="white"/>
                              </a:solidFill>
                              <a:latin typeface="Cambria Math"/>
                              <a:ea typeface="Cambria Math"/>
                            </a:rPr>
                            <m:t>2</m:t>
                          </m:r>
                        </m:sup>
                      </m:sSup>
                      <m:r>
                        <a:rPr lang="en-US" altLang="ja-JP" sz="1600" i="1">
                          <a:solidFill>
                            <a:prstClr val="white"/>
                          </a:solidFill>
                          <a:latin typeface="Cambria Math"/>
                          <a:ea typeface="Cambria Math"/>
                        </a:rPr>
                        <m:t>=</m:t>
                      </m:r>
                      <m:sSup>
                        <m:sSupPr>
                          <m:ctrlPr>
                            <a:rPr lang="en-US" altLang="ja-JP" sz="1600" i="1">
                              <a:solidFill>
                                <a:prstClr val="white"/>
                              </a:solidFill>
                              <a:latin typeface="Cambria Math" panose="02040503050406030204" pitchFamily="18" charset="0"/>
                              <a:ea typeface="Cambria Math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en-US" altLang="ja-JP" sz="1600" i="1">
                                  <a:solidFill>
                                    <a:prstClr val="white"/>
                                  </a:solidFill>
                                  <a:latin typeface="Cambria Math" panose="02040503050406030204" pitchFamily="18" charset="0"/>
                                  <a:ea typeface="Cambria Math"/>
                                </a:rPr>
                              </m:ctrlPr>
                            </m:sSubPr>
                            <m:e>
                              <m:r>
                                <a:rPr lang="en-US" altLang="ja-JP" sz="1600" i="1">
                                  <a:solidFill>
                                    <a:prstClr val="white"/>
                                  </a:solidFill>
                                  <a:latin typeface="Cambria Math"/>
                                  <a:ea typeface="Cambria Math"/>
                                </a:rPr>
                                <m:t>𝑑𝑋</m:t>
                              </m:r>
                            </m:e>
                            <m:sub>
                              <m:r>
                                <a:rPr lang="en-US" altLang="ja-JP" sz="1600" i="1">
                                  <a:solidFill>
                                    <a:prstClr val="white"/>
                                  </a:solidFill>
                                  <a:latin typeface="Cambria Math"/>
                                  <a:ea typeface="Cambria Math"/>
                                </a:rPr>
                                <m:t>1</m:t>
                              </m:r>
                            </m:sub>
                          </m:sSub>
                        </m:e>
                        <m:sup>
                          <m:r>
                            <a:rPr lang="en-US" altLang="ja-JP" sz="1600" i="1">
                              <a:solidFill>
                                <a:prstClr val="white"/>
                              </a:solidFill>
                              <a:latin typeface="Cambria Math"/>
                              <a:ea typeface="Cambria Math"/>
                            </a:rPr>
                            <m:t>2</m:t>
                          </m:r>
                        </m:sup>
                      </m:sSup>
                      <m:r>
                        <a:rPr lang="en-US" altLang="ja-JP" sz="1600" i="1">
                          <a:solidFill>
                            <a:prstClr val="white"/>
                          </a:solidFill>
                          <a:latin typeface="Cambria Math"/>
                          <a:ea typeface="Cambria Math"/>
                        </a:rPr>
                        <m:t>+</m:t>
                      </m:r>
                      <m:sSup>
                        <m:sSupPr>
                          <m:ctrlPr>
                            <a:rPr lang="en-US" altLang="ja-JP" sz="1600" i="1">
                              <a:solidFill>
                                <a:prstClr val="white"/>
                              </a:solidFill>
                              <a:latin typeface="Cambria Math" panose="02040503050406030204" pitchFamily="18" charset="0"/>
                              <a:ea typeface="Cambria Math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en-US" altLang="ja-JP" sz="1600" i="1">
                                  <a:solidFill>
                                    <a:prstClr val="white"/>
                                  </a:solidFill>
                                  <a:latin typeface="Cambria Math" panose="02040503050406030204" pitchFamily="18" charset="0"/>
                                  <a:ea typeface="Cambria Math"/>
                                </a:rPr>
                              </m:ctrlPr>
                            </m:sSubPr>
                            <m:e>
                              <m:r>
                                <a:rPr lang="en-US" altLang="ja-JP" sz="1600" i="1">
                                  <a:solidFill>
                                    <a:prstClr val="white"/>
                                  </a:solidFill>
                                  <a:latin typeface="Cambria Math"/>
                                  <a:ea typeface="Cambria Math"/>
                                </a:rPr>
                                <m:t>𝑑𝑌</m:t>
                              </m:r>
                            </m:e>
                            <m:sub>
                              <m:r>
                                <a:rPr lang="en-US" altLang="ja-JP" sz="1600" i="1">
                                  <a:solidFill>
                                    <a:prstClr val="white"/>
                                  </a:solidFill>
                                  <a:latin typeface="Cambria Math"/>
                                  <a:ea typeface="Cambria Math"/>
                                </a:rPr>
                                <m:t>1</m:t>
                              </m:r>
                            </m:sub>
                          </m:sSub>
                        </m:e>
                        <m:sup>
                          <m:r>
                            <a:rPr lang="en-US" altLang="ja-JP" sz="1600" i="1">
                              <a:solidFill>
                                <a:prstClr val="white"/>
                              </a:solidFill>
                              <a:latin typeface="Cambria Math"/>
                              <a:ea typeface="Cambria Math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altLang="ja-JP" sz="1600" dirty="0">
                  <a:solidFill>
                    <a:prstClr val="white"/>
                  </a:solidFill>
                  <a:latin typeface="Calibri"/>
                  <a:ea typeface="Cambria Math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ja-JP" sz="1600" i="1">
                              <a:solidFill>
                                <a:prstClr val="white"/>
                              </a:solidFill>
                              <a:latin typeface="Cambria Math" panose="02040503050406030204" pitchFamily="18" charset="0"/>
                              <a:ea typeface="Cambria Math"/>
                            </a:rPr>
                          </m:ctrlPr>
                        </m:sSubPr>
                        <m:e>
                          <m:r>
                            <a:rPr lang="en-US" altLang="ja-JP" sz="1600" i="1">
                              <a:solidFill>
                                <a:prstClr val="white"/>
                              </a:solidFill>
                              <a:latin typeface="Cambria Math"/>
                              <a:ea typeface="Cambria Math"/>
                            </a:rPr>
                            <m:t>𝑉</m:t>
                          </m:r>
                        </m:e>
                        <m:sub>
                          <m:r>
                            <a:rPr lang="en-US" altLang="ja-JP" sz="1600" i="1">
                              <a:solidFill>
                                <a:prstClr val="white"/>
                              </a:solidFill>
                              <a:latin typeface="Cambria Math"/>
                              <a:ea typeface="Cambria Math"/>
                            </a:rPr>
                            <m:t>𝑏𝑡</m:t>
                          </m:r>
                        </m:sub>
                      </m:sSub>
                      <m:r>
                        <a:rPr lang="en-US" altLang="ja-JP" sz="1600" i="1">
                          <a:solidFill>
                            <a:prstClr val="white"/>
                          </a:solidFill>
                          <a:latin typeface="Cambria Math"/>
                          <a:ea typeface="Cambria Math"/>
                        </a:rPr>
                        <m:t>=20−3×</m:t>
                      </m:r>
                      <m:r>
                        <a:rPr lang="en-US" altLang="ja-JP" sz="1600" i="1">
                          <a:solidFill>
                            <a:prstClr val="white"/>
                          </a:solidFill>
                          <a:latin typeface="Cambria Math"/>
                          <a:ea typeface="Cambria Math"/>
                        </a:rPr>
                        <m:t>𝑝𝑜𝑤𝑒𝑟</m:t>
                      </m:r>
                    </m:oMath>
                  </m:oMathPara>
                </a14:m>
                <a:endParaRPr lang="en-US" altLang="ja-JP" sz="1600" dirty="0">
                  <a:solidFill>
                    <a:prstClr val="white"/>
                  </a:solidFill>
                  <a:latin typeface="Calibri"/>
                  <a:ea typeface="Cambria Math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ja-JP" sz="1600" i="1">
                              <a:solidFill>
                                <a:prstClr val="white"/>
                              </a:solidFill>
                              <a:latin typeface="Cambria Math" panose="02040503050406030204" pitchFamily="18" charset="0"/>
                              <a:ea typeface="Cambria Math"/>
                            </a:rPr>
                          </m:ctrlPr>
                        </m:sSubPr>
                        <m:e>
                          <m:r>
                            <a:rPr lang="en-US" altLang="ja-JP" sz="1600" i="1">
                              <a:solidFill>
                                <a:prstClr val="white"/>
                              </a:solidFill>
                              <a:latin typeface="Cambria Math"/>
                              <a:ea typeface="Cambria Math"/>
                            </a:rPr>
                            <m:t>𝑑𝑋</m:t>
                          </m:r>
                        </m:e>
                        <m:sub>
                          <m:r>
                            <a:rPr lang="en-US" altLang="ja-JP" sz="1600" i="1">
                              <a:solidFill>
                                <a:prstClr val="white"/>
                              </a:solidFill>
                              <a:latin typeface="Cambria Math"/>
                              <a:ea typeface="Cambria Math"/>
                            </a:rPr>
                            <m:t>1</m:t>
                          </m:r>
                        </m:sub>
                      </m:sSub>
                      <m:r>
                        <a:rPr lang="en-US" altLang="ja-JP" sz="1600" i="1">
                          <a:solidFill>
                            <a:prstClr val="white"/>
                          </a:solidFill>
                          <a:latin typeface="Cambria Math"/>
                          <a:ea typeface="Cambria Math"/>
                        </a:rPr>
                        <m:t>=</m:t>
                      </m:r>
                      <m:sSub>
                        <m:sSubPr>
                          <m:ctrlPr>
                            <a:rPr lang="en-US" altLang="ja-JP" sz="1600" i="1">
                              <a:solidFill>
                                <a:prstClr val="white"/>
                              </a:solidFill>
                              <a:latin typeface="Cambria Math" panose="02040503050406030204" pitchFamily="18" charset="0"/>
                              <a:ea typeface="Cambria Math"/>
                            </a:rPr>
                          </m:ctrlPr>
                        </m:sSubPr>
                        <m:e>
                          <m:r>
                            <a:rPr lang="en-US" altLang="ja-JP" sz="1600" i="1">
                              <a:solidFill>
                                <a:prstClr val="white"/>
                              </a:solidFill>
                              <a:latin typeface="Cambria Math"/>
                              <a:ea typeface="Cambria Math"/>
                            </a:rPr>
                            <m:t>𝑑𝑋</m:t>
                          </m:r>
                        </m:e>
                        <m:sub>
                          <m:r>
                            <a:rPr lang="en-US" altLang="ja-JP" sz="1600" i="1">
                              <a:solidFill>
                                <a:prstClr val="white"/>
                              </a:solidFill>
                              <a:latin typeface="Cambria Math"/>
                              <a:ea typeface="Cambria Math"/>
                            </a:rPr>
                            <m:t>0</m:t>
                          </m:r>
                        </m:sub>
                      </m:sSub>
                      <m:r>
                        <a:rPr lang="en-US" altLang="ja-JP" sz="1600" i="1">
                          <a:solidFill>
                            <a:prstClr val="white"/>
                          </a:solidFill>
                          <a:latin typeface="Cambria Math"/>
                          <a:ea typeface="Cambria Math"/>
                        </a:rPr>
                        <m:t>+</m:t>
                      </m:r>
                      <m:sSub>
                        <m:sSubPr>
                          <m:ctrlPr>
                            <a:rPr lang="en-US" altLang="ja-JP" sz="1600" i="1">
                              <a:solidFill>
                                <a:prstClr val="white"/>
                              </a:solidFill>
                              <a:latin typeface="Cambria Math" panose="02040503050406030204" pitchFamily="18" charset="0"/>
                              <a:ea typeface="Cambria Math"/>
                            </a:rPr>
                          </m:ctrlPr>
                        </m:sSubPr>
                        <m:e>
                          <m:r>
                            <a:rPr lang="en-US" altLang="ja-JP" sz="1600" i="1">
                              <a:solidFill>
                                <a:prstClr val="white"/>
                              </a:solidFill>
                              <a:latin typeface="Cambria Math"/>
                              <a:ea typeface="Cambria Math"/>
                            </a:rPr>
                            <m:t>𝑑𝑋</m:t>
                          </m:r>
                        </m:e>
                        <m:sub>
                          <m:r>
                            <a:rPr lang="en-US" altLang="ja-JP" sz="1600" i="1">
                              <a:solidFill>
                                <a:prstClr val="white"/>
                              </a:solidFill>
                              <a:latin typeface="Cambria Math"/>
                              <a:ea typeface="Cambria Math"/>
                            </a:rPr>
                            <m:t>𝑒𝑚</m:t>
                          </m:r>
                        </m:sub>
                      </m:sSub>
                    </m:oMath>
                  </m:oMathPara>
                </a14:m>
                <a:endParaRPr lang="en-US" altLang="ja-JP" sz="1600" baseline="-25000" dirty="0">
                  <a:solidFill>
                    <a:prstClr val="white"/>
                  </a:solidFill>
                  <a:latin typeface="Calibri"/>
                  <a:ea typeface="ＭＳ Ｐゴシック" panose="020B0600070205080204" pitchFamily="50" charset="-128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ja-JP" sz="1600" i="1">
                              <a:solidFill>
                                <a:prstClr val="white"/>
                              </a:solidFill>
                              <a:latin typeface="Cambria Math" panose="02040503050406030204" pitchFamily="18" charset="0"/>
                              <a:ea typeface="Cambria Math"/>
                            </a:rPr>
                          </m:ctrlPr>
                        </m:sSubPr>
                        <m:e>
                          <m:r>
                            <a:rPr lang="en-US" altLang="ja-JP" sz="1600" i="1">
                              <a:solidFill>
                                <a:prstClr val="white"/>
                              </a:solidFill>
                              <a:latin typeface="Cambria Math"/>
                              <a:ea typeface="Cambria Math"/>
                            </a:rPr>
                            <m:t>𝑑𝑌</m:t>
                          </m:r>
                        </m:e>
                        <m:sub>
                          <m:r>
                            <a:rPr lang="en-US" altLang="ja-JP" sz="1600" i="1">
                              <a:solidFill>
                                <a:prstClr val="white"/>
                              </a:solidFill>
                              <a:latin typeface="Cambria Math"/>
                              <a:ea typeface="Cambria Math"/>
                            </a:rPr>
                            <m:t>1</m:t>
                          </m:r>
                        </m:sub>
                      </m:sSub>
                      <m:r>
                        <a:rPr lang="en-US" altLang="ja-JP" sz="1600" i="1">
                          <a:solidFill>
                            <a:prstClr val="white"/>
                          </a:solidFill>
                          <a:latin typeface="Cambria Math"/>
                          <a:ea typeface="Cambria Math"/>
                        </a:rPr>
                        <m:t>=</m:t>
                      </m:r>
                      <m:sSub>
                        <m:sSubPr>
                          <m:ctrlPr>
                            <a:rPr lang="en-US" altLang="ja-JP" sz="1600" i="1">
                              <a:solidFill>
                                <a:prstClr val="white"/>
                              </a:solidFill>
                              <a:latin typeface="Cambria Math" panose="02040503050406030204" pitchFamily="18" charset="0"/>
                              <a:ea typeface="Cambria Math"/>
                            </a:rPr>
                          </m:ctrlPr>
                        </m:sSubPr>
                        <m:e>
                          <m:r>
                            <a:rPr lang="en-US" altLang="ja-JP" sz="1600" i="1">
                              <a:solidFill>
                                <a:prstClr val="white"/>
                              </a:solidFill>
                              <a:latin typeface="Cambria Math"/>
                              <a:ea typeface="Cambria Math"/>
                            </a:rPr>
                            <m:t>𝑑𝑌</m:t>
                          </m:r>
                        </m:e>
                        <m:sub>
                          <m:r>
                            <a:rPr lang="en-US" altLang="ja-JP" sz="1600" i="1">
                              <a:solidFill>
                                <a:prstClr val="white"/>
                              </a:solidFill>
                              <a:latin typeface="Cambria Math"/>
                              <a:ea typeface="Cambria Math"/>
                            </a:rPr>
                            <m:t>0</m:t>
                          </m:r>
                        </m:sub>
                      </m:sSub>
                      <m:r>
                        <a:rPr lang="en-US" altLang="ja-JP" sz="1600" i="1">
                          <a:solidFill>
                            <a:prstClr val="white"/>
                          </a:solidFill>
                          <a:latin typeface="Cambria Math"/>
                          <a:ea typeface="Cambria Math"/>
                        </a:rPr>
                        <m:t>+</m:t>
                      </m:r>
                      <m:sSub>
                        <m:sSubPr>
                          <m:ctrlPr>
                            <a:rPr lang="en-US" altLang="ja-JP" sz="1600" i="1">
                              <a:solidFill>
                                <a:prstClr val="white"/>
                              </a:solidFill>
                              <a:latin typeface="Cambria Math" panose="02040503050406030204" pitchFamily="18" charset="0"/>
                              <a:ea typeface="Cambria Math"/>
                            </a:rPr>
                          </m:ctrlPr>
                        </m:sSubPr>
                        <m:e>
                          <m:r>
                            <a:rPr lang="en-US" altLang="ja-JP" sz="1600" i="1">
                              <a:solidFill>
                                <a:prstClr val="white"/>
                              </a:solidFill>
                              <a:latin typeface="Cambria Math"/>
                              <a:ea typeface="Cambria Math"/>
                            </a:rPr>
                            <m:t>𝑑𝑌</m:t>
                          </m:r>
                        </m:e>
                        <m:sub>
                          <m:r>
                            <a:rPr lang="en-US" altLang="ja-JP" sz="1600" i="1">
                              <a:solidFill>
                                <a:prstClr val="white"/>
                              </a:solidFill>
                              <a:latin typeface="Cambria Math"/>
                              <a:ea typeface="Cambria Math"/>
                            </a:rPr>
                            <m:t>𝑒𝑚</m:t>
                          </m:r>
                        </m:sub>
                      </m:sSub>
                    </m:oMath>
                  </m:oMathPara>
                </a14:m>
                <a:endParaRPr lang="en-US" altLang="ja-JP" sz="1600" baseline="-25000" dirty="0">
                  <a:solidFill>
                    <a:prstClr val="white"/>
                  </a:solidFill>
                  <a:latin typeface="Calibri"/>
                  <a:ea typeface="ＭＳ Ｐゴシック" panose="020B0600070205080204" pitchFamily="50" charset="-128"/>
                </a:endParaRPr>
              </a:p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US" altLang="ja-JP" sz="1600" i="1">
                            <a:solidFill>
                              <a:prstClr val="white"/>
                            </a:solidFill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en-US" altLang="ja-JP" sz="1600" i="1">
                            <a:solidFill>
                              <a:prstClr val="white"/>
                            </a:solidFill>
                            <a:latin typeface="Cambria Math"/>
                            <a:ea typeface="Cambria Math"/>
                          </a:rPr>
                          <m:t>𝑑𝑋</m:t>
                        </m:r>
                      </m:e>
                      <m:sub>
                        <m:r>
                          <a:rPr lang="en-US" altLang="ja-JP" sz="1600" i="1">
                            <a:solidFill>
                              <a:prstClr val="white"/>
                            </a:solidFill>
                            <a:latin typeface="Cambria Math"/>
                            <a:ea typeface="Cambria Math"/>
                          </a:rPr>
                          <m:t>0</m:t>
                        </m:r>
                      </m:sub>
                    </m:sSub>
                    <m:r>
                      <a:rPr lang="en-US" altLang="ja-JP" sz="1600" i="1">
                        <a:solidFill>
                          <a:prstClr val="white"/>
                        </a:solidFill>
                        <a:latin typeface="Cambria Math"/>
                        <a:ea typeface="Cambria Math"/>
                      </a:rPr>
                      <m:t>=</m:t>
                    </m:r>
                    <m:r>
                      <a:rPr lang="en-US" altLang="ja-JP" sz="1600" i="1">
                        <a:solidFill>
                          <a:prstClr val="white"/>
                        </a:solidFill>
                        <a:latin typeface="Cambria Math"/>
                        <a:ea typeface="Cambria Math"/>
                      </a:rPr>
                      <m:t>𝑒</m:t>
                    </m:r>
                    <m:r>
                      <a:rPr lang="en-US" altLang="ja-JP" sz="1600" i="1">
                        <a:solidFill>
                          <a:prstClr val="white"/>
                        </a:solidFill>
                        <a:latin typeface="Cambria Math"/>
                        <a:ea typeface="Cambria Math"/>
                      </a:rPr>
                      <m:t>.</m:t>
                    </m:r>
                    <m:r>
                      <a:rPr lang="en-US" altLang="ja-JP" sz="1600" i="1">
                        <a:solidFill>
                          <a:prstClr val="white"/>
                        </a:solidFill>
                        <a:latin typeface="Cambria Math"/>
                        <a:ea typeface="Cambria Math"/>
                      </a:rPr>
                      <m:t>𝑔𝑒𝑡𝐷𝑖𝑠𝑡𝑎𝑛𝑐𝑒</m:t>
                    </m:r>
                  </m:oMath>
                </a14:m>
                <a:r>
                  <a:rPr lang="en-US" altLang="ja-JP" sz="1600" dirty="0">
                    <a:solidFill>
                      <a:prstClr val="white"/>
                    </a:solidFill>
                    <a:latin typeface="Calibri"/>
                    <a:ea typeface="Cambria Math"/>
                  </a:rPr>
                  <a:t>()</a:t>
                </a:r>
                <a14:m>
                  <m:oMath xmlns:m="http://schemas.openxmlformats.org/officeDocument/2006/math">
                    <m:r>
                      <a:rPr lang="en-US" altLang="ja-JP" sz="1600" i="1">
                        <a:solidFill>
                          <a:prstClr val="white"/>
                        </a:solidFill>
                        <a:latin typeface="Cambria Math"/>
                        <a:ea typeface="Cambria Math"/>
                      </a:rPr>
                      <m:t>×</m:t>
                    </m:r>
                    <m:func>
                      <m:funcPr>
                        <m:ctrlPr>
                          <a:rPr lang="en-US" altLang="ja-JP" sz="1600" i="1">
                            <a:solidFill>
                              <a:prstClr val="white"/>
                            </a:solidFill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altLang="ja-JP" sz="1600">
                            <a:solidFill>
                              <a:prstClr val="white"/>
                            </a:solidFill>
                            <a:latin typeface="Cambria Math"/>
                            <a:ea typeface="Cambria Math"/>
                          </a:rPr>
                          <m:t>cos</m:t>
                        </m:r>
                      </m:fName>
                      <m:e>
                        <m:r>
                          <a:rPr lang="en-US" altLang="ja-JP" sz="1600" i="1">
                            <a:solidFill>
                              <a:prstClr val="white"/>
                            </a:solidFill>
                            <a:latin typeface="Cambria Math"/>
                            <a:ea typeface="Cambria Math"/>
                          </a:rPr>
                          <m:t>(</m:t>
                        </m:r>
                        <m:sSub>
                          <m:sSubPr>
                            <m:ctrlPr>
                              <a:rPr lang="en-US" altLang="ja-JP" sz="1600" i="1">
                                <a:solidFill>
                                  <a:prstClr val="white"/>
                                </a:solidFill>
                                <a:latin typeface="Cambria Math" panose="02040503050406030204" pitchFamily="18" charset="0"/>
                                <a:ea typeface="Cambria Math"/>
                              </a:rPr>
                            </m:ctrlPr>
                          </m:sSubPr>
                          <m:e>
                            <m:r>
                              <a:rPr lang="ja-JP" altLang="en-US" sz="1600" i="1">
                                <a:solidFill>
                                  <a:prstClr val="white"/>
                                </a:solidFill>
                                <a:latin typeface="Cambria Math"/>
                                <a:ea typeface="Cambria Math"/>
                              </a:rPr>
                              <m:t>𝜃</m:t>
                            </m:r>
                          </m:e>
                          <m:sub>
                            <m:r>
                              <a:rPr lang="en-US" altLang="ja-JP" sz="1600" i="1">
                                <a:solidFill>
                                  <a:prstClr val="white"/>
                                </a:solidFill>
                                <a:latin typeface="Cambria Math"/>
                                <a:ea typeface="Cambria Math"/>
                              </a:rPr>
                              <m:t>1</m:t>
                            </m:r>
                          </m:sub>
                        </m:sSub>
                        <m:r>
                          <a:rPr lang="en-US" altLang="ja-JP" sz="1600" i="1">
                            <a:solidFill>
                              <a:prstClr val="white"/>
                            </a:solidFill>
                            <a:latin typeface="Cambria Math"/>
                            <a:ea typeface="Cambria Math"/>
                          </a:rPr>
                          <m:t>)</m:t>
                        </m:r>
                      </m:e>
                    </m:func>
                  </m:oMath>
                </a14:m>
                <a:endParaRPr lang="en-US" altLang="ja-JP" sz="1600" baseline="-25000" dirty="0">
                  <a:solidFill>
                    <a:prstClr val="white"/>
                  </a:solidFill>
                  <a:latin typeface="Calibri"/>
                  <a:ea typeface="ＭＳ Ｐゴシック" panose="020B0600070205080204" pitchFamily="50" charset="-128"/>
                </a:endParaRPr>
              </a:p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US" altLang="ja-JP" sz="1600" i="1">
                            <a:solidFill>
                              <a:prstClr val="white"/>
                            </a:solidFill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en-US" altLang="ja-JP" sz="1600" i="1">
                            <a:solidFill>
                              <a:prstClr val="white"/>
                            </a:solidFill>
                            <a:latin typeface="Cambria Math"/>
                            <a:ea typeface="Cambria Math"/>
                          </a:rPr>
                          <m:t>𝑑𝑌</m:t>
                        </m:r>
                      </m:e>
                      <m:sub>
                        <m:r>
                          <a:rPr lang="en-US" altLang="ja-JP" sz="1600" i="1">
                            <a:solidFill>
                              <a:prstClr val="white"/>
                            </a:solidFill>
                            <a:latin typeface="Cambria Math"/>
                            <a:ea typeface="Cambria Math"/>
                          </a:rPr>
                          <m:t>0</m:t>
                        </m:r>
                      </m:sub>
                    </m:sSub>
                    <m:r>
                      <a:rPr lang="en-US" altLang="ja-JP" sz="1600" i="1">
                        <a:solidFill>
                          <a:prstClr val="white"/>
                        </a:solidFill>
                        <a:latin typeface="Cambria Math"/>
                        <a:ea typeface="Cambria Math"/>
                      </a:rPr>
                      <m:t>=</m:t>
                    </m:r>
                    <m:r>
                      <a:rPr lang="en-US" altLang="ja-JP" sz="1600" i="1">
                        <a:solidFill>
                          <a:prstClr val="white"/>
                        </a:solidFill>
                        <a:latin typeface="Cambria Math"/>
                        <a:ea typeface="Cambria Math"/>
                      </a:rPr>
                      <m:t>𝑒</m:t>
                    </m:r>
                    <m:r>
                      <a:rPr lang="en-US" altLang="ja-JP" sz="1600" i="1">
                        <a:solidFill>
                          <a:prstClr val="white"/>
                        </a:solidFill>
                        <a:latin typeface="Cambria Math"/>
                        <a:ea typeface="Cambria Math"/>
                      </a:rPr>
                      <m:t>.</m:t>
                    </m:r>
                    <m:r>
                      <a:rPr lang="en-US" altLang="ja-JP" sz="1600" i="1">
                        <a:solidFill>
                          <a:prstClr val="white"/>
                        </a:solidFill>
                        <a:latin typeface="Cambria Math"/>
                        <a:ea typeface="Cambria Math"/>
                      </a:rPr>
                      <m:t>𝑔𝑒𝑡𝐷𝑖𝑠𝑡𝑎𝑛𝑐𝑒</m:t>
                    </m:r>
                  </m:oMath>
                </a14:m>
                <a:r>
                  <a:rPr lang="en-US" altLang="ja-JP" sz="1600" dirty="0">
                    <a:solidFill>
                      <a:prstClr val="white"/>
                    </a:solidFill>
                    <a:latin typeface="Calibri"/>
                    <a:ea typeface="Cambria Math"/>
                  </a:rPr>
                  <a:t>()</a:t>
                </a:r>
                <a14:m>
                  <m:oMath xmlns:m="http://schemas.openxmlformats.org/officeDocument/2006/math">
                    <m:r>
                      <a:rPr lang="en-US" altLang="ja-JP" sz="1600" i="1">
                        <a:solidFill>
                          <a:prstClr val="white"/>
                        </a:solidFill>
                        <a:latin typeface="Cambria Math"/>
                        <a:ea typeface="Cambria Math"/>
                      </a:rPr>
                      <m:t>×</m:t>
                    </m:r>
                    <m:func>
                      <m:funcPr>
                        <m:ctrlPr>
                          <a:rPr lang="en-US" altLang="ja-JP" sz="1600" i="1">
                            <a:solidFill>
                              <a:prstClr val="white"/>
                            </a:solidFill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altLang="ja-JP" sz="1600">
                            <a:solidFill>
                              <a:prstClr val="white"/>
                            </a:solidFill>
                            <a:latin typeface="Cambria Math"/>
                            <a:ea typeface="Cambria Math"/>
                          </a:rPr>
                          <m:t>sin</m:t>
                        </m:r>
                      </m:fName>
                      <m:e>
                        <m:r>
                          <a:rPr lang="en-US" altLang="ja-JP" sz="1600" i="1">
                            <a:solidFill>
                              <a:prstClr val="white"/>
                            </a:solidFill>
                            <a:latin typeface="Cambria Math"/>
                            <a:ea typeface="Cambria Math"/>
                          </a:rPr>
                          <m:t>(</m:t>
                        </m:r>
                        <m:sSub>
                          <m:sSubPr>
                            <m:ctrlPr>
                              <a:rPr lang="en-US" altLang="ja-JP" sz="1600" i="1">
                                <a:solidFill>
                                  <a:prstClr val="white"/>
                                </a:solidFill>
                                <a:latin typeface="Cambria Math" panose="02040503050406030204" pitchFamily="18" charset="0"/>
                                <a:ea typeface="Cambria Math"/>
                              </a:rPr>
                            </m:ctrlPr>
                          </m:sSubPr>
                          <m:e>
                            <m:r>
                              <a:rPr lang="ja-JP" altLang="en-US" sz="1600" i="1">
                                <a:solidFill>
                                  <a:prstClr val="white"/>
                                </a:solidFill>
                                <a:latin typeface="Cambria Math"/>
                                <a:ea typeface="Cambria Math"/>
                              </a:rPr>
                              <m:t>𝜃</m:t>
                            </m:r>
                          </m:e>
                          <m:sub>
                            <m:r>
                              <a:rPr lang="en-US" altLang="ja-JP" sz="1600" i="1">
                                <a:solidFill>
                                  <a:prstClr val="white"/>
                                </a:solidFill>
                                <a:latin typeface="Cambria Math"/>
                                <a:ea typeface="Cambria Math"/>
                              </a:rPr>
                              <m:t>1</m:t>
                            </m:r>
                          </m:sub>
                        </m:sSub>
                        <m:r>
                          <a:rPr lang="en-US" altLang="ja-JP" sz="1600" i="1">
                            <a:solidFill>
                              <a:prstClr val="white"/>
                            </a:solidFill>
                            <a:latin typeface="Cambria Math"/>
                            <a:ea typeface="Cambria Math"/>
                          </a:rPr>
                          <m:t>)</m:t>
                        </m:r>
                      </m:e>
                    </m:func>
                  </m:oMath>
                </a14:m>
                <a:endParaRPr lang="en-US" altLang="ja-JP" sz="1600" dirty="0">
                  <a:solidFill>
                    <a:prstClr val="white"/>
                  </a:solidFill>
                  <a:latin typeface="Calibri"/>
                  <a:ea typeface="ＭＳ Ｐゴシック" panose="020B0600070205080204" pitchFamily="50" charset="-128"/>
                </a:endParaRPr>
              </a:p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US" altLang="ja-JP" sz="1600" i="1">
                            <a:solidFill>
                              <a:prstClr val="white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ja-JP" altLang="en-US" sz="1600" i="1">
                            <a:solidFill>
                              <a:prstClr val="white"/>
                            </a:solidFill>
                            <a:latin typeface="Cambria Math"/>
                          </a:rPr>
                          <m:t>𝜃</m:t>
                        </m:r>
                      </m:e>
                      <m:sub>
                        <m:r>
                          <a:rPr lang="en-US" altLang="ja-JP" sz="1600" i="1">
                            <a:solidFill>
                              <a:prstClr val="white"/>
                            </a:solidFill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altLang="ja-JP" sz="1600" i="1">
                        <a:solidFill>
                          <a:prstClr val="white"/>
                        </a:solidFill>
                        <a:latin typeface="Cambria Math"/>
                      </a:rPr>
                      <m:t>=90−</m:t>
                    </m:r>
                    <m:r>
                      <a:rPr lang="en-US" altLang="ja-JP" sz="1600" i="1">
                        <a:solidFill>
                          <a:prstClr val="white"/>
                        </a:solidFill>
                        <a:latin typeface="Cambria Math"/>
                      </a:rPr>
                      <m:t>𝑒</m:t>
                    </m:r>
                    <m:r>
                      <a:rPr lang="en-US" altLang="ja-JP" sz="1600" i="1">
                        <a:solidFill>
                          <a:prstClr val="white"/>
                        </a:solidFill>
                        <a:latin typeface="Cambria Math"/>
                      </a:rPr>
                      <m:t>.</m:t>
                    </m:r>
                    <m:r>
                      <a:rPr lang="en-US" altLang="ja-JP" sz="1600" i="1">
                        <a:solidFill>
                          <a:prstClr val="white"/>
                        </a:solidFill>
                        <a:latin typeface="Cambria Math"/>
                      </a:rPr>
                      <m:t>𝑔𝑒𝑡𝐵𝑒𝑎𝑟𝑖𝑛𝑔</m:t>
                    </m:r>
                  </m:oMath>
                </a14:m>
                <a:r>
                  <a:rPr lang="en-US" altLang="ja-JP" sz="1600" dirty="0">
                    <a:solidFill>
                      <a:prstClr val="white"/>
                    </a:solidFill>
                    <a:latin typeface="Calibri"/>
                    <a:ea typeface="ＭＳ Ｐゴシック" panose="020B0600070205080204" pitchFamily="50" charset="-128"/>
                  </a:rPr>
                  <a:t>()-</a:t>
                </a:r>
                <a14:m>
                  <m:oMath xmlns:m="http://schemas.openxmlformats.org/officeDocument/2006/math">
                    <m:r>
                      <a:rPr lang="en-US" altLang="ja-JP" sz="1600" i="1" dirty="0">
                        <a:solidFill>
                          <a:prstClr val="white"/>
                        </a:solidFill>
                        <a:latin typeface="Cambria Math"/>
                      </a:rPr>
                      <m:t>𝑔𝑒𝑡𝐻𝑒𝑎𝑑𝑖𝑛𝑔</m:t>
                    </m:r>
                  </m:oMath>
                </a14:m>
                <a:r>
                  <a:rPr lang="en-US" altLang="ja-JP" sz="1600" dirty="0">
                    <a:solidFill>
                      <a:prstClr val="white"/>
                    </a:solidFill>
                    <a:latin typeface="Calibri"/>
                    <a:ea typeface="ＭＳ Ｐゴシック" panose="020B0600070205080204" pitchFamily="50" charset="-128"/>
                  </a:rPr>
                  <a:t>()</a:t>
                </a:r>
              </a:p>
            </p:txBody>
          </p:sp>
        </mc:Choice>
        <mc:Fallback xmlns="">
          <p:sp>
            <p:nvSpPr>
              <p:cNvPr id="60" name="テキスト ボックス 5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10765" y="4953775"/>
                <a:ext cx="3798476" cy="1825884"/>
              </a:xfrm>
              <a:prstGeom prst="rect">
                <a:avLst/>
              </a:prstGeom>
              <a:blipFill>
                <a:blip r:embed="rId2"/>
                <a:stretch>
                  <a:fillRect r="-161" b="-3679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0" name="テキスト ボックス 119"/>
              <p:cNvSpPr txBox="1"/>
              <p:nvPr/>
            </p:nvSpPr>
            <p:spPr>
              <a:xfrm>
                <a:off x="6777087" y="6054080"/>
                <a:ext cx="3438314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ja-JP" sz="1400" i="1">
                        <a:solidFill>
                          <a:prstClr val="white"/>
                        </a:solidFill>
                        <a:latin typeface="Cambria Math"/>
                      </a:rPr>
                      <m:t>𝑆𝑐𝑎𝑛𝑛𝑒𝑑𝑅𝑜𝑏𝑜𝑡𝐸𝑣𝑒𝑛𝑡</m:t>
                    </m:r>
                  </m:oMath>
                </a14:m>
                <a:r>
                  <a:rPr lang="ja-JP" altLang="en-US" sz="1400" dirty="0">
                    <a:solidFill>
                      <a:prstClr val="white"/>
                    </a:solidFill>
                    <a:latin typeface="Calibri"/>
                    <a:ea typeface="ＭＳ Ｐゴシック" panose="020B0600070205080204" pitchFamily="50" charset="-128"/>
                  </a:rPr>
                  <a:t>の変数名を </a:t>
                </a:r>
                <a:r>
                  <a:rPr lang="en-US" altLang="ja-JP" sz="1400" dirty="0">
                    <a:solidFill>
                      <a:prstClr val="white"/>
                    </a:solidFill>
                    <a:latin typeface="Calibri"/>
                    <a:ea typeface="ＭＳ Ｐゴシック" panose="020B0600070205080204" pitchFamily="50" charset="-128"/>
                  </a:rPr>
                  <a:t>e </a:t>
                </a:r>
                <a:r>
                  <a:rPr lang="ja-JP" altLang="en-US" sz="1400" dirty="0">
                    <a:solidFill>
                      <a:prstClr val="white"/>
                    </a:solidFill>
                    <a:latin typeface="Calibri"/>
                    <a:ea typeface="ＭＳ Ｐゴシック" panose="020B0600070205080204" pitchFamily="50" charset="-128"/>
                  </a:rPr>
                  <a:t>とする。</a:t>
                </a:r>
              </a:p>
            </p:txBody>
          </p:sp>
        </mc:Choice>
        <mc:Fallback xmlns="">
          <p:sp>
            <p:nvSpPr>
              <p:cNvPr id="120" name="テキスト ボックス 11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77087" y="6054080"/>
                <a:ext cx="3438314" cy="307777"/>
              </a:xfrm>
              <a:prstGeom prst="rect">
                <a:avLst/>
              </a:prstGeom>
              <a:blipFill>
                <a:blip r:embed="rId3"/>
                <a:stretch>
                  <a:fillRect t="-7843" b="-21569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1" name="テキスト ボックス 120"/>
              <p:cNvSpPr txBox="1"/>
              <p:nvPr/>
            </p:nvSpPr>
            <p:spPr>
              <a:xfrm>
                <a:off x="6832469" y="4953775"/>
                <a:ext cx="2547492" cy="107721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ja-JP" sz="1600" i="1">
                              <a:solidFill>
                                <a:prstClr val="white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ja-JP" sz="1600" i="1">
                              <a:solidFill>
                                <a:prstClr val="white"/>
                              </a:solidFill>
                              <a:latin typeface="Cambria Math"/>
                            </a:rPr>
                            <m:t>𝑑𝑋</m:t>
                          </m:r>
                        </m:e>
                        <m:sub>
                          <m:r>
                            <a:rPr lang="en-US" altLang="ja-JP" sz="1600" i="1">
                              <a:solidFill>
                                <a:prstClr val="white"/>
                              </a:solidFill>
                              <a:latin typeface="Cambria Math"/>
                            </a:rPr>
                            <m:t>𝑒𝑚</m:t>
                          </m:r>
                        </m:sub>
                      </m:sSub>
                      <m:r>
                        <a:rPr lang="en-US" altLang="ja-JP" sz="1600" i="1">
                          <a:solidFill>
                            <a:prstClr val="white"/>
                          </a:solidFill>
                          <a:latin typeface="Cambria Math"/>
                        </a:rPr>
                        <m:t>=</m:t>
                      </m:r>
                      <m:sSub>
                        <m:sSubPr>
                          <m:ctrlPr>
                            <a:rPr lang="en-US" altLang="ja-JP" sz="1600" i="1">
                              <a:solidFill>
                                <a:prstClr val="white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ja-JP" sz="1600" i="1">
                              <a:solidFill>
                                <a:prstClr val="white"/>
                              </a:solidFill>
                              <a:latin typeface="Cambria Math"/>
                            </a:rPr>
                            <m:t>𝑉</m:t>
                          </m:r>
                        </m:e>
                        <m:sub>
                          <m:r>
                            <a:rPr lang="en-US" altLang="ja-JP" sz="1600" i="1">
                              <a:solidFill>
                                <a:prstClr val="white"/>
                              </a:solidFill>
                              <a:latin typeface="Cambria Math"/>
                            </a:rPr>
                            <m:t>𝑒𝑚</m:t>
                          </m:r>
                        </m:sub>
                      </m:sSub>
                      <m:r>
                        <a:rPr lang="en-US" altLang="ja-JP" sz="1600" i="1">
                          <a:solidFill>
                            <a:prstClr val="white"/>
                          </a:solidFill>
                          <a:latin typeface="Cambria Math"/>
                          <a:ea typeface="Cambria Math"/>
                        </a:rPr>
                        <m:t>×</m:t>
                      </m:r>
                      <m:r>
                        <a:rPr lang="en-US" altLang="ja-JP" sz="1600" i="1">
                          <a:solidFill>
                            <a:prstClr val="white"/>
                          </a:solidFill>
                          <a:latin typeface="Cambria Math"/>
                          <a:ea typeface="Cambria Math"/>
                        </a:rPr>
                        <m:t>𝑡</m:t>
                      </m:r>
                      <m:r>
                        <a:rPr lang="en-US" altLang="ja-JP" sz="1600" i="1">
                          <a:solidFill>
                            <a:prstClr val="white"/>
                          </a:solidFill>
                          <a:latin typeface="Cambria Math"/>
                          <a:ea typeface="Cambria Math"/>
                        </a:rPr>
                        <m:t>×</m:t>
                      </m:r>
                      <m:r>
                        <m:rPr>
                          <m:sty m:val="p"/>
                        </m:rPr>
                        <a:rPr lang="en-US" altLang="ja-JP" sz="1600">
                          <a:solidFill>
                            <a:prstClr val="white"/>
                          </a:solidFill>
                          <a:latin typeface="Cambria Math"/>
                          <a:ea typeface="Cambria Math"/>
                        </a:rPr>
                        <m:t>cos</m:t>
                      </m:r>
                      <m:r>
                        <a:rPr lang="en-US" altLang="ja-JP" sz="1600" i="1">
                          <a:solidFill>
                            <a:prstClr val="white"/>
                          </a:solidFill>
                          <a:latin typeface="Cambria Math"/>
                          <a:ea typeface="Cambria Math"/>
                        </a:rPr>
                        <m:t>⁡(</m:t>
                      </m:r>
                      <m:sSub>
                        <m:sSubPr>
                          <m:ctrlPr>
                            <a:rPr lang="en-US" altLang="ja-JP" sz="1600" i="1">
                              <a:solidFill>
                                <a:prstClr val="white"/>
                              </a:solidFill>
                              <a:latin typeface="Cambria Math" panose="02040503050406030204" pitchFamily="18" charset="0"/>
                              <a:ea typeface="Cambria Math"/>
                            </a:rPr>
                          </m:ctrlPr>
                        </m:sSubPr>
                        <m:e>
                          <m:r>
                            <a:rPr lang="ja-JP" altLang="en-US" sz="1600" i="1">
                              <a:solidFill>
                                <a:prstClr val="white"/>
                              </a:solidFill>
                              <a:latin typeface="Cambria Math"/>
                              <a:ea typeface="Cambria Math"/>
                            </a:rPr>
                            <m:t>𝜃</m:t>
                          </m:r>
                        </m:e>
                        <m:sub>
                          <m:r>
                            <a:rPr lang="en-US" altLang="ja-JP" sz="1600" i="1">
                              <a:solidFill>
                                <a:prstClr val="white"/>
                              </a:solidFill>
                              <a:latin typeface="Cambria Math"/>
                              <a:ea typeface="Cambria Math"/>
                            </a:rPr>
                            <m:t>2</m:t>
                          </m:r>
                        </m:sub>
                      </m:sSub>
                      <m:r>
                        <a:rPr lang="en-US" altLang="ja-JP" sz="1600" i="1">
                          <a:solidFill>
                            <a:prstClr val="white"/>
                          </a:solidFill>
                          <a:latin typeface="Cambria Math"/>
                          <a:ea typeface="Cambria Math"/>
                        </a:rPr>
                        <m:t>)</m:t>
                      </m:r>
                    </m:oMath>
                  </m:oMathPara>
                </a14:m>
                <a:endParaRPr lang="en-US" altLang="ja-JP" sz="1600" dirty="0">
                  <a:solidFill>
                    <a:prstClr val="white"/>
                  </a:solidFill>
                  <a:latin typeface="Calibri"/>
                  <a:ea typeface="ＭＳ Ｐゴシック" panose="020B0600070205080204" pitchFamily="50" charset="-128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ja-JP" sz="1600" i="1">
                              <a:solidFill>
                                <a:prstClr val="white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ja-JP" sz="1600" i="1">
                              <a:solidFill>
                                <a:prstClr val="white"/>
                              </a:solidFill>
                              <a:latin typeface="Cambria Math"/>
                            </a:rPr>
                            <m:t>𝑑𝑌</m:t>
                          </m:r>
                        </m:e>
                        <m:sub>
                          <m:r>
                            <a:rPr lang="en-US" altLang="ja-JP" sz="1600" i="1">
                              <a:solidFill>
                                <a:prstClr val="white"/>
                              </a:solidFill>
                              <a:latin typeface="Cambria Math"/>
                            </a:rPr>
                            <m:t>𝑒𝑚</m:t>
                          </m:r>
                        </m:sub>
                      </m:sSub>
                      <m:r>
                        <a:rPr lang="en-US" altLang="ja-JP" sz="1600" i="1">
                          <a:solidFill>
                            <a:prstClr val="white"/>
                          </a:solidFill>
                          <a:latin typeface="Cambria Math"/>
                        </a:rPr>
                        <m:t>=</m:t>
                      </m:r>
                      <m:sSub>
                        <m:sSubPr>
                          <m:ctrlPr>
                            <a:rPr lang="en-US" altLang="ja-JP" sz="1600" i="1">
                              <a:solidFill>
                                <a:prstClr val="white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ja-JP" sz="1600" i="1">
                              <a:solidFill>
                                <a:prstClr val="white"/>
                              </a:solidFill>
                              <a:latin typeface="Cambria Math"/>
                            </a:rPr>
                            <m:t>𝑉</m:t>
                          </m:r>
                        </m:e>
                        <m:sub>
                          <m:r>
                            <a:rPr lang="en-US" altLang="ja-JP" sz="1600" i="1">
                              <a:solidFill>
                                <a:prstClr val="white"/>
                              </a:solidFill>
                              <a:latin typeface="Cambria Math"/>
                            </a:rPr>
                            <m:t>𝑒𝑚</m:t>
                          </m:r>
                        </m:sub>
                      </m:sSub>
                      <m:r>
                        <a:rPr lang="en-US" altLang="ja-JP" sz="1600" i="1">
                          <a:solidFill>
                            <a:prstClr val="white"/>
                          </a:solidFill>
                          <a:latin typeface="Cambria Math"/>
                          <a:ea typeface="Cambria Math"/>
                        </a:rPr>
                        <m:t>×</m:t>
                      </m:r>
                      <m:r>
                        <a:rPr lang="en-US" altLang="ja-JP" sz="1600" i="1">
                          <a:solidFill>
                            <a:prstClr val="white"/>
                          </a:solidFill>
                          <a:latin typeface="Cambria Math"/>
                          <a:ea typeface="Cambria Math"/>
                        </a:rPr>
                        <m:t>𝑡</m:t>
                      </m:r>
                      <m:r>
                        <a:rPr lang="en-US" altLang="ja-JP" sz="1600" i="1">
                          <a:solidFill>
                            <a:prstClr val="white"/>
                          </a:solidFill>
                          <a:latin typeface="Cambria Math"/>
                          <a:ea typeface="Cambria Math"/>
                        </a:rPr>
                        <m:t>×</m:t>
                      </m:r>
                      <m:r>
                        <m:rPr>
                          <m:sty m:val="p"/>
                        </m:rPr>
                        <a:rPr lang="en-US" altLang="ja-JP" sz="1600">
                          <a:solidFill>
                            <a:prstClr val="white"/>
                          </a:solidFill>
                          <a:latin typeface="Cambria Math"/>
                          <a:ea typeface="Cambria Math"/>
                        </a:rPr>
                        <m:t>sin</m:t>
                      </m:r>
                      <m:r>
                        <a:rPr lang="en-US" altLang="ja-JP" sz="1600" i="1">
                          <a:solidFill>
                            <a:prstClr val="white"/>
                          </a:solidFill>
                          <a:latin typeface="Cambria Math"/>
                          <a:ea typeface="Cambria Math"/>
                        </a:rPr>
                        <m:t>(</m:t>
                      </m:r>
                      <m:sSub>
                        <m:sSubPr>
                          <m:ctrlPr>
                            <a:rPr lang="en-US" altLang="ja-JP" sz="1600" i="1">
                              <a:solidFill>
                                <a:prstClr val="white"/>
                              </a:solidFill>
                              <a:latin typeface="Cambria Math" panose="02040503050406030204" pitchFamily="18" charset="0"/>
                              <a:ea typeface="Cambria Math"/>
                            </a:rPr>
                          </m:ctrlPr>
                        </m:sSubPr>
                        <m:e>
                          <m:r>
                            <a:rPr lang="ja-JP" altLang="en-US" sz="1600" i="1">
                              <a:solidFill>
                                <a:prstClr val="white"/>
                              </a:solidFill>
                              <a:latin typeface="Cambria Math"/>
                              <a:ea typeface="Cambria Math"/>
                            </a:rPr>
                            <m:t>𝜃</m:t>
                          </m:r>
                        </m:e>
                        <m:sub>
                          <m:r>
                            <a:rPr lang="en-US" altLang="ja-JP" sz="1600" i="1">
                              <a:solidFill>
                                <a:prstClr val="white"/>
                              </a:solidFill>
                              <a:latin typeface="Cambria Math"/>
                              <a:ea typeface="Cambria Math"/>
                            </a:rPr>
                            <m:t>2</m:t>
                          </m:r>
                        </m:sub>
                      </m:sSub>
                      <m:r>
                        <a:rPr lang="en-US" altLang="ja-JP" sz="1600" i="1">
                          <a:solidFill>
                            <a:prstClr val="white"/>
                          </a:solidFill>
                          <a:latin typeface="Cambria Math"/>
                          <a:ea typeface="Cambria Math"/>
                        </a:rPr>
                        <m:t>)</m:t>
                      </m:r>
                    </m:oMath>
                  </m:oMathPara>
                </a14:m>
                <a:endParaRPr lang="en-US" altLang="ja-JP" sz="1600" dirty="0">
                  <a:solidFill>
                    <a:prstClr val="white"/>
                  </a:solidFill>
                  <a:latin typeface="Calibri"/>
                  <a:ea typeface="ＭＳ Ｐゴシック" panose="020B0600070205080204" pitchFamily="50" charset="-128"/>
                </a:endParaRPr>
              </a:p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US" altLang="ja-JP" sz="1600" i="1">
                            <a:solidFill>
                              <a:prstClr val="white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1600" i="1">
                            <a:solidFill>
                              <a:prstClr val="white"/>
                            </a:solidFill>
                            <a:latin typeface="Cambria Math"/>
                          </a:rPr>
                          <m:t>𝑉</m:t>
                        </m:r>
                      </m:e>
                      <m:sub>
                        <m:r>
                          <a:rPr lang="en-US" altLang="ja-JP" sz="1600" i="1">
                            <a:solidFill>
                              <a:prstClr val="white"/>
                            </a:solidFill>
                            <a:latin typeface="Cambria Math"/>
                          </a:rPr>
                          <m:t>𝑒𝑚</m:t>
                        </m:r>
                      </m:sub>
                    </m:sSub>
                    <m:r>
                      <a:rPr lang="en-US" altLang="ja-JP" sz="1600" i="1">
                        <a:solidFill>
                          <a:prstClr val="white"/>
                        </a:solidFill>
                        <a:latin typeface="Cambria Math"/>
                      </a:rPr>
                      <m:t>=</m:t>
                    </m:r>
                    <m:r>
                      <a:rPr lang="en-US" altLang="ja-JP" sz="1600" i="1">
                        <a:solidFill>
                          <a:prstClr val="white"/>
                        </a:solidFill>
                        <a:latin typeface="Cambria Math"/>
                      </a:rPr>
                      <m:t>𝑒</m:t>
                    </m:r>
                    <m:r>
                      <a:rPr lang="en-US" altLang="ja-JP" sz="1600" i="1">
                        <a:solidFill>
                          <a:prstClr val="white"/>
                        </a:solidFill>
                        <a:latin typeface="Cambria Math"/>
                      </a:rPr>
                      <m:t>.</m:t>
                    </m:r>
                    <m:r>
                      <a:rPr lang="en-US" altLang="ja-JP" sz="1600" i="1">
                        <a:solidFill>
                          <a:prstClr val="white"/>
                        </a:solidFill>
                        <a:latin typeface="Cambria Math"/>
                      </a:rPr>
                      <m:t>𝑔𝑒𝑡𝑉𝑒𝑙𝑜𝑐𝑖𝑡𝑦</m:t>
                    </m:r>
                  </m:oMath>
                </a14:m>
                <a:r>
                  <a:rPr lang="en-US" altLang="ja-JP" sz="1600" dirty="0">
                    <a:solidFill>
                      <a:prstClr val="white"/>
                    </a:solidFill>
                    <a:latin typeface="Calibri"/>
                    <a:ea typeface="ＭＳ Ｐゴシック" panose="020B0600070205080204" pitchFamily="50" charset="-128"/>
                  </a:rPr>
                  <a:t>()</a:t>
                </a:r>
              </a:p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US" altLang="ja-JP" sz="1600" i="1">
                            <a:solidFill>
                              <a:prstClr val="white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ja-JP" altLang="en-US" sz="1600" i="1">
                            <a:solidFill>
                              <a:prstClr val="white"/>
                            </a:solidFill>
                            <a:latin typeface="Cambria Math"/>
                          </a:rPr>
                          <m:t>𝜃</m:t>
                        </m:r>
                      </m:e>
                      <m:sub>
                        <m:r>
                          <a:rPr lang="en-US" altLang="ja-JP" sz="1600" i="1">
                            <a:solidFill>
                              <a:prstClr val="white"/>
                            </a:solidFill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altLang="ja-JP" sz="1600" i="1">
                        <a:solidFill>
                          <a:prstClr val="white"/>
                        </a:solidFill>
                        <a:latin typeface="Cambria Math"/>
                      </a:rPr>
                      <m:t>=90−</m:t>
                    </m:r>
                    <m:r>
                      <a:rPr lang="en-US" altLang="ja-JP" sz="1600" i="1">
                        <a:solidFill>
                          <a:prstClr val="white"/>
                        </a:solidFill>
                        <a:latin typeface="Cambria Math"/>
                      </a:rPr>
                      <m:t>𝑒</m:t>
                    </m:r>
                    <m:r>
                      <a:rPr lang="en-US" altLang="ja-JP" sz="1600" i="1">
                        <a:solidFill>
                          <a:prstClr val="white"/>
                        </a:solidFill>
                        <a:latin typeface="Cambria Math"/>
                      </a:rPr>
                      <m:t>.</m:t>
                    </m:r>
                    <m:r>
                      <a:rPr lang="en-US" altLang="ja-JP" sz="1600" i="1">
                        <a:solidFill>
                          <a:prstClr val="white"/>
                        </a:solidFill>
                        <a:latin typeface="Cambria Math"/>
                      </a:rPr>
                      <m:t>𝑔𝑒𝑡𝐻𝑒𝑎𝑑𝑖𝑛𝑔</m:t>
                    </m:r>
                  </m:oMath>
                </a14:m>
                <a:r>
                  <a:rPr lang="en-US" altLang="ja-JP" sz="1600" dirty="0">
                    <a:solidFill>
                      <a:prstClr val="white"/>
                    </a:solidFill>
                    <a:latin typeface="Calibri"/>
                    <a:ea typeface="ＭＳ Ｐゴシック" panose="020B0600070205080204" pitchFamily="50" charset="-128"/>
                  </a:rPr>
                  <a:t>()</a:t>
                </a:r>
              </a:p>
            </p:txBody>
          </p:sp>
        </mc:Choice>
        <mc:Fallback xmlns="">
          <p:sp>
            <p:nvSpPr>
              <p:cNvPr id="121" name="テキスト ボックス 12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32469" y="4953775"/>
                <a:ext cx="2547492" cy="1077218"/>
              </a:xfrm>
              <a:prstGeom prst="rect">
                <a:avLst/>
              </a:prstGeom>
              <a:blipFill>
                <a:blip r:embed="rId4"/>
                <a:stretch>
                  <a:fillRect r="-478" b="-6818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テキスト ボックス 2"/>
              <p:cNvSpPr txBox="1"/>
              <p:nvPr/>
            </p:nvSpPr>
            <p:spPr>
              <a:xfrm>
                <a:off x="3233206" y="4479719"/>
                <a:ext cx="79784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ja-JP" i="1">
                        <a:solidFill>
                          <a:srgbClr val="FFFF00"/>
                        </a:solidFill>
                        <a:latin typeface="Cambria Math"/>
                      </a:rPr>
                      <m:t>𝑔𝑒𝑡</m:t>
                    </m:r>
                  </m:oMath>
                </a14:m>
                <a:r>
                  <a:rPr lang="en-US" altLang="ja-JP" dirty="0">
                    <a:solidFill>
                      <a:srgbClr val="FFFF00"/>
                    </a:solidFill>
                    <a:latin typeface="Calibri"/>
                    <a:ea typeface="ＭＳ Ｐゴシック" panose="020B0600070205080204" pitchFamily="50" charset="-128"/>
                  </a:rPr>
                  <a:t>X()</a:t>
                </a:r>
                <a:endParaRPr lang="ja-JP" altLang="en-US" dirty="0">
                  <a:solidFill>
                    <a:srgbClr val="FFFF00"/>
                  </a:solidFill>
                  <a:latin typeface="Calibri"/>
                  <a:ea typeface="ＭＳ Ｐゴシック" panose="020B0600070205080204" pitchFamily="50" charset="-128"/>
                </a:endParaRPr>
              </a:p>
            </p:txBody>
          </p:sp>
        </mc:Choice>
        <mc:Fallback xmlns="">
          <p:sp>
            <p:nvSpPr>
              <p:cNvPr id="3" name="テキスト ボックス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33206" y="4479719"/>
                <a:ext cx="797847" cy="369332"/>
              </a:xfrm>
              <a:prstGeom prst="rect">
                <a:avLst/>
              </a:prstGeom>
              <a:blipFill>
                <a:blip r:embed="rId5"/>
                <a:stretch>
                  <a:fillRect l="-763" t="-10000" r="-6870" b="-26667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7" name="テキスト ボックス 56"/>
              <p:cNvSpPr txBox="1"/>
              <p:nvPr/>
            </p:nvSpPr>
            <p:spPr>
              <a:xfrm>
                <a:off x="2438841" y="4262787"/>
                <a:ext cx="80342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ja-JP" i="1">
                        <a:solidFill>
                          <a:srgbClr val="FFFF00"/>
                        </a:solidFill>
                        <a:latin typeface="Cambria Math"/>
                      </a:rPr>
                      <m:t>𝑔𝑒𝑡</m:t>
                    </m:r>
                    <m:r>
                      <m:rPr>
                        <m:sty m:val="p"/>
                      </m:rPr>
                      <a:rPr lang="en-US" altLang="ja-JP">
                        <a:solidFill>
                          <a:srgbClr val="FFFF00"/>
                        </a:solidFill>
                        <a:latin typeface="Cambria Math"/>
                      </a:rPr>
                      <m:t>Y</m:t>
                    </m:r>
                  </m:oMath>
                </a14:m>
                <a:r>
                  <a:rPr lang="en-US" altLang="ja-JP" dirty="0">
                    <a:solidFill>
                      <a:srgbClr val="FFFF00"/>
                    </a:solidFill>
                    <a:latin typeface="Calibri"/>
                    <a:ea typeface="ＭＳ Ｐゴシック" panose="020B0600070205080204" pitchFamily="50" charset="-128"/>
                  </a:rPr>
                  <a:t>()</a:t>
                </a:r>
                <a:endParaRPr lang="ja-JP" altLang="en-US" dirty="0">
                  <a:solidFill>
                    <a:srgbClr val="FFFF00"/>
                  </a:solidFill>
                  <a:latin typeface="Calibri"/>
                  <a:ea typeface="ＭＳ Ｐゴシック" panose="020B0600070205080204" pitchFamily="50" charset="-128"/>
                </a:endParaRPr>
              </a:p>
            </p:txBody>
          </p:sp>
        </mc:Choice>
        <mc:Fallback xmlns="">
          <p:sp>
            <p:nvSpPr>
              <p:cNvPr id="57" name="テキスト ボックス 5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38841" y="4262787"/>
                <a:ext cx="803425" cy="369332"/>
              </a:xfrm>
              <a:prstGeom prst="rect">
                <a:avLst/>
              </a:prstGeom>
              <a:blipFill>
                <a:blip r:embed="rId6"/>
                <a:stretch>
                  <a:fillRect l="-758" t="-8197" r="-6818" b="-24590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テキスト ボックス 4"/>
              <p:cNvSpPr txBox="1"/>
              <p:nvPr/>
            </p:nvSpPr>
            <p:spPr>
              <a:xfrm>
                <a:off x="3053539" y="2704018"/>
                <a:ext cx="156722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ja-JP" i="1">
                        <a:solidFill>
                          <a:srgbClr val="0070C0"/>
                        </a:solidFill>
                        <a:latin typeface="Cambria Math"/>
                      </a:rPr>
                      <m:t>𝑔𝑒𝑡𝐻𝑒𝑎𝑑𝑖𝑛𝑔</m:t>
                    </m:r>
                  </m:oMath>
                </a14:m>
                <a:r>
                  <a:rPr lang="en-US" altLang="ja-JP" dirty="0">
                    <a:solidFill>
                      <a:srgbClr val="0070C0"/>
                    </a:solidFill>
                    <a:latin typeface="Calibri"/>
                    <a:ea typeface="ＭＳ Ｐゴシック" panose="020B0600070205080204" pitchFamily="50" charset="-128"/>
                  </a:rPr>
                  <a:t>()</a:t>
                </a:r>
                <a:endParaRPr lang="ja-JP" altLang="en-US" dirty="0">
                  <a:solidFill>
                    <a:srgbClr val="0070C0"/>
                  </a:solidFill>
                  <a:latin typeface="Calibri"/>
                  <a:ea typeface="ＭＳ Ｐゴシック" panose="020B0600070205080204" pitchFamily="50" charset="-128"/>
                </a:endParaRPr>
              </a:p>
            </p:txBody>
          </p:sp>
        </mc:Choice>
        <mc:Fallback xmlns="">
          <p:sp>
            <p:nvSpPr>
              <p:cNvPr id="5" name="テキスト ボックス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53539" y="2704018"/>
                <a:ext cx="1567224" cy="369332"/>
              </a:xfrm>
              <a:prstGeom prst="rect">
                <a:avLst/>
              </a:prstGeom>
              <a:blipFill>
                <a:blip r:embed="rId7"/>
                <a:stretch>
                  <a:fillRect l="-1167" t="-10000" r="-2724" b="-26667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" name="テキスト ボックス 61"/>
              <p:cNvSpPr txBox="1"/>
              <p:nvPr/>
            </p:nvSpPr>
            <p:spPr>
              <a:xfrm>
                <a:off x="3616582" y="1829531"/>
                <a:ext cx="179619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ja-JP" i="1">
                        <a:solidFill>
                          <a:srgbClr val="1F497D">
                            <a:lumMod val="20000"/>
                            <a:lumOff val="80000"/>
                          </a:srgbClr>
                        </a:solidFill>
                        <a:latin typeface="Cambria Math"/>
                      </a:rPr>
                      <m:t>𝑒</m:t>
                    </m:r>
                    <m:r>
                      <a:rPr lang="en-US" altLang="ja-JP" i="1">
                        <a:solidFill>
                          <a:srgbClr val="1F497D">
                            <a:lumMod val="20000"/>
                            <a:lumOff val="80000"/>
                          </a:srgbClr>
                        </a:solidFill>
                        <a:latin typeface="Cambria Math"/>
                      </a:rPr>
                      <m:t>.</m:t>
                    </m:r>
                    <m:r>
                      <a:rPr lang="en-US" altLang="ja-JP" i="1">
                        <a:solidFill>
                          <a:srgbClr val="1F497D">
                            <a:lumMod val="20000"/>
                            <a:lumOff val="80000"/>
                          </a:srgbClr>
                        </a:solidFill>
                        <a:latin typeface="Cambria Math"/>
                      </a:rPr>
                      <m:t>𝑔𝑒𝑡𝐷𝑖𝑠𝑡𝑎𝑛𝑐𝑒</m:t>
                    </m:r>
                  </m:oMath>
                </a14:m>
                <a:r>
                  <a:rPr lang="en-US" altLang="ja-JP" dirty="0">
                    <a:solidFill>
                      <a:srgbClr val="1F497D">
                        <a:lumMod val="20000"/>
                        <a:lumOff val="80000"/>
                      </a:srgbClr>
                    </a:solidFill>
                    <a:latin typeface="Calibri"/>
                    <a:ea typeface="ＭＳ Ｐゴシック" panose="020B0600070205080204" pitchFamily="50" charset="-128"/>
                  </a:rPr>
                  <a:t>()</a:t>
                </a:r>
                <a:endParaRPr lang="ja-JP" altLang="en-US" dirty="0">
                  <a:solidFill>
                    <a:srgbClr val="1F497D">
                      <a:lumMod val="20000"/>
                      <a:lumOff val="80000"/>
                    </a:srgbClr>
                  </a:solidFill>
                  <a:latin typeface="Calibri"/>
                  <a:ea typeface="ＭＳ Ｐゴシック" panose="020B0600070205080204" pitchFamily="50" charset="-128"/>
                </a:endParaRPr>
              </a:p>
            </p:txBody>
          </p:sp>
        </mc:Choice>
        <mc:Fallback xmlns="">
          <p:sp>
            <p:nvSpPr>
              <p:cNvPr id="62" name="テキスト ボックス 6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16582" y="1829531"/>
                <a:ext cx="1796197" cy="369332"/>
              </a:xfrm>
              <a:prstGeom prst="rect">
                <a:avLst/>
              </a:prstGeom>
              <a:blipFill>
                <a:blip r:embed="rId8"/>
                <a:stretch>
                  <a:fillRect t="-8197" r="-2373" b="-24590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3" name="テキスト ボックス 62"/>
              <p:cNvSpPr txBox="1"/>
              <p:nvPr/>
            </p:nvSpPr>
            <p:spPr>
              <a:xfrm>
                <a:off x="3351653" y="2242517"/>
                <a:ext cx="173259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ja-JP" i="1">
                        <a:solidFill>
                          <a:srgbClr val="0070C0"/>
                        </a:solidFill>
                        <a:latin typeface="Cambria Math"/>
                      </a:rPr>
                      <m:t>𝑒</m:t>
                    </m:r>
                    <m:r>
                      <a:rPr lang="en-US" altLang="ja-JP" i="1">
                        <a:solidFill>
                          <a:srgbClr val="0070C0"/>
                        </a:solidFill>
                        <a:latin typeface="Cambria Math"/>
                      </a:rPr>
                      <m:t>.</m:t>
                    </m:r>
                    <m:r>
                      <a:rPr lang="en-US" altLang="ja-JP" i="1">
                        <a:solidFill>
                          <a:srgbClr val="0070C0"/>
                        </a:solidFill>
                        <a:latin typeface="Cambria Math"/>
                      </a:rPr>
                      <m:t>𝑔𝑒𝑡𝐵𝑒𝑎𝑟𝑖𝑛𝑔</m:t>
                    </m:r>
                  </m:oMath>
                </a14:m>
                <a:r>
                  <a:rPr lang="en-US" altLang="ja-JP" dirty="0">
                    <a:solidFill>
                      <a:srgbClr val="0070C0"/>
                    </a:solidFill>
                    <a:latin typeface="Calibri"/>
                    <a:ea typeface="ＭＳ Ｐゴシック" panose="020B0600070205080204" pitchFamily="50" charset="-128"/>
                  </a:rPr>
                  <a:t>()</a:t>
                </a:r>
                <a:endParaRPr lang="ja-JP" altLang="en-US" dirty="0">
                  <a:solidFill>
                    <a:srgbClr val="0070C0"/>
                  </a:solidFill>
                  <a:latin typeface="Calibri"/>
                  <a:ea typeface="ＭＳ Ｐゴシック" panose="020B0600070205080204" pitchFamily="50" charset="-128"/>
                </a:endParaRPr>
              </a:p>
            </p:txBody>
          </p:sp>
        </mc:Choice>
        <mc:Fallback xmlns="">
          <p:sp>
            <p:nvSpPr>
              <p:cNvPr id="63" name="テキスト ボックス 6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51653" y="2242517"/>
                <a:ext cx="1732590" cy="369332"/>
              </a:xfrm>
              <a:prstGeom prst="rect">
                <a:avLst/>
              </a:prstGeom>
              <a:blipFill>
                <a:blip r:embed="rId9"/>
                <a:stretch>
                  <a:fillRect t="-10000" r="-2465" b="-26667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4" name="テキスト ボックス 63"/>
              <p:cNvSpPr txBox="1"/>
              <p:nvPr/>
            </p:nvSpPr>
            <p:spPr>
              <a:xfrm>
                <a:off x="6118477" y="980728"/>
                <a:ext cx="177266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ja-JP" i="1">
                        <a:solidFill>
                          <a:srgbClr val="0070C0"/>
                        </a:solidFill>
                        <a:latin typeface="Cambria Math"/>
                      </a:rPr>
                      <m:t>𝑒</m:t>
                    </m:r>
                    <m:r>
                      <a:rPr lang="en-US" altLang="ja-JP" i="1">
                        <a:solidFill>
                          <a:srgbClr val="0070C0"/>
                        </a:solidFill>
                        <a:latin typeface="Cambria Math"/>
                      </a:rPr>
                      <m:t>.</m:t>
                    </m:r>
                    <m:r>
                      <a:rPr lang="en-US" altLang="ja-JP" i="1">
                        <a:solidFill>
                          <a:srgbClr val="0070C0"/>
                        </a:solidFill>
                        <a:latin typeface="Cambria Math"/>
                      </a:rPr>
                      <m:t>𝑔𝑒𝑡𝐻𝑒𝑎𝑑𝑖𝑛𝑔</m:t>
                    </m:r>
                  </m:oMath>
                </a14:m>
                <a:r>
                  <a:rPr lang="en-US" altLang="ja-JP" dirty="0">
                    <a:solidFill>
                      <a:srgbClr val="0070C0"/>
                    </a:solidFill>
                    <a:latin typeface="Calibri"/>
                    <a:ea typeface="ＭＳ Ｐゴシック" panose="020B0600070205080204" pitchFamily="50" charset="-128"/>
                  </a:rPr>
                  <a:t>()</a:t>
                </a:r>
                <a:endParaRPr lang="ja-JP" altLang="en-US" dirty="0">
                  <a:solidFill>
                    <a:srgbClr val="0070C0"/>
                  </a:solidFill>
                  <a:latin typeface="Calibri"/>
                  <a:ea typeface="ＭＳ Ｐゴシック" panose="020B0600070205080204" pitchFamily="50" charset="-128"/>
                </a:endParaRPr>
              </a:p>
            </p:txBody>
          </p:sp>
        </mc:Choice>
        <mc:Fallback xmlns="">
          <p:sp>
            <p:nvSpPr>
              <p:cNvPr id="64" name="テキスト ボックス 6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18477" y="980728"/>
                <a:ext cx="1772665" cy="369332"/>
              </a:xfrm>
              <a:prstGeom prst="rect">
                <a:avLst/>
              </a:prstGeom>
              <a:blipFill>
                <a:blip r:embed="rId10"/>
                <a:stretch>
                  <a:fillRect t="-10000" r="-2414" b="-26667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テキスト ボックス 7"/>
              <p:cNvSpPr txBox="1"/>
              <p:nvPr/>
            </p:nvSpPr>
            <p:spPr>
              <a:xfrm>
                <a:off x="5073271" y="3334256"/>
                <a:ext cx="46128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ja-JP" i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ja-JP" altLang="en-US" i="1">
                              <a:solidFill>
                                <a:srgbClr val="0070C0"/>
                              </a:solidFill>
                              <a:latin typeface="Cambria Math"/>
                            </a:rPr>
                            <m:t>𝜃</m:t>
                          </m:r>
                        </m:e>
                        <m:sub>
                          <m:r>
                            <a:rPr lang="en-US" altLang="ja-JP" i="1">
                              <a:solidFill>
                                <a:srgbClr val="0070C0"/>
                              </a:solidFill>
                              <a:latin typeface="Cambria Math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ja-JP" altLang="en-US" dirty="0">
                  <a:solidFill>
                    <a:srgbClr val="0070C0"/>
                  </a:solidFill>
                  <a:latin typeface="Calibri"/>
                  <a:ea typeface="ＭＳ Ｐゴシック" panose="020B0600070205080204" pitchFamily="50" charset="-128"/>
                </a:endParaRPr>
              </a:p>
            </p:txBody>
          </p:sp>
        </mc:Choice>
        <mc:Fallback xmlns="">
          <p:sp>
            <p:nvSpPr>
              <p:cNvPr id="8" name="テキスト ボックス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73271" y="3334256"/>
                <a:ext cx="461280" cy="369332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5" name="テキスト ボックス 64"/>
              <p:cNvSpPr txBox="1"/>
              <p:nvPr/>
            </p:nvSpPr>
            <p:spPr>
              <a:xfrm>
                <a:off x="6637510" y="1427440"/>
                <a:ext cx="46660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ja-JP" i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ja-JP" altLang="en-US" i="1">
                              <a:solidFill>
                                <a:srgbClr val="0070C0"/>
                              </a:solidFill>
                              <a:latin typeface="Cambria Math"/>
                            </a:rPr>
                            <m:t>𝜃</m:t>
                          </m:r>
                        </m:e>
                        <m:sub>
                          <m:r>
                            <a:rPr lang="en-US" altLang="ja-JP" i="1">
                              <a:solidFill>
                                <a:srgbClr val="0070C0"/>
                              </a:solidFill>
                              <a:latin typeface="Cambria Math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ja-JP" altLang="en-US" dirty="0">
                  <a:solidFill>
                    <a:srgbClr val="0070C0"/>
                  </a:solidFill>
                  <a:latin typeface="Calibri"/>
                  <a:ea typeface="ＭＳ Ｐゴシック" panose="020B0600070205080204" pitchFamily="50" charset="-128"/>
                </a:endParaRPr>
              </a:p>
            </p:txBody>
          </p:sp>
        </mc:Choice>
        <mc:Fallback xmlns="">
          <p:sp>
            <p:nvSpPr>
              <p:cNvPr id="65" name="テキスト ボックス 6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37510" y="1427440"/>
                <a:ext cx="466603" cy="369332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6" name="テキスト ボックス 65"/>
              <p:cNvSpPr txBox="1"/>
              <p:nvPr/>
            </p:nvSpPr>
            <p:spPr>
              <a:xfrm>
                <a:off x="5498689" y="3728241"/>
                <a:ext cx="61690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ja-JP" i="1">
                              <a:solidFill>
                                <a:srgbClr val="1F497D">
                                  <a:lumMod val="20000"/>
                                  <a:lumOff val="80000"/>
                                </a:srgb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ja-JP" i="1">
                              <a:solidFill>
                                <a:srgbClr val="1F497D">
                                  <a:lumMod val="20000"/>
                                  <a:lumOff val="80000"/>
                                </a:srgbClr>
                              </a:solidFill>
                              <a:latin typeface="Cambria Math"/>
                            </a:rPr>
                            <m:t>𝑑𝑋</m:t>
                          </m:r>
                        </m:e>
                        <m:sub>
                          <m:r>
                            <a:rPr lang="en-US" altLang="ja-JP" i="1">
                              <a:solidFill>
                                <a:srgbClr val="1F497D">
                                  <a:lumMod val="20000"/>
                                  <a:lumOff val="80000"/>
                                </a:srgbClr>
                              </a:solidFill>
                              <a:latin typeface="Cambria Math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ja-JP" altLang="en-US" dirty="0">
                  <a:solidFill>
                    <a:srgbClr val="1F497D">
                      <a:lumMod val="20000"/>
                      <a:lumOff val="80000"/>
                    </a:srgbClr>
                  </a:solidFill>
                  <a:latin typeface="Calibri"/>
                  <a:ea typeface="ＭＳ Ｐゴシック" panose="020B0600070205080204" pitchFamily="50" charset="-128"/>
                </a:endParaRPr>
              </a:p>
            </p:txBody>
          </p:sp>
        </mc:Choice>
        <mc:Fallback xmlns="">
          <p:sp>
            <p:nvSpPr>
              <p:cNvPr id="66" name="テキスト ボックス 6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98689" y="3728241"/>
                <a:ext cx="616900" cy="369332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7" name="テキスト ボックス 66"/>
              <p:cNvSpPr txBox="1"/>
              <p:nvPr/>
            </p:nvSpPr>
            <p:spPr>
              <a:xfrm>
                <a:off x="6366275" y="4186700"/>
                <a:ext cx="61157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ja-JP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ja-JP" i="1">
                              <a:solidFill>
                                <a:srgbClr val="FF0000"/>
                              </a:solidFill>
                              <a:latin typeface="Cambria Math"/>
                            </a:rPr>
                            <m:t>𝑑𝑋</m:t>
                          </m:r>
                        </m:e>
                        <m:sub>
                          <m:r>
                            <a:rPr lang="en-US" altLang="ja-JP" i="1">
                              <a:solidFill>
                                <a:srgbClr val="FF0000"/>
                              </a:solidFill>
                              <a:latin typeface="Cambria Math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ja-JP" altLang="en-US" dirty="0">
                  <a:solidFill>
                    <a:srgbClr val="FF0000"/>
                  </a:solidFill>
                  <a:latin typeface="Calibri"/>
                  <a:ea typeface="ＭＳ Ｐゴシック" panose="020B0600070205080204" pitchFamily="50" charset="-128"/>
                </a:endParaRPr>
              </a:p>
            </p:txBody>
          </p:sp>
        </mc:Choice>
        <mc:Fallback xmlns="">
          <p:sp>
            <p:nvSpPr>
              <p:cNvPr id="67" name="テキスト ボックス 6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66275" y="4186700"/>
                <a:ext cx="611578" cy="369332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8" name="テキスト ボックス 67"/>
              <p:cNvSpPr txBox="1"/>
              <p:nvPr/>
            </p:nvSpPr>
            <p:spPr>
              <a:xfrm>
                <a:off x="8210026" y="3222268"/>
                <a:ext cx="57419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ja-JP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ja-JP" i="1">
                              <a:solidFill>
                                <a:srgbClr val="FF0000"/>
                              </a:solidFill>
                              <a:latin typeface="Cambria Math"/>
                            </a:rPr>
                            <m:t>𝑑𝑌</m:t>
                          </m:r>
                        </m:e>
                        <m:sub>
                          <m:r>
                            <a:rPr lang="en-US" altLang="ja-JP" i="1">
                              <a:solidFill>
                                <a:srgbClr val="FF0000"/>
                              </a:solidFill>
                              <a:latin typeface="Cambria Math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ja-JP" altLang="en-US" dirty="0">
                  <a:solidFill>
                    <a:srgbClr val="FF0000"/>
                  </a:solidFill>
                  <a:latin typeface="Calibri"/>
                  <a:ea typeface="ＭＳ Ｐゴシック" panose="020B0600070205080204" pitchFamily="50" charset="-128"/>
                </a:endParaRPr>
              </a:p>
            </p:txBody>
          </p:sp>
        </mc:Choice>
        <mc:Fallback xmlns="">
          <p:sp>
            <p:nvSpPr>
              <p:cNvPr id="68" name="テキスト ボックス 6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10026" y="3222268"/>
                <a:ext cx="574195" cy="369332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9" name="テキスト ボックス 68"/>
              <p:cNvSpPr txBox="1"/>
              <p:nvPr/>
            </p:nvSpPr>
            <p:spPr>
              <a:xfrm>
                <a:off x="6030717" y="2754761"/>
                <a:ext cx="57951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ja-JP" i="1">
                              <a:solidFill>
                                <a:srgbClr val="1F497D">
                                  <a:lumMod val="20000"/>
                                  <a:lumOff val="80000"/>
                                </a:srgb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ja-JP" i="1">
                              <a:solidFill>
                                <a:srgbClr val="1F497D">
                                  <a:lumMod val="20000"/>
                                  <a:lumOff val="80000"/>
                                </a:srgbClr>
                              </a:solidFill>
                              <a:latin typeface="Cambria Math"/>
                            </a:rPr>
                            <m:t>𝑑𝑌</m:t>
                          </m:r>
                        </m:e>
                        <m:sub>
                          <m:r>
                            <a:rPr lang="en-US" altLang="ja-JP" i="1">
                              <a:solidFill>
                                <a:srgbClr val="1F497D">
                                  <a:lumMod val="20000"/>
                                  <a:lumOff val="80000"/>
                                </a:srgbClr>
                              </a:solidFill>
                              <a:latin typeface="Cambria Math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ja-JP" altLang="en-US" dirty="0">
                  <a:solidFill>
                    <a:srgbClr val="1F497D">
                      <a:lumMod val="20000"/>
                      <a:lumOff val="80000"/>
                    </a:srgbClr>
                  </a:solidFill>
                  <a:latin typeface="Calibri"/>
                  <a:ea typeface="ＭＳ Ｐゴシック" panose="020B0600070205080204" pitchFamily="50" charset="-128"/>
                </a:endParaRPr>
              </a:p>
            </p:txBody>
          </p:sp>
        </mc:Choice>
        <mc:Fallback xmlns="">
          <p:sp>
            <p:nvSpPr>
              <p:cNvPr id="69" name="テキスト ボックス 6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30717" y="2754761"/>
                <a:ext cx="579518" cy="369332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1" name="テキスト ボックス 70"/>
              <p:cNvSpPr txBox="1"/>
              <p:nvPr/>
            </p:nvSpPr>
            <p:spPr>
              <a:xfrm>
                <a:off x="8184232" y="2064023"/>
                <a:ext cx="7330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ja-JP" i="1">
                              <a:solidFill>
                                <a:srgbClr val="92D05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ja-JP" i="1">
                              <a:solidFill>
                                <a:srgbClr val="92D050"/>
                              </a:solidFill>
                              <a:latin typeface="Cambria Math"/>
                            </a:rPr>
                            <m:t>𝑑𝑌</m:t>
                          </m:r>
                        </m:e>
                        <m:sub>
                          <m:r>
                            <a:rPr lang="en-US" altLang="ja-JP" i="1">
                              <a:solidFill>
                                <a:srgbClr val="92D050"/>
                              </a:solidFill>
                              <a:latin typeface="Cambria Math"/>
                            </a:rPr>
                            <m:t>𝑒𝑚</m:t>
                          </m:r>
                        </m:sub>
                      </m:sSub>
                    </m:oMath>
                  </m:oMathPara>
                </a14:m>
                <a:endParaRPr lang="ja-JP" altLang="en-US" dirty="0">
                  <a:solidFill>
                    <a:srgbClr val="92D050"/>
                  </a:solidFill>
                  <a:latin typeface="Calibri"/>
                  <a:ea typeface="ＭＳ Ｐゴシック" panose="020B0600070205080204" pitchFamily="50" charset="-128"/>
                </a:endParaRPr>
              </a:p>
            </p:txBody>
          </p:sp>
        </mc:Choice>
        <mc:Fallback xmlns="">
          <p:sp>
            <p:nvSpPr>
              <p:cNvPr id="71" name="テキスト ボックス 7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84232" y="2064023"/>
                <a:ext cx="733086" cy="369332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2" name="テキスト ボックス 71"/>
              <p:cNvSpPr txBox="1"/>
              <p:nvPr/>
            </p:nvSpPr>
            <p:spPr>
              <a:xfrm>
                <a:off x="7028722" y="1596653"/>
                <a:ext cx="77046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ja-JP" i="1">
                              <a:solidFill>
                                <a:srgbClr val="92D05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ja-JP" i="1">
                              <a:solidFill>
                                <a:srgbClr val="92D050"/>
                              </a:solidFill>
                              <a:latin typeface="Cambria Math"/>
                            </a:rPr>
                            <m:t>𝑑𝑋</m:t>
                          </m:r>
                        </m:e>
                        <m:sub>
                          <m:r>
                            <a:rPr lang="en-US" altLang="ja-JP" i="1">
                              <a:solidFill>
                                <a:srgbClr val="92D050"/>
                              </a:solidFill>
                              <a:latin typeface="Cambria Math"/>
                            </a:rPr>
                            <m:t>𝑒𝑚</m:t>
                          </m:r>
                        </m:sub>
                      </m:sSub>
                    </m:oMath>
                  </m:oMathPara>
                </a14:m>
                <a:endParaRPr lang="ja-JP" altLang="en-US" dirty="0">
                  <a:solidFill>
                    <a:srgbClr val="92D050"/>
                  </a:solidFill>
                  <a:latin typeface="Calibri"/>
                  <a:ea typeface="ＭＳ Ｐゴシック" panose="020B0600070205080204" pitchFamily="50" charset="-128"/>
                </a:endParaRPr>
              </a:p>
            </p:txBody>
          </p:sp>
        </mc:Choice>
        <mc:Fallback xmlns="">
          <p:sp>
            <p:nvSpPr>
              <p:cNvPr id="72" name="テキスト ボックス 7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28722" y="1596653"/>
                <a:ext cx="770467" cy="369332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3" name="テキスト ボックス 72"/>
              <p:cNvSpPr txBox="1"/>
              <p:nvPr/>
            </p:nvSpPr>
            <p:spPr>
              <a:xfrm>
                <a:off x="6509284" y="3287352"/>
                <a:ext cx="90467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ja-JP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ja-JP" i="1">
                              <a:solidFill>
                                <a:srgbClr val="FF0000"/>
                              </a:solidFill>
                              <a:latin typeface="Cambria Math"/>
                            </a:rPr>
                            <m:t>𝑉</m:t>
                          </m:r>
                        </m:e>
                        <m:sub>
                          <m:r>
                            <a:rPr lang="en-US" altLang="ja-JP" i="1">
                              <a:solidFill>
                                <a:srgbClr val="FF0000"/>
                              </a:solidFill>
                              <a:latin typeface="Cambria Math"/>
                            </a:rPr>
                            <m:t>𝑏𝑡</m:t>
                          </m:r>
                        </m:sub>
                      </m:sSub>
                      <m:r>
                        <a:rPr lang="en-US" altLang="ja-JP" i="1">
                          <a:solidFill>
                            <a:srgbClr val="FF0000"/>
                          </a:solidFill>
                          <a:latin typeface="Cambria Math"/>
                          <a:ea typeface="Cambria Math"/>
                        </a:rPr>
                        <m:t>×</m:t>
                      </m:r>
                      <m:r>
                        <a:rPr lang="en-US" altLang="ja-JP" i="1">
                          <a:solidFill>
                            <a:srgbClr val="FF0000"/>
                          </a:solidFill>
                          <a:latin typeface="Cambria Math"/>
                          <a:ea typeface="Cambria Math"/>
                        </a:rPr>
                        <m:t>𝑡</m:t>
                      </m:r>
                    </m:oMath>
                  </m:oMathPara>
                </a14:m>
                <a:endParaRPr lang="ja-JP" altLang="en-US" dirty="0">
                  <a:solidFill>
                    <a:srgbClr val="FF0000"/>
                  </a:solidFill>
                  <a:latin typeface="Calibri"/>
                  <a:ea typeface="ＭＳ Ｐゴシック" panose="020B0600070205080204" pitchFamily="50" charset="-128"/>
                </a:endParaRPr>
              </a:p>
            </p:txBody>
          </p:sp>
        </mc:Choice>
        <mc:Fallback xmlns="">
          <p:sp>
            <p:nvSpPr>
              <p:cNvPr id="73" name="テキスト ボックス 7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09284" y="3287352"/>
                <a:ext cx="904671" cy="369332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4" name="テキスト ボックス 73"/>
              <p:cNvSpPr txBox="1"/>
              <p:nvPr/>
            </p:nvSpPr>
            <p:spPr>
              <a:xfrm>
                <a:off x="6300418" y="2341370"/>
                <a:ext cx="95333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ja-JP" i="1">
                              <a:solidFill>
                                <a:srgbClr val="92D05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ja-JP" i="1">
                              <a:solidFill>
                                <a:srgbClr val="92D050"/>
                              </a:solidFill>
                              <a:latin typeface="Cambria Math"/>
                            </a:rPr>
                            <m:t>𝑉</m:t>
                          </m:r>
                        </m:e>
                        <m:sub>
                          <m:r>
                            <a:rPr lang="en-US" altLang="ja-JP" i="1">
                              <a:solidFill>
                                <a:srgbClr val="92D050"/>
                              </a:solidFill>
                              <a:latin typeface="Cambria Math"/>
                            </a:rPr>
                            <m:t>𝑒𝑚</m:t>
                          </m:r>
                        </m:sub>
                      </m:sSub>
                      <m:r>
                        <a:rPr lang="en-US" altLang="ja-JP" i="1">
                          <a:solidFill>
                            <a:srgbClr val="92D050"/>
                          </a:solidFill>
                          <a:latin typeface="Cambria Math"/>
                          <a:ea typeface="Cambria Math"/>
                        </a:rPr>
                        <m:t>×</m:t>
                      </m:r>
                      <m:r>
                        <a:rPr lang="en-US" altLang="ja-JP" i="1">
                          <a:solidFill>
                            <a:srgbClr val="92D050"/>
                          </a:solidFill>
                          <a:latin typeface="Cambria Math"/>
                          <a:ea typeface="Cambria Math"/>
                        </a:rPr>
                        <m:t>𝑡</m:t>
                      </m:r>
                    </m:oMath>
                  </m:oMathPara>
                </a14:m>
                <a:endParaRPr lang="ja-JP" altLang="en-US" dirty="0">
                  <a:solidFill>
                    <a:srgbClr val="92D050"/>
                  </a:solidFill>
                  <a:latin typeface="Calibri"/>
                  <a:ea typeface="ＭＳ Ｐゴシック" panose="020B0600070205080204" pitchFamily="50" charset="-128"/>
                </a:endParaRPr>
              </a:p>
            </p:txBody>
          </p:sp>
        </mc:Choice>
        <mc:Fallback xmlns="">
          <p:sp>
            <p:nvSpPr>
              <p:cNvPr id="74" name="テキスト ボックス 7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00418" y="2341370"/>
                <a:ext cx="953338" cy="369332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爆発 2 8"/>
          <p:cNvSpPr/>
          <p:nvPr/>
        </p:nvSpPr>
        <p:spPr>
          <a:xfrm>
            <a:off x="7912177" y="2495649"/>
            <a:ext cx="598439" cy="443778"/>
          </a:xfrm>
          <a:prstGeom prst="irregularSeal2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  <a:latin typeface="Calibri"/>
              <a:ea typeface="ＭＳ Ｐゴシック" panose="020B0600070205080204" pitchFamily="50" charset="-128"/>
            </a:endParaRPr>
          </a:p>
        </p:txBody>
      </p:sp>
      <p:sp>
        <p:nvSpPr>
          <p:cNvPr id="10" name="フローチャート : 論理積ゲート 9"/>
          <p:cNvSpPr/>
          <p:nvPr/>
        </p:nvSpPr>
        <p:spPr>
          <a:xfrm rot="20338803">
            <a:off x="7019218" y="3020324"/>
            <a:ext cx="263341" cy="129202"/>
          </a:xfrm>
          <a:prstGeom prst="flowChartDelay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  <a:latin typeface="Calibri"/>
              <a:ea typeface="ＭＳ Ｐゴシック" panose="020B0600070205080204" pitchFamily="50" charset="-128"/>
            </a:endParaRPr>
          </a:p>
        </p:txBody>
      </p:sp>
      <p:pic>
        <p:nvPicPr>
          <p:cNvPr id="13" name="Picture 3"/>
          <p:cNvPicPr>
            <a:picLocks noChangeAspect="1" noChangeArrowheads="1"/>
          </p:cNvPicPr>
          <p:nvPr/>
        </p:nvPicPr>
        <p:blipFill>
          <a:blip r:embed="rId21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6667445">
            <a:off x="5945308" y="1866687"/>
            <a:ext cx="205740" cy="26289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2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061603">
            <a:off x="4165681" y="4029359"/>
            <a:ext cx="205740" cy="26289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70" name="Picture 3"/>
          <p:cNvPicPr>
            <a:picLocks noChangeAspect="1" noChangeArrowheads="1"/>
          </p:cNvPicPr>
          <p:nvPr/>
        </p:nvPicPr>
        <p:blipFill>
          <a:blip r:embed="rId21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6667445">
            <a:off x="7319898" y="2305745"/>
            <a:ext cx="205740" cy="26289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75" name="Picture 3"/>
          <p:cNvPicPr>
            <a:picLocks noChangeAspect="1" noChangeArrowheads="1"/>
          </p:cNvPicPr>
          <p:nvPr/>
        </p:nvPicPr>
        <p:blipFill>
          <a:blip r:embed="rId21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6667445">
            <a:off x="8097032" y="2576788"/>
            <a:ext cx="205740" cy="26289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049155333"/>
      </p:ext>
    </p:extLst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1981200" y="44624"/>
            <a:ext cx="8229600" cy="792088"/>
          </a:xfrm>
        </p:spPr>
        <p:txBody>
          <a:bodyPr>
            <a:normAutofit/>
          </a:bodyPr>
          <a:lstStyle/>
          <a:p>
            <a:r>
              <a:rPr lang="ja-JP" altLang="en-US" sz="3200" dirty="0"/>
              <a:t>敵の動作の予測（三角関数、二次関数の解）</a:t>
            </a:r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D8002D-B5B0-4BAC-B1F6-782DDCCE6D9C}" type="slidenum">
              <a:rPr lang="ja-JP" altLang="en-US">
                <a:solidFill>
                  <a:prstClr val="white"/>
                </a:solidFill>
                <a:latin typeface="Calibri"/>
                <a:ea typeface="ＭＳ Ｐゴシック" panose="020B0600070205080204" pitchFamily="50" charset="-128"/>
              </a:rPr>
              <a:pPr/>
              <a:t>7</a:t>
            </a:fld>
            <a:endParaRPr lang="ja-JP" altLang="en-US">
              <a:solidFill>
                <a:prstClr val="white"/>
              </a:solidFill>
              <a:latin typeface="Calibri"/>
              <a:ea typeface="ＭＳ Ｐゴシック" panose="020B0600070205080204" pitchFamily="50" charset="-128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テキスト ボックス 4"/>
              <p:cNvSpPr txBox="1"/>
              <p:nvPr/>
            </p:nvSpPr>
            <p:spPr>
              <a:xfrm>
                <a:off x="4262004" y="4444461"/>
                <a:ext cx="3216137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ja-JP" sz="3200" i="1">
                              <a:solidFill>
                                <a:prstClr val="white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ja-JP" sz="3200" i="1">
                              <a:solidFill>
                                <a:prstClr val="white"/>
                              </a:solidFill>
                              <a:latin typeface="Cambria Math"/>
                            </a:rPr>
                            <m:t>𝑎𝑡</m:t>
                          </m:r>
                        </m:e>
                        <m:sup>
                          <m:r>
                            <a:rPr lang="en-US" altLang="ja-JP" sz="3200" i="1">
                              <a:solidFill>
                                <a:prstClr val="white"/>
                              </a:solidFill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altLang="ja-JP" sz="3200" i="1">
                          <a:solidFill>
                            <a:prstClr val="white"/>
                          </a:solidFill>
                          <a:latin typeface="Cambria Math"/>
                        </a:rPr>
                        <m:t>+</m:t>
                      </m:r>
                      <m:r>
                        <a:rPr lang="en-US" altLang="ja-JP" sz="3200" i="1">
                          <a:solidFill>
                            <a:prstClr val="white"/>
                          </a:solidFill>
                          <a:latin typeface="Cambria Math"/>
                        </a:rPr>
                        <m:t>𝑏𝑡</m:t>
                      </m:r>
                      <m:r>
                        <a:rPr lang="en-US" altLang="ja-JP" sz="3200" i="1">
                          <a:solidFill>
                            <a:prstClr val="white"/>
                          </a:solidFill>
                          <a:latin typeface="Cambria Math"/>
                        </a:rPr>
                        <m:t>+</m:t>
                      </m:r>
                      <m:r>
                        <a:rPr lang="en-US" altLang="ja-JP" sz="3200" i="1">
                          <a:solidFill>
                            <a:prstClr val="white"/>
                          </a:solidFill>
                          <a:latin typeface="Cambria Math"/>
                        </a:rPr>
                        <m:t>𝑐</m:t>
                      </m:r>
                      <m:r>
                        <a:rPr lang="en-US" altLang="ja-JP" sz="3200" i="1">
                          <a:solidFill>
                            <a:prstClr val="white"/>
                          </a:solidFill>
                          <a:latin typeface="Cambria Math"/>
                        </a:rPr>
                        <m:t>=0</m:t>
                      </m:r>
                    </m:oMath>
                  </m:oMathPara>
                </a14:m>
                <a:endParaRPr lang="en-US" altLang="ja-JP" sz="3200" dirty="0">
                  <a:solidFill>
                    <a:prstClr val="white"/>
                  </a:solidFill>
                  <a:latin typeface="Calibri"/>
                  <a:ea typeface="ＭＳ Ｐゴシック" panose="020B0600070205080204" pitchFamily="50" charset="-128"/>
                </a:endParaRPr>
              </a:p>
            </p:txBody>
          </p:sp>
        </mc:Choice>
        <mc:Fallback xmlns="">
          <p:sp>
            <p:nvSpPr>
              <p:cNvPr id="5" name="テキスト ボックス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62004" y="4444461"/>
                <a:ext cx="3216137" cy="58477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" name="テキスト ボックス 61"/>
              <p:cNvSpPr txBox="1"/>
              <p:nvPr/>
            </p:nvSpPr>
            <p:spPr>
              <a:xfrm>
                <a:off x="4262004" y="5019094"/>
                <a:ext cx="3850221" cy="114621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ja-JP" sz="3200" i="1">
                          <a:solidFill>
                            <a:prstClr val="white"/>
                          </a:solidFill>
                          <a:latin typeface="Cambria Math"/>
                        </a:rPr>
                        <m:t>𝑡</m:t>
                      </m:r>
                      <m:r>
                        <a:rPr lang="en-US" altLang="ja-JP" sz="3200" i="1">
                          <a:solidFill>
                            <a:prstClr val="white"/>
                          </a:solidFill>
                          <a:latin typeface="Cambria Math"/>
                        </a:rPr>
                        <m:t>=</m:t>
                      </m:r>
                      <m:f>
                        <m:fPr>
                          <m:ctrlPr>
                            <a:rPr lang="en-US" altLang="ja-JP" sz="3200" i="1">
                              <a:solidFill>
                                <a:prstClr val="white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ja-JP" sz="3200" i="1">
                              <a:solidFill>
                                <a:prstClr val="white"/>
                              </a:solidFill>
                              <a:latin typeface="Cambria Math"/>
                            </a:rPr>
                            <m:t>−</m:t>
                          </m:r>
                          <m:r>
                            <a:rPr lang="en-US" altLang="ja-JP" sz="3200" i="1">
                              <a:solidFill>
                                <a:prstClr val="white"/>
                              </a:solidFill>
                              <a:latin typeface="Cambria Math"/>
                            </a:rPr>
                            <m:t>𝑏</m:t>
                          </m:r>
                          <m:r>
                            <a:rPr lang="en-US" altLang="ja-JP" sz="3200" i="1">
                              <a:solidFill>
                                <a:prstClr val="white"/>
                              </a:solidFill>
                              <a:latin typeface="Cambria Math"/>
                              <a:ea typeface="Cambria Math"/>
                            </a:rPr>
                            <m:t>±</m:t>
                          </m:r>
                          <m:rad>
                            <m:radPr>
                              <m:degHide m:val="on"/>
                              <m:ctrlPr>
                                <a:rPr lang="en-US" altLang="ja-JP" sz="3200" i="1">
                                  <a:solidFill>
                                    <a:prstClr val="white"/>
                                  </a:solidFill>
                                  <a:latin typeface="Cambria Math" panose="02040503050406030204" pitchFamily="18" charset="0"/>
                                  <a:ea typeface="Cambria Math"/>
                                </a:rPr>
                              </m:ctrlPr>
                            </m:radPr>
                            <m:deg/>
                            <m:e>
                              <m:sSup>
                                <m:sSupPr>
                                  <m:ctrlPr>
                                    <a:rPr lang="en-US" altLang="ja-JP" sz="3200" i="1">
                                      <a:solidFill>
                                        <a:prstClr val="white"/>
                                      </a:solidFill>
                                      <a:latin typeface="Cambria Math" panose="02040503050406030204" pitchFamily="18" charset="0"/>
                                      <a:ea typeface="Cambria Math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ja-JP" sz="3200" i="1">
                                      <a:solidFill>
                                        <a:prstClr val="white"/>
                                      </a:solidFill>
                                      <a:latin typeface="Cambria Math"/>
                                      <a:ea typeface="Cambria Math"/>
                                    </a:rPr>
                                    <m:t>𝑏</m:t>
                                  </m:r>
                                </m:e>
                                <m:sup>
                                  <m:r>
                                    <a:rPr lang="en-US" altLang="ja-JP" sz="3200" i="1">
                                      <a:solidFill>
                                        <a:prstClr val="white"/>
                                      </a:solidFill>
                                      <a:latin typeface="Cambria Math"/>
                                      <a:ea typeface="Cambria Math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altLang="ja-JP" sz="3200" i="1">
                                  <a:solidFill>
                                    <a:prstClr val="white"/>
                                  </a:solidFill>
                                  <a:latin typeface="Cambria Math"/>
                                  <a:ea typeface="Cambria Math"/>
                                </a:rPr>
                                <m:t>−4</m:t>
                              </m:r>
                              <m:r>
                                <a:rPr lang="en-US" altLang="ja-JP" sz="3200" i="1">
                                  <a:solidFill>
                                    <a:prstClr val="white"/>
                                  </a:solidFill>
                                  <a:latin typeface="Cambria Math"/>
                                  <a:ea typeface="Cambria Math"/>
                                </a:rPr>
                                <m:t>𝑎𝑐</m:t>
                              </m:r>
                            </m:e>
                          </m:rad>
                        </m:num>
                        <m:den>
                          <m:r>
                            <a:rPr lang="en-US" altLang="ja-JP" sz="3200" i="1">
                              <a:solidFill>
                                <a:prstClr val="white"/>
                              </a:solidFill>
                              <a:latin typeface="Cambria Math"/>
                            </a:rPr>
                            <m:t>2</m:t>
                          </m:r>
                          <m:r>
                            <a:rPr lang="en-US" altLang="ja-JP" sz="3200" i="1">
                              <a:solidFill>
                                <a:prstClr val="white"/>
                              </a:solidFill>
                              <a:latin typeface="Cambria Math"/>
                            </a:rPr>
                            <m:t>𝑎</m:t>
                          </m:r>
                        </m:den>
                      </m:f>
                    </m:oMath>
                  </m:oMathPara>
                </a14:m>
                <a:endParaRPr lang="en-US" altLang="ja-JP" sz="3200" dirty="0">
                  <a:solidFill>
                    <a:prstClr val="white"/>
                  </a:solidFill>
                  <a:latin typeface="Calibri"/>
                  <a:ea typeface="ＭＳ Ｐゴシック" panose="020B0600070205080204" pitchFamily="50" charset="-128"/>
                </a:endParaRPr>
              </a:p>
            </p:txBody>
          </p:sp>
        </mc:Choice>
        <mc:Fallback xmlns="">
          <p:sp>
            <p:nvSpPr>
              <p:cNvPr id="62" name="テキスト ボックス 6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62004" y="5019094"/>
                <a:ext cx="3850221" cy="114621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3" name="テキスト ボックス 62"/>
              <p:cNvSpPr txBox="1"/>
              <p:nvPr/>
            </p:nvSpPr>
            <p:spPr>
              <a:xfrm>
                <a:off x="4262004" y="2324797"/>
                <a:ext cx="374487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ja-JP" sz="2800" i="1">
                              <a:solidFill>
                                <a:prstClr val="white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ja-JP" sz="2800" i="1">
                              <a:solidFill>
                                <a:prstClr val="white"/>
                              </a:solidFill>
                              <a:latin typeface="Cambria Math"/>
                            </a:rPr>
                            <m:t>𝑠𝑖𝑛</m:t>
                          </m:r>
                        </m:e>
                        <m:sup>
                          <m:r>
                            <a:rPr lang="en-US" altLang="ja-JP" sz="2800" i="1">
                              <a:solidFill>
                                <a:prstClr val="white"/>
                              </a:solidFill>
                              <a:latin typeface="Cambria Math"/>
                            </a:rPr>
                            <m:t>2</m:t>
                          </m:r>
                        </m:sup>
                      </m:sSup>
                      <m:d>
                        <m:dPr>
                          <m:ctrlPr>
                            <a:rPr lang="en-US" altLang="ja-JP" sz="2800" i="1">
                              <a:solidFill>
                                <a:prstClr val="white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ja-JP" altLang="en-US" sz="2800" i="1">
                              <a:solidFill>
                                <a:prstClr val="white"/>
                              </a:solidFill>
                              <a:latin typeface="Cambria Math"/>
                            </a:rPr>
                            <m:t>𝜃</m:t>
                          </m:r>
                        </m:e>
                      </m:d>
                      <m:r>
                        <a:rPr lang="en-US" altLang="ja-JP" sz="2800" i="1">
                          <a:solidFill>
                            <a:prstClr val="white"/>
                          </a:solidFill>
                          <a:latin typeface="Cambria Math"/>
                        </a:rPr>
                        <m:t>+</m:t>
                      </m:r>
                      <m:sSup>
                        <m:sSupPr>
                          <m:ctrlPr>
                            <a:rPr lang="en-US" altLang="ja-JP" sz="2800" i="1">
                              <a:solidFill>
                                <a:prstClr val="white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ja-JP" sz="2800" i="1">
                              <a:solidFill>
                                <a:prstClr val="white"/>
                              </a:solidFill>
                              <a:latin typeface="Cambria Math"/>
                            </a:rPr>
                            <m:t>𝑐𝑜𝑠</m:t>
                          </m:r>
                        </m:e>
                        <m:sup>
                          <m:r>
                            <a:rPr lang="en-US" altLang="ja-JP" sz="2800" i="1">
                              <a:solidFill>
                                <a:prstClr val="white"/>
                              </a:solidFill>
                              <a:latin typeface="Cambria Math"/>
                            </a:rPr>
                            <m:t>2</m:t>
                          </m:r>
                        </m:sup>
                      </m:sSup>
                      <m:d>
                        <m:dPr>
                          <m:ctrlPr>
                            <a:rPr lang="en-US" altLang="ja-JP" sz="2800" i="1">
                              <a:solidFill>
                                <a:prstClr val="white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ja-JP" altLang="en-US" sz="2800" i="1">
                              <a:solidFill>
                                <a:prstClr val="white"/>
                              </a:solidFill>
                              <a:latin typeface="Cambria Math"/>
                            </a:rPr>
                            <m:t>𝜃</m:t>
                          </m:r>
                        </m:e>
                      </m:d>
                      <m:r>
                        <a:rPr lang="en-US" altLang="ja-JP" sz="2800" i="1">
                          <a:solidFill>
                            <a:prstClr val="white"/>
                          </a:solidFill>
                          <a:latin typeface="Cambria Math"/>
                        </a:rPr>
                        <m:t>=1</m:t>
                      </m:r>
                    </m:oMath>
                  </m:oMathPara>
                </a14:m>
                <a:endParaRPr lang="en-US" altLang="ja-JP" sz="2800" dirty="0">
                  <a:solidFill>
                    <a:prstClr val="white"/>
                  </a:solidFill>
                  <a:latin typeface="Calibri"/>
                  <a:ea typeface="ＭＳ Ｐゴシック" panose="020B0600070205080204" pitchFamily="50" charset="-128"/>
                </a:endParaRPr>
              </a:p>
            </p:txBody>
          </p:sp>
        </mc:Choice>
        <mc:Fallback xmlns="">
          <p:sp>
            <p:nvSpPr>
              <p:cNvPr id="63" name="テキスト ボックス 6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62004" y="2324797"/>
                <a:ext cx="3744871" cy="52322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テキスト ボックス 8"/>
          <p:cNvSpPr txBox="1"/>
          <p:nvPr/>
        </p:nvSpPr>
        <p:spPr>
          <a:xfrm>
            <a:off x="3646325" y="1554849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dirty="0">
                <a:solidFill>
                  <a:prstClr val="white"/>
                </a:solidFill>
                <a:latin typeface="Calibri"/>
                <a:ea typeface="ＭＳ Ｐゴシック" panose="020B0600070205080204" pitchFamily="50" charset="-128"/>
              </a:rPr>
              <a:t>三角関数の公式</a:t>
            </a:r>
          </a:p>
        </p:txBody>
      </p:sp>
      <p:sp>
        <p:nvSpPr>
          <p:cNvPr id="64" name="テキスト ボックス 63"/>
          <p:cNvSpPr txBox="1"/>
          <p:nvPr/>
        </p:nvSpPr>
        <p:spPr>
          <a:xfrm>
            <a:off x="3646324" y="3580365"/>
            <a:ext cx="387798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dirty="0">
                <a:solidFill>
                  <a:prstClr val="white"/>
                </a:solidFill>
                <a:latin typeface="Calibri"/>
                <a:ea typeface="ＭＳ Ｐゴシック" panose="020B0600070205080204" pitchFamily="50" charset="-128"/>
              </a:rPr>
              <a:t>二次関数の解の公式</a:t>
            </a:r>
          </a:p>
        </p:txBody>
      </p:sp>
    </p:spTree>
    <p:extLst>
      <p:ext uri="{BB962C8B-B14F-4D97-AF65-F5344CB8AC3E}">
        <p14:creationId xmlns:p14="http://schemas.microsoft.com/office/powerpoint/2010/main" val="615016290"/>
      </p:ext>
    </p:extLst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D8002D-B5B0-4BAC-B1F6-782DDCCE6D9C}" type="slidenum">
              <a:rPr lang="ja-JP" altLang="en-US">
                <a:solidFill>
                  <a:prstClr val="white"/>
                </a:solidFill>
                <a:latin typeface="Calibri"/>
                <a:ea typeface="ＭＳ Ｐゴシック" panose="020B0600070205080204" pitchFamily="50" charset="-128"/>
              </a:rPr>
              <a:pPr/>
              <a:t>8</a:t>
            </a:fld>
            <a:endParaRPr lang="ja-JP" altLang="en-US">
              <a:solidFill>
                <a:prstClr val="white"/>
              </a:solidFill>
              <a:latin typeface="Calibri"/>
              <a:ea typeface="ＭＳ Ｐゴシック" panose="020B0600070205080204" pitchFamily="50" charset="-128"/>
            </a:endParaRPr>
          </a:p>
        </p:txBody>
      </p:sp>
      <p:sp>
        <p:nvSpPr>
          <p:cNvPr id="7" name="タイトル 1"/>
          <p:cNvSpPr>
            <a:spLocks noGrp="1"/>
          </p:cNvSpPr>
          <p:nvPr>
            <p:ph type="title"/>
          </p:nvPr>
        </p:nvSpPr>
        <p:spPr>
          <a:xfrm>
            <a:off x="1981200" y="44624"/>
            <a:ext cx="8229600" cy="792088"/>
          </a:xfrm>
        </p:spPr>
        <p:txBody>
          <a:bodyPr>
            <a:normAutofit/>
          </a:bodyPr>
          <a:lstStyle/>
          <a:p>
            <a:r>
              <a:rPr lang="ja-JP" altLang="en-US" sz="3200" dirty="0"/>
              <a:t>敵の動作の予測（二次関数の解）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テキスト ボックス 7"/>
              <p:cNvSpPr txBox="1"/>
              <p:nvPr/>
            </p:nvSpPr>
            <p:spPr>
              <a:xfrm>
                <a:off x="1847528" y="980728"/>
                <a:ext cx="8496944" cy="565962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ja-JP" sz="2400" i="1">
                              <a:solidFill>
                                <a:prstClr val="white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ja-JP" sz="2400" i="1">
                              <a:solidFill>
                                <a:prstClr val="white"/>
                              </a:solidFill>
                              <a:latin typeface="Cambria Math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altLang="ja-JP" sz="2400" i="1">
                                  <a:solidFill>
                                    <a:prstClr val="white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sz="2400" i="1">
                                  <a:solidFill>
                                    <a:prstClr val="white"/>
                                  </a:solidFill>
                                  <a:latin typeface="Cambria Math"/>
                                </a:rPr>
                                <m:t>𝑉</m:t>
                              </m:r>
                            </m:e>
                            <m:sub>
                              <m:r>
                                <a:rPr lang="en-US" altLang="ja-JP" sz="2400" i="1">
                                  <a:solidFill>
                                    <a:prstClr val="white"/>
                                  </a:solidFill>
                                  <a:latin typeface="Cambria Math"/>
                                </a:rPr>
                                <m:t>𝑏𝑡</m:t>
                              </m:r>
                            </m:sub>
                          </m:sSub>
                          <m:r>
                            <a:rPr lang="en-US" altLang="ja-JP" sz="2400" i="1">
                              <a:solidFill>
                                <a:prstClr val="white"/>
                              </a:solidFill>
                              <a:latin typeface="Cambria Math"/>
                              <a:ea typeface="Cambria Math"/>
                            </a:rPr>
                            <m:t>×</m:t>
                          </m:r>
                          <m:r>
                            <a:rPr lang="en-US" altLang="ja-JP" sz="2400" i="1">
                              <a:solidFill>
                                <a:prstClr val="white"/>
                              </a:solidFill>
                              <a:latin typeface="Cambria Math"/>
                              <a:ea typeface="Cambria Math"/>
                            </a:rPr>
                            <m:t>𝑡</m:t>
                          </m:r>
                          <m:r>
                            <a:rPr lang="en-US" altLang="ja-JP" sz="2400" i="1">
                              <a:solidFill>
                                <a:prstClr val="white"/>
                              </a:solidFill>
                              <a:latin typeface="Cambria Math"/>
                              <a:ea typeface="Cambria Math"/>
                            </a:rPr>
                            <m:t>)</m:t>
                          </m:r>
                        </m:e>
                        <m:sup>
                          <m:r>
                            <a:rPr lang="en-US" altLang="ja-JP" sz="2400" i="1">
                              <a:solidFill>
                                <a:prstClr val="white"/>
                              </a:solidFill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altLang="ja-JP" sz="2400" i="1">
                          <a:solidFill>
                            <a:prstClr val="white"/>
                          </a:solidFill>
                          <a:latin typeface="Cambria Math"/>
                          <a:ea typeface="Cambria Math"/>
                        </a:rPr>
                        <m:t>=</m:t>
                      </m:r>
                      <m:sSup>
                        <m:sSupPr>
                          <m:ctrlPr>
                            <a:rPr lang="en-US" altLang="ja-JP" sz="2400" i="1">
                              <a:solidFill>
                                <a:prstClr val="white"/>
                              </a:solidFill>
                              <a:latin typeface="Cambria Math" panose="02040503050406030204" pitchFamily="18" charset="0"/>
                              <a:ea typeface="Cambria Math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en-US" altLang="ja-JP" sz="2400" i="1">
                                  <a:solidFill>
                                    <a:prstClr val="white"/>
                                  </a:solidFill>
                                  <a:latin typeface="Cambria Math" panose="02040503050406030204" pitchFamily="18" charset="0"/>
                                  <a:ea typeface="Cambria Math"/>
                                </a:rPr>
                              </m:ctrlPr>
                            </m:sSubPr>
                            <m:e>
                              <m:r>
                                <a:rPr lang="en-US" altLang="ja-JP" sz="2400" i="1">
                                  <a:solidFill>
                                    <a:prstClr val="white"/>
                                  </a:solidFill>
                                  <a:latin typeface="Cambria Math"/>
                                  <a:ea typeface="Cambria Math"/>
                                </a:rPr>
                                <m:t>𝑑𝑋</m:t>
                              </m:r>
                            </m:e>
                            <m:sub>
                              <m:r>
                                <a:rPr lang="en-US" altLang="ja-JP" sz="2400" i="1">
                                  <a:solidFill>
                                    <a:prstClr val="white"/>
                                  </a:solidFill>
                                  <a:latin typeface="Cambria Math"/>
                                  <a:ea typeface="Cambria Math"/>
                                </a:rPr>
                                <m:t>1</m:t>
                              </m:r>
                            </m:sub>
                          </m:sSub>
                        </m:e>
                        <m:sup>
                          <m:r>
                            <a:rPr lang="en-US" altLang="ja-JP" sz="2400" i="1">
                              <a:solidFill>
                                <a:prstClr val="white"/>
                              </a:solidFill>
                              <a:latin typeface="Cambria Math"/>
                              <a:ea typeface="Cambria Math"/>
                            </a:rPr>
                            <m:t>2</m:t>
                          </m:r>
                        </m:sup>
                      </m:sSup>
                      <m:r>
                        <a:rPr lang="en-US" altLang="ja-JP" sz="2400" i="1">
                          <a:solidFill>
                            <a:prstClr val="white"/>
                          </a:solidFill>
                          <a:latin typeface="Cambria Math"/>
                          <a:ea typeface="Cambria Math"/>
                        </a:rPr>
                        <m:t>+</m:t>
                      </m:r>
                      <m:sSup>
                        <m:sSupPr>
                          <m:ctrlPr>
                            <a:rPr lang="en-US" altLang="ja-JP" sz="2400" i="1">
                              <a:solidFill>
                                <a:prstClr val="white"/>
                              </a:solidFill>
                              <a:latin typeface="Cambria Math" panose="02040503050406030204" pitchFamily="18" charset="0"/>
                              <a:ea typeface="Cambria Math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en-US" altLang="ja-JP" sz="2400" i="1">
                                  <a:solidFill>
                                    <a:prstClr val="white"/>
                                  </a:solidFill>
                                  <a:latin typeface="Cambria Math" panose="02040503050406030204" pitchFamily="18" charset="0"/>
                                  <a:ea typeface="Cambria Math"/>
                                </a:rPr>
                              </m:ctrlPr>
                            </m:sSubPr>
                            <m:e>
                              <m:r>
                                <a:rPr lang="en-US" altLang="ja-JP" sz="2400" i="1">
                                  <a:solidFill>
                                    <a:prstClr val="white"/>
                                  </a:solidFill>
                                  <a:latin typeface="Cambria Math"/>
                                  <a:ea typeface="Cambria Math"/>
                                </a:rPr>
                                <m:t>𝑑𝑌</m:t>
                              </m:r>
                            </m:e>
                            <m:sub>
                              <m:r>
                                <a:rPr lang="en-US" altLang="ja-JP" sz="2400" i="1">
                                  <a:solidFill>
                                    <a:prstClr val="white"/>
                                  </a:solidFill>
                                  <a:latin typeface="Cambria Math"/>
                                  <a:ea typeface="Cambria Math"/>
                                </a:rPr>
                                <m:t>1</m:t>
                              </m:r>
                            </m:sub>
                          </m:sSub>
                        </m:e>
                        <m:sup>
                          <m:r>
                            <a:rPr lang="en-US" altLang="ja-JP" sz="2400" i="1">
                              <a:solidFill>
                                <a:prstClr val="white"/>
                              </a:solidFill>
                              <a:latin typeface="Cambria Math"/>
                              <a:ea typeface="Cambria Math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altLang="ja-JP" sz="2400" dirty="0">
                  <a:solidFill>
                    <a:prstClr val="white"/>
                  </a:solidFill>
                  <a:latin typeface="Calibri"/>
                  <a:ea typeface="Cambria Math"/>
                </a:endParaRPr>
              </a:p>
              <a:p>
                <a:endParaRPr lang="en-US" altLang="ja-JP" sz="2400" dirty="0">
                  <a:solidFill>
                    <a:prstClr val="white"/>
                  </a:solidFill>
                  <a:latin typeface="Calibri"/>
                  <a:ea typeface="Cambria Math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ja-JP" sz="2400" i="1">
                              <a:solidFill>
                                <a:prstClr val="white"/>
                              </a:solidFill>
                              <a:latin typeface="Cambria Math" panose="02040503050406030204" pitchFamily="18" charset="0"/>
                              <a:ea typeface="Cambria Math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en-US" altLang="ja-JP" sz="2400" i="1">
                                  <a:solidFill>
                                    <a:prstClr val="white"/>
                                  </a:solidFill>
                                  <a:latin typeface="Cambria Math" panose="02040503050406030204" pitchFamily="18" charset="0"/>
                                  <a:ea typeface="Cambria Math"/>
                                </a:rPr>
                              </m:ctrlPr>
                            </m:sSubPr>
                            <m:e>
                              <m:r>
                                <a:rPr lang="en-US" altLang="ja-JP" sz="2400" i="1">
                                  <a:solidFill>
                                    <a:prstClr val="white"/>
                                  </a:solidFill>
                                  <a:latin typeface="Cambria Math"/>
                                  <a:ea typeface="Cambria Math"/>
                                </a:rPr>
                                <m:t>𝑉</m:t>
                              </m:r>
                            </m:e>
                            <m:sub>
                              <m:r>
                                <a:rPr lang="en-US" altLang="ja-JP" sz="2400" i="1">
                                  <a:solidFill>
                                    <a:prstClr val="white"/>
                                  </a:solidFill>
                                  <a:latin typeface="Cambria Math"/>
                                  <a:ea typeface="Cambria Math"/>
                                </a:rPr>
                                <m:t>𝑏𝑡</m:t>
                              </m:r>
                            </m:sub>
                          </m:sSub>
                        </m:e>
                        <m:sup>
                          <m:r>
                            <a:rPr lang="en-US" altLang="ja-JP" sz="2400" i="1">
                              <a:solidFill>
                                <a:prstClr val="white"/>
                              </a:solidFill>
                              <a:latin typeface="Cambria Math"/>
                              <a:ea typeface="Cambria Math"/>
                            </a:rPr>
                            <m:t>2</m:t>
                          </m:r>
                        </m:sup>
                      </m:sSup>
                      <m:r>
                        <a:rPr lang="en-US" altLang="ja-JP" sz="2400" i="1">
                          <a:solidFill>
                            <a:prstClr val="white"/>
                          </a:solidFill>
                          <a:latin typeface="Cambria Math"/>
                          <a:ea typeface="Cambria Math"/>
                        </a:rPr>
                        <m:t>×</m:t>
                      </m:r>
                      <m:sSup>
                        <m:sSupPr>
                          <m:ctrlPr>
                            <a:rPr lang="en-US" altLang="ja-JP" sz="2400" i="1">
                              <a:solidFill>
                                <a:prstClr val="white"/>
                              </a:solidFill>
                              <a:latin typeface="Cambria Math" panose="02040503050406030204" pitchFamily="18" charset="0"/>
                              <a:ea typeface="Cambria Math"/>
                            </a:rPr>
                          </m:ctrlPr>
                        </m:sSupPr>
                        <m:e>
                          <m:r>
                            <a:rPr lang="en-US" altLang="ja-JP" sz="2400" i="1">
                              <a:solidFill>
                                <a:prstClr val="white"/>
                              </a:solidFill>
                              <a:latin typeface="Cambria Math"/>
                              <a:ea typeface="Cambria Math"/>
                            </a:rPr>
                            <m:t>𝑡</m:t>
                          </m:r>
                        </m:e>
                        <m:sup>
                          <m:r>
                            <a:rPr lang="en-US" altLang="ja-JP" sz="2400" i="1">
                              <a:solidFill>
                                <a:prstClr val="white"/>
                              </a:solidFill>
                              <a:latin typeface="Cambria Math"/>
                              <a:ea typeface="Cambria Math"/>
                            </a:rPr>
                            <m:t>2</m:t>
                          </m:r>
                        </m:sup>
                      </m:sSup>
                      <m:r>
                        <a:rPr lang="en-US" altLang="ja-JP" sz="2400" i="1">
                          <a:solidFill>
                            <a:prstClr val="white"/>
                          </a:solidFill>
                          <a:latin typeface="Cambria Math"/>
                          <a:ea typeface="Cambria Math"/>
                        </a:rPr>
                        <m:t>−</m:t>
                      </m:r>
                      <m:sSup>
                        <m:sSupPr>
                          <m:ctrlPr>
                            <a:rPr lang="en-US" altLang="ja-JP" sz="2400" i="1">
                              <a:solidFill>
                                <a:prstClr val="white"/>
                              </a:solidFill>
                              <a:latin typeface="Cambria Math" panose="02040503050406030204" pitchFamily="18" charset="0"/>
                              <a:ea typeface="Cambria Math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altLang="ja-JP" sz="2400" i="1">
                                  <a:solidFill>
                                    <a:prstClr val="white"/>
                                  </a:solidFill>
                                  <a:latin typeface="Cambria Math" panose="02040503050406030204" pitchFamily="18" charset="0"/>
                                  <a:ea typeface="Cambria Math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ja-JP" sz="2400" i="1">
                                      <a:solidFill>
                                        <a:prstClr val="white"/>
                                      </a:solidFill>
                                      <a:latin typeface="Cambria Math" panose="02040503050406030204" pitchFamily="18" charset="0"/>
                                      <a:ea typeface="Cambria Math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ja-JP" sz="2400" i="1">
                                      <a:solidFill>
                                        <a:prstClr val="white"/>
                                      </a:solidFill>
                                      <a:latin typeface="Cambria Math"/>
                                      <a:ea typeface="Cambria Math"/>
                                    </a:rPr>
                                    <m:t>𝑑𝑋</m:t>
                                  </m:r>
                                </m:e>
                                <m:sub>
                                  <m:r>
                                    <a:rPr lang="en-US" altLang="ja-JP" sz="2400" i="1">
                                      <a:solidFill>
                                        <a:prstClr val="white"/>
                                      </a:solidFill>
                                      <a:latin typeface="Cambria Math"/>
                                      <a:ea typeface="Cambria Math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en-US" altLang="ja-JP" sz="2400" i="1">
                                  <a:solidFill>
                                    <a:prstClr val="white"/>
                                  </a:solidFill>
                                  <a:latin typeface="Cambria Math"/>
                                  <a:ea typeface="Cambria Math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altLang="ja-JP" sz="2400" i="1">
                                      <a:solidFill>
                                        <a:prstClr val="white"/>
                                      </a:solidFill>
                                      <a:latin typeface="Cambria Math" panose="02040503050406030204" pitchFamily="18" charset="0"/>
                                      <a:ea typeface="Cambria Math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ja-JP" sz="2400" i="1">
                                      <a:solidFill>
                                        <a:prstClr val="white"/>
                                      </a:solidFill>
                                      <a:latin typeface="Cambria Math"/>
                                      <a:ea typeface="Cambria Math"/>
                                    </a:rPr>
                                    <m:t>𝑑𝑋</m:t>
                                  </m:r>
                                </m:e>
                                <m:sub>
                                  <m:r>
                                    <a:rPr lang="en-US" altLang="ja-JP" sz="2400" i="1">
                                      <a:solidFill>
                                        <a:prstClr val="white"/>
                                      </a:solidFill>
                                      <a:latin typeface="Cambria Math"/>
                                      <a:ea typeface="Cambria Math"/>
                                    </a:rPr>
                                    <m:t>𝑒𝑚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en-US" altLang="ja-JP" sz="2400" i="1">
                              <a:solidFill>
                                <a:prstClr val="white"/>
                              </a:solidFill>
                              <a:latin typeface="Cambria Math"/>
                              <a:ea typeface="Cambria Math"/>
                            </a:rPr>
                            <m:t>2</m:t>
                          </m:r>
                        </m:sup>
                      </m:sSup>
                      <m:r>
                        <a:rPr lang="en-US" altLang="ja-JP" sz="2400" i="1">
                          <a:solidFill>
                            <a:prstClr val="white"/>
                          </a:solidFill>
                          <a:latin typeface="Cambria Math"/>
                          <a:ea typeface="Cambria Math"/>
                        </a:rPr>
                        <m:t>−</m:t>
                      </m:r>
                      <m:sSup>
                        <m:sSupPr>
                          <m:ctrlPr>
                            <a:rPr lang="en-US" altLang="ja-JP" sz="2400" i="1">
                              <a:solidFill>
                                <a:prstClr val="white"/>
                              </a:solidFill>
                              <a:latin typeface="Cambria Math" panose="02040503050406030204" pitchFamily="18" charset="0"/>
                              <a:ea typeface="Cambria Math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altLang="ja-JP" sz="2400" i="1">
                                  <a:solidFill>
                                    <a:prstClr val="white"/>
                                  </a:solidFill>
                                  <a:latin typeface="Cambria Math" panose="02040503050406030204" pitchFamily="18" charset="0"/>
                                  <a:ea typeface="Cambria Math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ja-JP" sz="2400" i="1">
                                      <a:solidFill>
                                        <a:prstClr val="white"/>
                                      </a:solidFill>
                                      <a:latin typeface="Cambria Math" panose="02040503050406030204" pitchFamily="18" charset="0"/>
                                      <a:ea typeface="Cambria Math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ja-JP" sz="2400" i="1">
                                      <a:solidFill>
                                        <a:prstClr val="white"/>
                                      </a:solidFill>
                                      <a:latin typeface="Cambria Math"/>
                                      <a:ea typeface="Cambria Math"/>
                                    </a:rPr>
                                    <m:t>𝑑𝑌</m:t>
                                  </m:r>
                                </m:e>
                                <m:sub>
                                  <m:r>
                                    <a:rPr lang="en-US" altLang="ja-JP" sz="2400" i="1">
                                      <a:solidFill>
                                        <a:prstClr val="white"/>
                                      </a:solidFill>
                                      <a:latin typeface="Cambria Math"/>
                                      <a:ea typeface="Cambria Math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en-US" altLang="ja-JP" sz="2400" i="1">
                                  <a:solidFill>
                                    <a:prstClr val="white"/>
                                  </a:solidFill>
                                  <a:latin typeface="Cambria Math"/>
                                  <a:ea typeface="Cambria Math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altLang="ja-JP" sz="2400" i="1">
                                      <a:solidFill>
                                        <a:prstClr val="white"/>
                                      </a:solidFill>
                                      <a:latin typeface="Cambria Math" panose="02040503050406030204" pitchFamily="18" charset="0"/>
                                      <a:ea typeface="Cambria Math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ja-JP" sz="2400" i="1">
                                      <a:solidFill>
                                        <a:prstClr val="white"/>
                                      </a:solidFill>
                                      <a:latin typeface="Cambria Math"/>
                                      <a:ea typeface="Cambria Math"/>
                                    </a:rPr>
                                    <m:t>𝑑𝑌</m:t>
                                  </m:r>
                                </m:e>
                                <m:sub>
                                  <m:r>
                                    <a:rPr lang="en-US" altLang="ja-JP" sz="2400" i="1">
                                      <a:solidFill>
                                        <a:prstClr val="white"/>
                                      </a:solidFill>
                                      <a:latin typeface="Cambria Math"/>
                                      <a:ea typeface="Cambria Math"/>
                                    </a:rPr>
                                    <m:t>𝑒𝑚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en-US" altLang="ja-JP" sz="2400" i="1">
                              <a:solidFill>
                                <a:prstClr val="white"/>
                              </a:solidFill>
                              <a:latin typeface="Cambria Math"/>
                              <a:ea typeface="Cambria Math"/>
                            </a:rPr>
                            <m:t>2</m:t>
                          </m:r>
                        </m:sup>
                      </m:sSup>
                      <m:r>
                        <a:rPr lang="en-US" altLang="ja-JP" sz="2400" i="1">
                          <a:solidFill>
                            <a:prstClr val="white"/>
                          </a:solidFill>
                          <a:latin typeface="Cambria Math"/>
                          <a:ea typeface="Cambria Math"/>
                        </a:rPr>
                        <m:t>=0</m:t>
                      </m:r>
                    </m:oMath>
                  </m:oMathPara>
                </a14:m>
                <a:endParaRPr lang="en-US" altLang="ja-JP" sz="2400" dirty="0">
                  <a:solidFill>
                    <a:prstClr val="white"/>
                  </a:solidFill>
                  <a:latin typeface="Calibri"/>
                  <a:ea typeface="Cambria Math"/>
                </a:endParaRPr>
              </a:p>
              <a:p>
                <a:endParaRPr lang="en-US" altLang="ja-JP" sz="2400" dirty="0">
                  <a:solidFill>
                    <a:prstClr val="white"/>
                  </a:solidFill>
                  <a:latin typeface="Calibri"/>
                  <a:ea typeface="Cambria Math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ja-JP" sz="2400" i="1">
                              <a:solidFill>
                                <a:prstClr val="white"/>
                              </a:solidFill>
                              <a:latin typeface="Cambria Math" panose="02040503050406030204" pitchFamily="18" charset="0"/>
                              <a:ea typeface="Cambria Math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en-US" altLang="ja-JP" sz="2400" i="1">
                                  <a:solidFill>
                                    <a:prstClr val="white"/>
                                  </a:solidFill>
                                  <a:latin typeface="Cambria Math" panose="02040503050406030204" pitchFamily="18" charset="0"/>
                                  <a:ea typeface="Cambria Math"/>
                                </a:rPr>
                              </m:ctrlPr>
                            </m:sSubPr>
                            <m:e>
                              <m:r>
                                <a:rPr lang="en-US" altLang="ja-JP" sz="2400" i="1">
                                  <a:solidFill>
                                    <a:prstClr val="white"/>
                                  </a:solidFill>
                                  <a:latin typeface="Cambria Math"/>
                                  <a:ea typeface="Cambria Math"/>
                                </a:rPr>
                                <m:t>𝑉</m:t>
                              </m:r>
                            </m:e>
                            <m:sub>
                              <m:r>
                                <a:rPr lang="en-US" altLang="ja-JP" sz="2400" i="1">
                                  <a:solidFill>
                                    <a:prstClr val="white"/>
                                  </a:solidFill>
                                  <a:latin typeface="Cambria Math"/>
                                  <a:ea typeface="Cambria Math"/>
                                </a:rPr>
                                <m:t>𝑏𝑡</m:t>
                              </m:r>
                            </m:sub>
                          </m:sSub>
                        </m:e>
                        <m:sup>
                          <m:r>
                            <a:rPr lang="en-US" altLang="ja-JP" sz="2400" i="1">
                              <a:solidFill>
                                <a:prstClr val="white"/>
                              </a:solidFill>
                              <a:latin typeface="Cambria Math"/>
                              <a:ea typeface="Cambria Math"/>
                            </a:rPr>
                            <m:t>2</m:t>
                          </m:r>
                        </m:sup>
                      </m:sSup>
                      <m:r>
                        <a:rPr lang="en-US" altLang="ja-JP" sz="2400" i="1">
                          <a:solidFill>
                            <a:prstClr val="white"/>
                          </a:solidFill>
                          <a:latin typeface="Cambria Math"/>
                          <a:ea typeface="Cambria Math"/>
                        </a:rPr>
                        <m:t>×</m:t>
                      </m:r>
                      <m:sSup>
                        <m:sSupPr>
                          <m:ctrlPr>
                            <a:rPr lang="en-US" altLang="ja-JP" sz="2400" i="1">
                              <a:solidFill>
                                <a:prstClr val="white"/>
                              </a:solidFill>
                              <a:latin typeface="Cambria Math" panose="02040503050406030204" pitchFamily="18" charset="0"/>
                              <a:ea typeface="Cambria Math"/>
                            </a:rPr>
                          </m:ctrlPr>
                        </m:sSupPr>
                        <m:e>
                          <m:r>
                            <a:rPr lang="en-US" altLang="ja-JP" sz="2400" i="1">
                              <a:solidFill>
                                <a:prstClr val="white"/>
                              </a:solidFill>
                              <a:latin typeface="Cambria Math"/>
                              <a:ea typeface="Cambria Math"/>
                            </a:rPr>
                            <m:t>𝑡</m:t>
                          </m:r>
                        </m:e>
                        <m:sup>
                          <m:r>
                            <a:rPr lang="en-US" altLang="ja-JP" sz="2400" i="1">
                              <a:solidFill>
                                <a:prstClr val="white"/>
                              </a:solidFill>
                              <a:latin typeface="Cambria Math"/>
                              <a:ea typeface="Cambria Math"/>
                            </a:rPr>
                            <m:t>2</m:t>
                          </m:r>
                        </m:sup>
                      </m:sSup>
                      <m:r>
                        <a:rPr lang="en-US" altLang="ja-JP" sz="2400" i="1">
                          <a:solidFill>
                            <a:prstClr val="white"/>
                          </a:solidFill>
                          <a:latin typeface="Cambria Math"/>
                          <a:ea typeface="Cambria Math"/>
                        </a:rPr>
                        <m:t>−</m:t>
                      </m:r>
                      <m:sSup>
                        <m:sSupPr>
                          <m:ctrlPr>
                            <a:rPr lang="en-US" altLang="ja-JP" sz="2400" i="1">
                              <a:solidFill>
                                <a:prstClr val="white"/>
                              </a:solidFill>
                              <a:latin typeface="Cambria Math" panose="02040503050406030204" pitchFamily="18" charset="0"/>
                              <a:ea typeface="Cambria Math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altLang="ja-JP" sz="2400" i="1">
                                  <a:solidFill>
                                    <a:prstClr val="white"/>
                                  </a:solidFill>
                                  <a:latin typeface="Cambria Math" panose="02040503050406030204" pitchFamily="18" charset="0"/>
                                  <a:ea typeface="Cambria Math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ja-JP" sz="2400" i="1">
                                      <a:solidFill>
                                        <a:prstClr val="white"/>
                                      </a:solidFill>
                                      <a:latin typeface="Cambria Math" panose="02040503050406030204" pitchFamily="18" charset="0"/>
                                      <a:ea typeface="Cambria Math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ja-JP" sz="2400" i="1">
                                      <a:solidFill>
                                        <a:prstClr val="white"/>
                                      </a:solidFill>
                                      <a:latin typeface="Cambria Math"/>
                                      <a:ea typeface="Cambria Math"/>
                                    </a:rPr>
                                    <m:t>𝑑𝑋</m:t>
                                  </m:r>
                                </m:e>
                                <m:sub>
                                  <m:r>
                                    <a:rPr lang="en-US" altLang="ja-JP" sz="2400" i="1">
                                      <a:solidFill>
                                        <a:prstClr val="white"/>
                                      </a:solidFill>
                                      <a:latin typeface="Cambria Math"/>
                                      <a:ea typeface="Cambria Math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en-US" altLang="ja-JP" sz="2400" i="1">
                                  <a:solidFill>
                                    <a:prstClr val="white"/>
                                  </a:solidFill>
                                  <a:latin typeface="Cambria Math"/>
                                  <a:ea typeface="Cambria Math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altLang="ja-JP" sz="2400" i="1">
                                      <a:solidFill>
                                        <a:prstClr val="white"/>
                                      </a:solidFill>
                                      <a:latin typeface="Cambria Math" panose="02040503050406030204" pitchFamily="18" charset="0"/>
                                      <a:ea typeface="Cambria Math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ja-JP" sz="2400" i="1">
                                      <a:solidFill>
                                        <a:prstClr val="white"/>
                                      </a:solidFill>
                                      <a:latin typeface="Cambria Math"/>
                                      <a:ea typeface="Cambria Math"/>
                                    </a:rPr>
                                    <m:t>𝑉</m:t>
                                  </m:r>
                                </m:e>
                                <m:sub>
                                  <m:r>
                                    <a:rPr lang="en-US" altLang="ja-JP" sz="2400" i="1">
                                      <a:solidFill>
                                        <a:prstClr val="white"/>
                                      </a:solidFill>
                                      <a:latin typeface="Cambria Math"/>
                                      <a:ea typeface="Cambria Math"/>
                                    </a:rPr>
                                    <m:t>𝑒𝑚</m:t>
                                  </m:r>
                                </m:sub>
                              </m:sSub>
                              <m:r>
                                <a:rPr lang="en-US" altLang="ja-JP" sz="2400" i="1">
                                  <a:solidFill>
                                    <a:prstClr val="white"/>
                                  </a:solidFill>
                                  <a:latin typeface="Cambria Math"/>
                                  <a:ea typeface="Cambria Math"/>
                                </a:rPr>
                                <m:t>×</m:t>
                              </m:r>
                              <m:r>
                                <a:rPr lang="en-US" altLang="ja-JP" sz="2400" i="1">
                                  <a:solidFill>
                                    <a:prstClr val="white"/>
                                  </a:solidFill>
                                  <a:latin typeface="Cambria Math"/>
                                  <a:ea typeface="Cambria Math"/>
                                </a:rPr>
                                <m:t>𝑡</m:t>
                              </m:r>
                              <m:r>
                                <a:rPr lang="en-US" altLang="ja-JP" sz="2400" i="1">
                                  <a:solidFill>
                                    <a:prstClr val="white"/>
                                  </a:solidFill>
                                  <a:latin typeface="Cambria Math"/>
                                  <a:ea typeface="Cambria Math"/>
                                </a:rPr>
                                <m:t>×</m:t>
                              </m:r>
                              <m:func>
                                <m:funcPr>
                                  <m:ctrlPr>
                                    <a:rPr lang="en-US" altLang="ja-JP" sz="2400" i="1">
                                      <a:solidFill>
                                        <a:prstClr val="white"/>
                                      </a:solidFill>
                                      <a:latin typeface="Cambria Math" panose="02040503050406030204" pitchFamily="18" charset="0"/>
                                      <a:ea typeface="Cambria Math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altLang="ja-JP" sz="2400">
                                      <a:solidFill>
                                        <a:prstClr val="white"/>
                                      </a:solidFill>
                                      <a:latin typeface="Cambria Math"/>
                                      <a:ea typeface="Cambria Math"/>
                                    </a:rPr>
                                    <m:t>cos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altLang="ja-JP" sz="2400" i="1">
                                          <a:solidFill>
                                            <a:prstClr val="white"/>
                                          </a:solidFill>
                                          <a:latin typeface="Cambria Math" panose="02040503050406030204" pitchFamily="18" charset="0"/>
                                          <a:ea typeface="Cambria Math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altLang="ja-JP" sz="2400" i="1">
                                              <a:solidFill>
                                                <a:prstClr val="white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ja-JP" altLang="en-US" sz="2400" i="1">
                                              <a:solidFill>
                                                <a:prstClr val="white"/>
                                              </a:solidFill>
                                              <a:latin typeface="Cambria Math"/>
                                              <a:ea typeface="Cambria Math"/>
                                            </a:rPr>
                                            <m:t>𝜃</m:t>
                                          </m:r>
                                        </m:e>
                                        <m:sub>
                                          <m:r>
                                            <a:rPr lang="en-US" altLang="ja-JP" sz="2400" i="1">
                                              <a:solidFill>
                                                <a:prstClr val="white"/>
                                              </a:solidFill>
                                              <a:latin typeface="Cambria Math"/>
                                              <a:ea typeface="Cambria Math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func>
                            </m:e>
                          </m:d>
                        </m:e>
                        <m:sup>
                          <m:r>
                            <a:rPr lang="en-US" altLang="ja-JP" sz="2400" i="1">
                              <a:solidFill>
                                <a:prstClr val="white"/>
                              </a:solidFill>
                              <a:latin typeface="Cambria Math"/>
                              <a:ea typeface="Cambria Math"/>
                            </a:rPr>
                            <m:t>2</m:t>
                          </m:r>
                        </m:sup>
                      </m:sSup>
                      <m:r>
                        <a:rPr lang="en-US" altLang="ja-JP" sz="2400" i="1">
                          <a:solidFill>
                            <a:prstClr val="white"/>
                          </a:solidFill>
                          <a:latin typeface="Cambria Math"/>
                          <a:ea typeface="Cambria Math"/>
                        </a:rPr>
                        <m:t>−</m:t>
                      </m:r>
                      <m:sSup>
                        <m:sSupPr>
                          <m:ctrlPr>
                            <a:rPr lang="en-US" altLang="ja-JP" sz="2400" i="1">
                              <a:solidFill>
                                <a:prstClr val="white"/>
                              </a:solidFill>
                              <a:latin typeface="Cambria Math" panose="02040503050406030204" pitchFamily="18" charset="0"/>
                              <a:ea typeface="Cambria Math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altLang="ja-JP" sz="2400" i="1">
                                  <a:solidFill>
                                    <a:prstClr val="white"/>
                                  </a:solidFill>
                                  <a:latin typeface="Cambria Math" panose="02040503050406030204" pitchFamily="18" charset="0"/>
                                  <a:ea typeface="Cambria Math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ja-JP" sz="2400" i="1">
                                      <a:solidFill>
                                        <a:prstClr val="white"/>
                                      </a:solidFill>
                                      <a:latin typeface="Cambria Math" panose="02040503050406030204" pitchFamily="18" charset="0"/>
                                      <a:ea typeface="Cambria Math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ja-JP" sz="2400" i="1">
                                      <a:solidFill>
                                        <a:prstClr val="white"/>
                                      </a:solidFill>
                                      <a:latin typeface="Cambria Math"/>
                                      <a:ea typeface="Cambria Math"/>
                                    </a:rPr>
                                    <m:t>𝑑𝑌</m:t>
                                  </m:r>
                                </m:e>
                                <m:sub>
                                  <m:r>
                                    <a:rPr lang="en-US" altLang="ja-JP" sz="2400" i="1">
                                      <a:solidFill>
                                        <a:prstClr val="white"/>
                                      </a:solidFill>
                                      <a:latin typeface="Cambria Math"/>
                                      <a:ea typeface="Cambria Math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en-US" altLang="ja-JP" sz="2400" i="1">
                                  <a:solidFill>
                                    <a:prstClr val="white"/>
                                  </a:solidFill>
                                  <a:latin typeface="Cambria Math"/>
                                  <a:ea typeface="Cambria Math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altLang="ja-JP" sz="2400" i="1">
                                      <a:solidFill>
                                        <a:prstClr val="white"/>
                                      </a:solidFill>
                                      <a:latin typeface="Cambria Math" panose="02040503050406030204" pitchFamily="18" charset="0"/>
                                      <a:ea typeface="Cambria Math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ja-JP" sz="2400" i="1">
                                      <a:solidFill>
                                        <a:prstClr val="white"/>
                                      </a:solidFill>
                                      <a:latin typeface="Cambria Math"/>
                                      <a:ea typeface="Cambria Math"/>
                                    </a:rPr>
                                    <m:t>𝑉</m:t>
                                  </m:r>
                                </m:e>
                                <m:sub>
                                  <m:r>
                                    <a:rPr lang="en-US" altLang="ja-JP" sz="2400" i="1">
                                      <a:solidFill>
                                        <a:prstClr val="white"/>
                                      </a:solidFill>
                                      <a:latin typeface="Cambria Math"/>
                                      <a:ea typeface="Cambria Math"/>
                                    </a:rPr>
                                    <m:t>𝑒𝑚</m:t>
                                  </m:r>
                                </m:sub>
                              </m:sSub>
                              <m:r>
                                <a:rPr lang="en-US" altLang="ja-JP" sz="2400" i="1">
                                  <a:solidFill>
                                    <a:prstClr val="white"/>
                                  </a:solidFill>
                                  <a:latin typeface="Cambria Math"/>
                                  <a:ea typeface="Cambria Math"/>
                                </a:rPr>
                                <m:t>×</m:t>
                              </m:r>
                              <m:r>
                                <a:rPr lang="en-US" altLang="ja-JP" sz="2400" i="1">
                                  <a:solidFill>
                                    <a:prstClr val="white"/>
                                  </a:solidFill>
                                  <a:latin typeface="Cambria Math"/>
                                  <a:ea typeface="Cambria Math"/>
                                </a:rPr>
                                <m:t>𝑡</m:t>
                              </m:r>
                              <m:r>
                                <a:rPr lang="en-US" altLang="ja-JP" sz="2400" i="1">
                                  <a:solidFill>
                                    <a:prstClr val="white"/>
                                  </a:solidFill>
                                  <a:latin typeface="Cambria Math"/>
                                  <a:ea typeface="Cambria Math"/>
                                </a:rPr>
                                <m:t>×</m:t>
                              </m:r>
                              <m:func>
                                <m:funcPr>
                                  <m:ctrlPr>
                                    <a:rPr lang="en-US" altLang="ja-JP" sz="2400" i="1">
                                      <a:solidFill>
                                        <a:prstClr val="white"/>
                                      </a:solidFill>
                                      <a:latin typeface="Cambria Math" panose="02040503050406030204" pitchFamily="18" charset="0"/>
                                      <a:ea typeface="Cambria Math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altLang="ja-JP" sz="2400">
                                      <a:solidFill>
                                        <a:prstClr val="white"/>
                                      </a:solidFill>
                                      <a:latin typeface="Cambria Math"/>
                                      <a:ea typeface="Cambria Math"/>
                                    </a:rPr>
                                    <m:t>sin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altLang="ja-JP" sz="2400" i="1">
                                          <a:solidFill>
                                            <a:prstClr val="white"/>
                                          </a:solidFill>
                                          <a:latin typeface="Cambria Math" panose="02040503050406030204" pitchFamily="18" charset="0"/>
                                          <a:ea typeface="Cambria Math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altLang="ja-JP" sz="2400" i="1">
                                              <a:solidFill>
                                                <a:prstClr val="white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ja-JP" altLang="en-US" sz="2400" i="1">
                                              <a:solidFill>
                                                <a:prstClr val="white"/>
                                              </a:solidFill>
                                              <a:latin typeface="Cambria Math"/>
                                              <a:ea typeface="Cambria Math"/>
                                            </a:rPr>
                                            <m:t>𝜃</m:t>
                                          </m:r>
                                        </m:e>
                                        <m:sub>
                                          <m:r>
                                            <a:rPr lang="en-US" altLang="ja-JP" sz="2400" i="1">
                                              <a:solidFill>
                                                <a:prstClr val="white"/>
                                              </a:solidFill>
                                              <a:latin typeface="Cambria Math"/>
                                              <a:ea typeface="Cambria Math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func>
                            </m:e>
                          </m:d>
                        </m:e>
                        <m:sup>
                          <m:r>
                            <a:rPr lang="en-US" altLang="ja-JP" sz="2400" i="1">
                              <a:solidFill>
                                <a:prstClr val="white"/>
                              </a:solidFill>
                              <a:latin typeface="Cambria Math"/>
                              <a:ea typeface="Cambria Math"/>
                            </a:rPr>
                            <m:t>2</m:t>
                          </m:r>
                        </m:sup>
                      </m:sSup>
                      <m:r>
                        <a:rPr lang="en-US" altLang="ja-JP" sz="2400" i="1">
                          <a:solidFill>
                            <a:prstClr val="white"/>
                          </a:solidFill>
                          <a:latin typeface="Cambria Math"/>
                          <a:ea typeface="Cambria Math"/>
                        </a:rPr>
                        <m:t>=0</m:t>
                      </m:r>
                    </m:oMath>
                  </m:oMathPara>
                </a14:m>
                <a:endParaRPr lang="en-US" altLang="ja-JP" sz="2400" dirty="0">
                  <a:solidFill>
                    <a:prstClr val="white"/>
                  </a:solidFill>
                  <a:latin typeface="Calibri"/>
                  <a:ea typeface="Cambria Math"/>
                </a:endParaRPr>
              </a:p>
              <a:p>
                <a:endParaRPr lang="en-US" altLang="ja-JP" sz="2400" dirty="0">
                  <a:solidFill>
                    <a:prstClr val="white"/>
                  </a:solidFill>
                  <a:latin typeface="Calibri"/>
                  <a:ea typeface="Cambria Math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ja-JP" sz="2400" i="1">
                              <a:solidFill>
                                <a:prstClr val="white"/>
                              </a:solidFill>
                              <a:latin typeface="Cambria Math" panose="02040503050406030204" pitchFamily="18" charset="0"/>
                              <a:ea typeface="Cambria Math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altLang="ja-JP" sz="2400" i="1">
                                  <a:solidFill>
                                    <a:prstClr val="white"/>
                                  </a:solidFill>
                                  <a:latin typeface="Cambria Math" panose="02040503050406030204" pitchFamily="18" charset="0"/>
                                  <a:ea typeface="Cambria Math"/>
                                </a:rPr>
                              </m:ctrlPr>
                            </m:sSupPr>
                            <m:e>
                              <m:sSub>
                                <m:sSubPr>
                                  <m:ctrlPr>
                                    <a:rPr lang="en-US" altLang="ja-JP" sz="2400" i="1">
                                      <a:solidFill>
                                        <a:prstClr val="white"/>
                                      </a:solidFill>
                                      <a:latin typeface="Cambria Math" panose="02040503050406030204" pitchFamily="18" charset="0"/>
                                      <a:ea typeface="Cambria Math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ja-JP" sz="2400" i="1">
                                      <a:solidFill>
                                        <a:prstClr val="white"/>
                                      </a:solidFill>
                                      <a:latin typeface="Cambria Math"/>
                                      <a:ea typeface="Cambria Math"/>
                                    </a:rPr>
                                    <m:t>𝑉</m:t>
                                  </m:r>
                                </m:e>
                                <m:sub>
                                  <m:r>
                                    <a:rPr lang="en-US" altLang="ja-JP" sz="2400" i="1">
                                      <a:solidFill>
                                        <a:prstClr val="white"/>
                                      </a:solidFill>
                                      <a:latin typeface="Cambria Math"/>
                                      <a:ea typeface="Cambria Math"/>
                                    </a:rPr>
                                    <m:t>𝑏𝑡</m:t>
                                  </m:r>
                                </m:sub>
                              </m:sSub>
                            </m:e>
                            <m:sup>
                              <m:r>
                                <a:rPr lang="en-US" altLang="ja-JP" sz="2400" i="1">
                                  <a:solidFill>
                                    <a:prstClr val="white"/>
                                  </a:solidFill>
                                  <a:latin typeface="Cambria Math"/>
                                  <a:ea typeface="Cambria Math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altLang="ja-JP" sz="2400" i="1">
                              <a:solidFill>
                                <a:prstClr val="white"/>
                              </a:solidFill>
                              <a:latin typeface="Cambria Math"/>
                              <a:ea typeface="Cambria Math"/>
                            </a:rPr>
                            <m:t>−</m:t>
                          </m:r>
                          <m:sSup>
                            <m:sSupPr>
                              <m:ctrlPr>
                                <a:rPr lang="en-US" altLang="ja-JP" sz="2400" i="1">
                                  <a:solidFill>
                                    <a:prstClr val="white"/>
                                  </a:solidFill>
                                  <a:latin typeface="Cambria Math" panose="02040503050406030204" pitchFamily="18" charset="0"/>
                                  <a:ea typeface="Cambria Math"/>
                                </a:rPr>
                              </m:ctrlPr>
                            </m:sSupPr>
                            <m:e>
                              <m:sSub>
                                <m:sSubPr>
                                  <m:ctrlPr>
                                    <a:rPr lang="en-US" altLang="ja-JP" sz="2400" i="1">
                                      <a:solidFill>
                                        <a:prstClr val="white"/>
                                      </a:solidFill>
                                      <a:latin typeface="Cambria Math" panose="02040503050406030204" pitchFamily="18" charset="0"/>
                                      <a:ea typeface="Cambria Math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ja-JP" sz="2400" i="1">
                                      <a:solidFill>
                                        <a:prstClr val="white"/>
                                      </a:solidFill>
                                      <a:latin typeface="Cambria Math"/>
                                      <a:ea typeface="Cambria Math"/>
                                    </a:rPr>
                                    <m:t>𝑉</m:t>
                                  </m:r>
                                </m:e>
                                <m:sub>
                                  <m:r>
                                    <a:rPr lang="en-US" altLang="ja-JP" sz="2400" i="1">
                                      <a:solidFill>
                                        <a:prstClr val="white"/>
                                      </a:solidFill>
                                      <a:latin typeface="Cambria Math"/>
                                      <a:ea typeface="Cambria Math"/>
                                    </a:rPr>
                                    <m:t>𝑒𝑚</m:t>
                                  </m:r>
                                </m:sub>
                              </m:sSub>
                            </m:e>
                            <m:sup>
                              <m:r>
                                <a:rPr lang="en-US" altLang="ja-JP" sz="2400" i="1">
                                  <a:solidFill>
                                    <a:prstClr val="white"/>
                                  </a:solidFill>
                                  <a:latin typeface="Cambria Math"/>
                                  <a:ea typeface="Cambria Math"/>
                                </a:rPr>
                                <m:t>2</m:t>
                              </m:r>
                            </m:sup>
                          </m:sSup>
                          <m:sSup>
                            <m:sSupPr>
                              <m:ctrlPr>
                                <a:rPr lang="en-US" altLang="ja-JP" sz="2400" i="1">
                                  <a:solidFill>
                                    <a:prstClr val="white"/>
                                  </a:solidFill>
                                  <a:latin typeface="Cambria Math" panose="02040503050406030204" pitchFamily="18" charset="0"/>
                                  <a:ea typeface="Cambria Math"/>
                                </a:rPr>
                              </m:ctrlPr>
                            </m:sSupPr>
                            <m:e>
                              <m:r>
                                <a:rPr lang="en-US" altLang="ja-JP" sz="2400" i="1">
                                  <a:solidFill>
                                    <a:prstClr val="white"/>
                                  </a:solidFill>
                                  <a:latin typeface="Cambria Math"/>
                                  <a:ea typeface="Cambria Math"/>
                                </a:rPr>
                                <m:t>𝑐𝑜𝑠</m:t>
                              </m:r>
                            </m:e>
                            <m:sup>
                              <m:r>
                                <a:rPr lang="en-US" altLang="ja-JP" sz="2400" i="1">
                                  <a:solidFill>
                                    <a:prstClr val="white"/>
                                  </a:solidFill>
                                  <a:latin typeface="Cambria Math"/>
                                  <a:ea typeface="Cambria Math"/>
                                </a:rPr>
                                <m:t>2</m:t>
                              </m:r>
                            </m:sup>
                          </m:sSup>
                          <m:d>
                            <m:dPr>
                              <m:ctrlPr>
                                <a:rPr lang="en-US" altLang="ja-JP" sz="2400" i="1">
                                  <a:solidFill>
                                    <a:prstClr val="white"/>
                                  </a:solidFill>
                                  <a:latin typeface="Cambria Math" panose="02040503050406030204" pitchFamily="18" charset="0"/>
                                  <a:ea typeface="Cambria Math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ja-JP" sz="2400" i="1">
                                      <a:solidFill>
                                        <a:prstClr val="white"/>
                                      </a:solidFill>
                                      <a:latin typeface="Cambria Math" panose="02040503050406030204" pitchFamily="18" charset="0"/>
                                      <a:ea typeface="Cambria Math"/>
                                    </a:rPr>
                                  </m:ctrlPr>
                                </m:sSubPr>
                                <m:e>
                                  <m:r>
                                    <a:rPr lang="ja-JP" altLang="en-US" sz="2400" i="1">
                                      <a:solidFill>
                                        <a:prstClr val="white"/>
                                      </a:solidFill>
                                      <a:latin typeface="Cambria Math"/>
                                      <a:ea typeface="Cambria Math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lang="en-US" altLang="ja-JP" sz="2400" i="1">
                                      <a:solidFill>
                                        <a:prstClr val="white"/>
                                      </a:solidFill>
                                      <a:latin typeface="Cambria Math"/>
                                      <a:ea typeface="Cambria Math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  <m:r>
                            <a:rPr lang="en-US" altLang="ja-JP" sz="2400" i="1">
                              <a:solidFill>
                                <a:prstClr val="white"/>
                              </a:solidFill>
                              <a:latin typeface="Cambria Math"/>
                              <a:ea typeface="Cambria Math"/>
                            </a:rPr>
                            <m:t>−</m:t>
                          </m:r>
                          <m:sSup>
                            <m:sSupPr>
                              <m:ctrlPr>
                                <a:rPr lang="en-US" altLang="ja-JP" sz="2400" i="1">
                                  <a:solidFill>
                                    <a:prstClr val="white"/>
                                  </a:solidFill>
                                  <a:latin typeface="Cambria Math" panose="02040503050406030204" pitchFamily="18" charset="0"/>
                                  <a:ea typeface="Cambria Math"/>
                                </a:rPr>
                              </m:ctrlPr>
                            </m:sSupPr>
                            <m:e>
                              <m:sSub>
                                <m:sSubPr>
                                  <m:ctrlPr>
                                    <a:rPr lang="en-US" altLang="ja-JP" sz="2400" i="1">
                                      <a:solidFill>
                                        <a:prstClr val="white"/>
                                      </a:solidFill>
                                      <a:latin typeface="Cambria Math" panose="02040503050406030204" pitchFamily="18" charset="0"/>
                                      <a:ea typeface="Cambria Math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ja-JP" sz="2400" i="1">
                                      <a:solidFill>
                                        <a:prstClr val="white"/>
                                      </a:solidFill>
                                      <a:latin typeface="Cambria Math"/>
                                      <a:ea typeface="Cambria Math"/>
                                    </a:rPr>
                                    <m:t>𝑉</m:t>
                                  </m:r>
                                </m:e>
                                <m:sub>
                                  <m:r>
                                    <a:rPr lang="en-US" altLang="ja-JP" sz="2400" i="1">
                                      <a:solidFill>
                                        <a:prstClr val="white"/>
                                      </a:solidFill>
                                      <a:latin typeface="Cambria Math"/>
                                      <a:ea typeface="Cambria Math"/>
                                    </a:rPr>
                                    <m:t>𝑒𝑚</m:t>
                                  </m:r>
                                </m:sub>
                              </m:sSub>
                            </m:e>
                            <m:sup>
                              <m:r>
                                <a:rPr lang="en-US" altLang="ja-JP" sz="2400" i="1">
                                  <a:solidFill>
                                    <a:prstClr val="white"/>
                                  </a:solidFill>
                                  <a:latin typeface="Cambria Math"/>
                                  <a:ea typeface="Cambria Math"/>
                                </a:rPr>
                                <m:t>2</m:t>
                              </m:r>
                            </m:sup>
                          </m:sSup>
                          <m:sSup>
                            <m:sSupPr>
                              <m:ctrlPr>
                                <a:rPr lang="en-US" altLang="ja-JP" sz="2400" i="1">
                                  <a:solidFill>
                                    <a:prstClr val="white"/>
                                  </a:solidFill>
                                  <a:latin typeface="Cambria Math" panose="02040503050406030204" pitchFamily="18" charset="0"/>
                                  <a:ea typeface="Cambria Math"/>
                                </a:rPr>
                              </m:ctrlPr>
                            </m:sSupPr>
                            <m:e>
                              <m:r>
                                <a:rPr lang="en-US" altLang="ja-JP" sz="2400" i="1">
                                  <a:solidFill>
                                    <a:prstClr val="white"/>
                                  </a:solidFill>
                                  <a:latin typeface="Cambria Math"/>
                                  <a:ea typeface="Cambria Math"/>
                                </a:rPr>
                                <m:t>𝑠𝑖𝑛</m:t>
                              </m:r>
                            </m:e>
                            <m:sup>
                              <m:r>
                                <a:rPr lang="en-US" altLang="ja-JP" sz="2400" i="1">
                                  <a:solidFill>
                                    <a:prstClr val="white"/>
                                  </a:solidFill>
                                  <a:latin typeface="Cambria Math"/>
                                  <a:ea typeface="Cambria Math"/>
                                </a:rPr>
                                <m:t>2</m:t>
                              </m:r>
                            </m:sup>
                          </m:sSup>
                          <m:d>
                            <m:dPr>
                              <m:ctrlPr>
                                <a:rPr lang="en-US" altLang="ja-JP" sz="2400" i="1">
                                  <a:solidFill>
                                    <a:prstClr val="white"/>
                                  </a:solidFill>
                                  <a:latin typeface="Cambria Math" panose="02040503050406030204" pitchFamily="18" charset="0"/>
                                  <a:ea typeface="Cambria Math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ja-JP" sz="2400" i="1">
                                      <a:solidFill>
                                        <a:prstClr val="white"/>
                                      </a:solidFill>
                                      <a:latin typeface="Cambria Math" panose="02040503050406030204" pitchFamily="18" charset="0"/>
                                      <a:ea typeface="Cambria Math"/>
                                    </a:rPr>
                                  </m:ctrlPr>
                                </m:sSubPr>
                                <m:e>
                                  <m:r>
                                    <a:rPr lang="ja-JP" altLang="en-US" sz="2400" i="1">
                                      <a:solidFill>
                                        <a:prstClr val="white"/>
                                      </a:solidFill>
                                      <a:latin typeface="Cambria Math"/>
                                      <a:ea typeface="Cambria Math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lang="en-US" altLang="ja-JP" sz="2400" i="1">
                                      <a:solidFill>
                                        <a:prstClr val="white"/>
                                      </a:solidFill>
                                      <a:latin typeface="Cambria Math"/>
                                      <a:ea typeface="Cambria Math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sSup>
                        <m:sSupPr>
                          <m:ctrlPr>
                            <a:rPr lang="en-US" altLang="ja-JP" sz="2400" i="1">
                              <a:solidFill>
                                <a:prstClr val="white"/>
                              </a:solidFill>
                              <a:latin typeface="Cambria Math" panose="02040503050406030204" pitchFamily="18" charset="0"/>
                              <a:ea typeface="Cambria Math"/>
                            </a:rPr>
                          </m:ctrlPr>
                        </m:sSupPr>
                        <m:e>
                          <m:r>
                            <a:rPr lang="en-US" altLang="ja-JP" sz="2400" i="1">
                              <a:solidFill>
                                <a:prstClr val="white"/>
                              </a:solidFill>
                              <a:latin typeface="Cambria Math"/>
                              <a:ea typeface="Cambria Math"/>
                            </a:rPr>
                            <m:t>𝑡</m:t>
                          </m:r>
                        </m:e>
                        <m:sup>
                          <m:r>
                            <a:rPr lang="en-US" altLang="ja-JP" sz="2400" i="1">
                              <a:solidFill>
                                <a:prstClr val="white"/>
                              </a:solidFill>
                              <a:latin typeface="Cambria Math"/>
                              <a:ea typeface="Cambria Math"/>
                            </a:rPr>
                            <m:t>2</m:t>
                          </m:r>
                        </m:sup>
                      </m:sSup>
                      <m:r>
                        <a:rPr lang="en-US" altLang="ja-JP" sz="2400" i="1">
                          <a:solidFill>
                            <a:prstClr val="white"/>
                          </a:solidFill>
                          <a:latin typeface="Cambria Math"/>
                          <a:ea typeface="Cambria Math"/>
                        </a:rPr>
                        <m:t>+</m:t>
                      </m:r>
                      <m:d>
                        <m:dPr>
                          <m:ctrlPr>
                            <a:rPr lang="en-US" altLang="ja-JP" sz="2400" i="1">
                              <a:solidFill>
                                <a:prstClr val="white"/>
                              </a:solidFill>
                              <a:latin typeface="Cambria Math" panose="02040503050406030204" pitchFamily="18" charset="0"/>
                              <a:ea typeface="Cambria Math"/>
                            </a:rPr>
                          </m:ctrlPr>
                        </m:dPr>
                        <m:e>
                          <m:r>
                            <a:rPr lang="en-US" altLang="ja-JP" sz="2400" i="1">
                              <a:solidFill>
                                <a:prstClr val="white"/>
                              </a:solidFill>
                              <a:latin typeface="Cambria Math"/>
                              <a:ea typeface="Cambria Math"/>
                            </a:rPr>
                            <m:t>−2</m:t>
                          </m:r>
                          <m:sSub>
                            <m:sSubPr>
                              <m:ctrlPr>
                                <a:rPr lang="en-US" altLang="ja-JP" sz="2400" i="1">
                                  <a:solidFill>
                                    <a:prstClr val="white"/>
                                  </a:solidFill>
                                  <a:latin typeface="Cambria Math" panose="02040503050406030204" pitchFamily="18" charset="0"/>
                                  <a:ea typeface="Cambria Math"/>
                                </a:rPr>
                              </m:ctrlPr>
                            </m:sSubPr>
                            <m:e>
                              <m:r>
                                <a:rPr lang="en-US" altLang="ja-JP" sz="2400" i="1">
                                  <a:solidFill>
                                    <a:prstClr val="white"/>
                                  </a:solidFill>
                                  <a:latin typeface="Cambria Math"/>
                                  <a:ea typeface="Cambria Math"/>
                                </a:rPr>
                                <m:t>𝑑𝑋</m:t>
                              </m:r>
                            </m:e>
                            <m:sub>
                              <m:r>
                                <a:rPr lang="en-US" altLang="ja-JP" sz="2400" i="1">
                                  <a:solidFill>
                                    <a:prstClr val="white"/>
                                  </a:solidFill>
                                  <a:latin typeface="Cambria Math"/>
                                  <a:ea typeface="Cambria Math"/>
                                </a:rPr>
                                <m:t>0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ja-JP" sz="2400" i="1">
                                  <a:solidFill>
                                    <a:prstClr val="white"/>
                                  </a:solidFill>
                                  <a:latin typeface="Cambria Math" panose="02040503050406030204" pitchFamily="18" charset="0"/>
                                  <a:ea typeface="Cambria Math"/>
                                </a:rPr>
                              </m:ctrlPr>
                            </m:sSubPr>
                            <m:e>
                              <m:r>
                                <a:rPr lang="en-US" altLang="ja-JP" sz="2400" i="1">
                                  <a:solidFill>
                                    <a:prstClr val="white"/>
                                  </a:solidFill>
                                  <a:latin typeface="Cambria Math"/>
                                  <a:ea typeface="Cambria Math"/>
                                </a:rPr>
                                <m:t>×</m:t>
                              </m:r>
                              <m:r>
                                <a:rPr lang="en-US" altLang="ja-JP" sz="2400" i="1">
                                  <a:solidFill>
                                    <a:prstClr val="white"/>
                                  </a:solidFill>
                                  <a:latin typeface="Cambria Math"/>
                                  <a:ea typeface="Cambria Math"/>
                                </a:rPr>
                                <m:t>𝑉</m:t>
                              </m:r>
                            </m:e>
                            <m:sub>
                              <m:r>
                                <a:rPr lang="en-US" altLang="ja-JP" sz="2400" i="1">
                                  <a:solidFill>
                                    <a:prstClr val="white"/>
                                  </a:solidFill>
                                  <a:latin typeface="Cambria Math"/>
                                  <a:ea typeface="Cambria Math"/>
                                </a:rPr>
                                <m:t>𝑒𝑚</m:t>
                              </m:r>
                            </m:sub>
                          </m:sSub>
                          <m:func>
                            <m:funcPr>
                              <m:ctrlPr>
                                <a:rPr lang="en-US" altLang="ja-JP" sz="2400" i="1">
                                  <a:solidFill>
                                    <a:prstClr val="white"/>
                                  </a:solidFill>
                                  <a:latin typeface="Cambria Math" panose="02040503050406030204" pitchFamily="18" charset="0"/>
                                  <a:ea typeface="Cambria Math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altLang="ja-JP" sz="2400">
                                  <a:solidFill>
                                    <a:prstClr val="white"/>
                                  </a:solidFill>
                                  <a:latin typeface="Cambria Math"/>
                                  <a:ea typeface="Cambria Math"/>
                                </a:rPr>
                                <m:t>cos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altLang="ja-JP" sz="2400" i="1">
                                      <a:solidFill>
                                        <a:prstClr val="white"/>
                                      </a:solidFill>
                                      <a:latin typeface="Cambria Math" panose="02040503050406030204" pitchFamily="18" charset="0"/>
                                      <a:ea typeface="Cambria Math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ja-JP" sz="2400" i="1">
                                          <a:solidFill>
                                            <a:prstClr val="white"/>
                                          </a:solidFill>
                                          <a:latin typeface="Cambria Math" panose="02040503050406030204" pitchFamily="18" charset="0"/>
                                          <a:ea typeface="Cambria Math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ja-JP" altLang="en-US" sz="2400" i="1">
                                          <a:solidFill>
                                            <a:prstClr val="white"/>
                                          </a:solidFill>
                                          <a:latin typeface="Cambria Math"/>
                                          <a:ea typeface="Cambria Math"/>
                                        </a:rPr>
                                        <m:t>𝜃</m:t>
                                      </m:r>
                                    </m:e>
                                    <m:sub>
                                      <m:r>
                                        <a:rPr lang="en-US" altLang="ja-JP" sz="2400" i="1">
                                          <a:solidFill>
                                            <a:prstClr val="white"/>
                                          </a:solidFill>
                                          <a:latin typeface="Cambria Math"/>
                                          <a:ea typeface="Cambria Math"/>
                                        </a:rPr>
                                        <m:t>2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func>
                          <m:r>
                            <a:rPr lang="en-US" altLang="ja-JP" sz="2400" i="1">
                              <a:solidFill>
                                <a:prstClr val="white"/>
                              </a:solidFill>
                              <a:latin typeface="Cambria Math"/>
                              <a:ea typeface="Cambria Math"/>
                            </a:rPr>
                            <m:t>−2</m:t>
                          </m:r>
                          <m:sSub>
                            <m:sSubPr>
                              <m:ctrlPr>
                                <a:rPr lang="en-US" altLang="ja-JP" sz="2400" i="1">
                                  <a:solidFill>
                                    <a:prstClr val="white"/>
                                  </a:solidFill>
                                  <a:latin typeface="Cambria Math" panose="02040503050406030204" pitchFamily="18" charset="0"/>
                                  <a:ea typeface="Cambria Math"/>
                                </a:rPr>
                              </m:ctrlPr>
                            </m:sSubPr>
                            <m:e>
                              <m:r>
                                <a:rPr lang="en-US" altLang="ja-JP" sz="2400" i="1">
                                  <a:solidFill>
                                    <a:prstClr val="white"/>
                                  </a:solidFill>
                                  <a:latin typeface="Cambria Math"/>
                                  <a:ea typeface="Cambria Math"/>
                                </a:rPr>
                                <m:t>𝑑𝑌</m:t>
                              </m:r>
                            </m:e>
                            <m:sub>
                              <m:r>
                                <a:rPr lang="en-US" altLang="ja-JP" sz="2400" i="1">
                                  <a:solidFill>
                                    <a:prstClr val="white"/>
                                  </a:solidFill>
                                  <a:latin typeface="Cambria Math"/>
                                  <a:ea typeface="Cambria Math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altLang="ja-JP" sz="2400" i="1">
                              <a:solidFill>
                                <a:prstClr val="white"/>
                              </a:solidFill>
                              <a:latin typeface="Cambria Math"/>
                              <a:ea typeface="Cambria Math"/>
                            </a:rPr>
                            <m:t>×</m:t>
                          </m:r>
                          <m:sSub>
                            <m:sSubPr>
                              <m:ctrlPr>
                                <a:rPr lang="en-US" altLang="ja-JP" sz="2400" i="1">
                                  <a:solidFill>
                                    <a:prstClr val="white"/>
                                  </a:solidFill>
                                  <a:latin typeface="Cambria Math" panose="02040503050406030204" pitchFamily="18" charset="0"/>
                                  <a:ea typeface="Cambria Math"/>
                                </a:rPr>
                              </m:ctrlPr>
                            </m:sSubPr>
                            <m:e>
                              <m:r>
                                <a:rPr lang="en-US" altLang="ja-JP" sz="2400" i="1">
                                  <a:solidFill>
                                    <a:prstClr val="white"/>
                                  </a:solidFill>
                                  <a:latin typeface="Cambria Math"/>
                                  <a:ea typeface="Cambria Math"/>
                                </a:rPr>
                                <m:t>𝑉</m:t>
                              </m:r>
                            </m:e>
                            <m:sub>
                              <m:r>
                                <a:rPr lang="en-US" altLang="ja-JP" sz="2400" i="1">
                                  <a:solidFill>
                                    <a:prstClr val="white"/>
                                  </a:solidFill>
                                  <a:latin typeface="Cambria Math"/>
                                  <a:ea typeface="Cambria Math"/>
                                </a:rPr>
                                <m:t>𝑒𝑚</m:t>
                              </m:r>
                            </m:sub>
                          </m:sSub>
                          <m:func>
                            <m:funcPr>
                              <m:ctrlPr>
                                <a:rPr lang="en-US" altLang="ja-JP" sz="2400" i="1">
                                  <a:solidFill>
                                    <a:prstClr val="white"/>
                                  </a:solidFill>
                                  <a:latin typeface="Cambria Math" panose="02040503050406030204" pitchFamily="18" charset="0"/>
                                  <a:ea typeface="Cambria Math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altLang="ja-JP" sz="2400">
                                  <a:solidFill>
                                    <a:prstClr val="white"/>
                                  </a:solidFill>
                                  <a:latin typeface="Cambria Math"/>
                                  <a:ea typeface="Cambria Math"/>
                                </a:rPr>
                                <m:t>sin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altLang="ja-JP" sz="2400" i="1">
                                      <a:solidFill>
                                        <a:prstClr val="white"/>
                                      </a:solidFill>
                                      <a:latin typeface="Cambria Math" panose="02040503050406030204" pitchFamily="18" charset="0"/>
                                      <a:ea typeface="Cambria Math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ja-JP" sz="2400" i="1">
                                          <a:solidFill>
                                            <a:prstClr val="white"/>
                                          </a:solidFill>
                                          <a:latin typeface="Cambria Math" panose="02040503050406030204" pitchFamily="18" charset="0"/>
                                          <a:ea typeface="Cambria Math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ja-JP" altLang="en-US" sz="2400" i="1">
                                          <a:solidFill>
                                            <a:prstClr val="white"/>
                                          </a:solidFill>
                                          <a:latin typeface="Cambria Math"/>
                                          <a:ea typeface="Cambria Math"/>
                                        </a:rPr>
                                        <m:t>𝜃</m:t>
                                      </m:r>
                                    </m:e>
                                    <m:sub>
                                      <m:r>
                                        <a:rPr lang="en-US" altLang="ja-JP" sz="2400" i="1">
                                          <a:solidFill>
                                            <a:prstClr val="white"/>
                                          </a:solidFill>
                                          <a:latin typeface="Cambria Math"/>
                                          <a:ea typeface="Cambria Math"/>
                                        </a:rPr>
                                        <m:t>2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func>
                        </m:e>
                      </m:d>
                      <m:r>
                        <a:rPr lang="en-US" altLang="ja-JP" sz="2400" i="1">
                          <a:solidFill>
                            <a:prstClr val="white"/>
                          </a:solidFill>
                          <a:latin typeface="Cambria Math"/>
                          <a:ea typeface="Cambria Math"/>
                        </a:rPr>
                        <m:t>𝑡</m:t>
                      </m:r>
                      <m:r>
                        <a:rPr lang="en-US" altLang="ja-JP" sz="2400" i="1">
                          <a:solidFill>
                            <a:prstClr val="white"/>
                          </a:solidFill>
                          <a:latin typeface="Cambria Math"/>
                          <a:ea typeface="Cambria Math"/>
                        </a:rPr>
                        <m:t>+</m:t>
                      </m:r>
                      <m:d>
                        <m:dPr>
                          <m:ctrlPr>
                            <a:rPr lang="en-US" altLang="ja-JP" sz="2400" i="1">
                              <a:solidFill>
                                <a:prstClr val="white"/>
                              </a:solidFill>
                              <a:latin typeface="Cambria Math" panose="02040503050406030204" pitchFamily="18" charset="0"/>
                              <a:ea typeface="Cambria Math"/>
                            </a:rPr>
                          </m:ctrlPr>
                        </m:dPr>
                        <m:e>
                          <m:r>
                            <a:rPr lang="en-US" altLang="ja-JP" sz="2400" i="1">
                              <a:solidFill>
                                <a:prstClr val="white"/>
                              </a:solidFill>
                              <a:latin typeface="Cambria Math"/>
                              <a:ea typeface="Cambria Math"/>
                            </a:rPr>
                            <m:t>−</m:t>
                          </m:r>
                          <m:sSup>
                            <m:sSupPr>
                              <m:ctrlPr>
                                <a:rPr lang="en-US" altLang="ja-JP" sz="2400" i="1">
                                  <a:solidFill>
                                    <a:prstClr val="white"/>
                                  </a:solidFill>
                                  <a:latin typeface="Cambria Math" panose="02040503050406030204" pitchFamily="18" charset="0"/>
                                  <a:ea typeface="Cambria Math"/>
                                </a:rPr>
                              </m:ctrlPr>
                            </m:sSupPr>
                            <m:e>
                              <m:sSub>
                                <m:sSubPr>
                                  <m:ctrlPr>
                                    <a:rPr lang="en-US" altLang="ja-JP" sz="2400" i="1">
                                      <a:solidFill>
                                        <a:prstClr val="white"/>
                                      </a:solidFill>
                                      <a:latin typeface="Cambria Math" panose="02040503050406030204" pitchFamily="18" charset="0"/>
                                      <a:ea typeface="Cambria Math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ja-JP" sz="2400" i="1">
                                      <a:solidFill>
                                        <a:prstClr val="white"/>
                                      </a:solidFill>
                                      <a:latin typeface="Cambria Math"/>
                                      <a:ea typeface="Cambria Math"/>
                                    </a:rPr>
                                    <m:t>𝑑𝑋</m:t>
                                  </m:r>
                                </m:e>
                                <m:sub>
                                  <m:r>
                                    <a:rPr lang="en-US" altLang="ja-JP" sz="2400" i="1">
                                      <a:solidFill>
                                        <a:prstClr val="white"/>
                                      </a:solidFill>
                                      <a:latin typeface="Cambria Math"/>
                                      <a:ea typeface="Cambria Math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  <m:sup>
                              <m:r>
                                <a:rPr lang="en-US" altLang="ja-JP" sz="2400" i="1">
                                  <a:solidFill>
                                    <a:prstClr val="white"/>
                                  </a:solidFill>
                                  <a:latin typeface="Cambria Math"/>
                                  <a:ea typeface="Cambria Math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altLang="ja-JP" sz="2400" i="1">
                              <a:solidFill>
                                <a:prstClr val="white"/>
                              </a:solidFill>
                              <a:latin typeface="Cambria Math"/>
                              <a:ea typeface="Cambria Math"/>
                            </a:rPr>
                            <m:t>−</m:t>
                          </m:r>
                          <m:sSup>
                            <m:sSupPr>
                              <m:ctrlPr>
                                <a:rPr lang="en-US" altLang="ja-JP" sz="2400" i="1">
                                  <a:solidFill>
                                    <a:prstClr val="white"/>
                                  </a:solidFill>
                                  <a:latin typeface="Cambria Math" panose="02040503050406030204" pitchFamily="18" charset="0"/>
                                  <a:ea typeface="Cambria Math"/>
                                </a:rPr>
                              </m:ctrlPr>
                            </m:sSupPr>
                            <m:e>
                              <m:sSub>
                                <m:sSubPr>
                                  <m:ctrlPr>
                                    <a:rPr lang="en-US" altLang="ja-JP" sz="2400" i="1">
                                      <a:solidFill>
                                        <a:prstClr val="white"/>
                                      </a:solidFill>
                                      <a:latin typeface="Cambria Math" panose="02040503050406030204" pitchFamily="18" charset="0"/>
                                      <a:ea typeface="Cambria Math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ja-JP" sz="2400" i="1">
                                      <a:solidFill>
                                        <a:prstClr val="white"/>
                                      </a:solidFill>
                                      <a:latin typeface="Cambria Math"/>
                                      <a:ea typeface="Cambria Math"/>
                                    </a:rPr>
                                    <m:t>𝑑𝑌</m:t>
                                  </m:r>
                                </m:e>
                                <m:sub>
                                  <m:r>
                                    <a:rPr lang="en-US" altLang="ja-JP" sz="2400" i="1">
                                      <a:solidFill>
                                        <a:prstClr val="white"/>
                                      </a:solidFill>
                                      <a:latin typeface="Cambria Math"/>
                                      <a:ea typeface="Cambria Math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  <m:sup>
                              <m:r>
                                <a:rPr lang="en-US" altLang="ja-JP" sz="2400" i="1">
                                  <a:solidFill>
                                    <a:prstClr val="white"/>
                                  </a:solidFill>
                                  <a:latin typeface="Cambria Math"/>
                                  <a:ea typeface="Cambria Math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altLang="ja-JP" sz="2400" i="1" dirty="0">
                  <a:solidFill>
                    <a:prstClr val="white"/>
                  </a:solidFill>
                  <a:latin typeface="Cambria Math" panose="02040503050406030204" pitchFamily="18" charset="0"/>
                  <a:ea typeface="Cambria Math"/>
                </a:endParaRPr>
              </a:p>
              <a:p>
                <a:endParaRPr lang="en-US" altLang="ja-JP" sz="2400" i="1" dirty="0">
                  <a:solidFill>
                    <a:prstClr val="white"/>
                  </a:solidFill>
                  <a:latin typeface="Cambria Math" panose="02040503050406030204" pitchFamily="18" charset="0"/>
                  <a:ea typeface="Cambria Math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ja-JP" sz="2400" i="1">
                              <a:solidFill>
                                <a:prstClr val="white"/>
                              </a:solidFill>
                              <a:latin typeface="Cambria Math" panose="02040503050406030204" pitchFamily="18" charset="0"/>
                              <a:ea typeface="Cambria Math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altLang="ja-JP" sz="2400" i="1">
                                  <a:solidFill>
                                    <a:prstClr val="white"/>
                                  </a:solidFill>
                                  <a:latin typeface="Cambria Math" panose="02040503050406030204" pitchFamily="18" charset="0"/>
                                  <a:ea typeface="Cambria Math"/>
                                </a:rPr>
                              </m:ctrlPr>
                            </m:sSupPr>
                            <m:e>
                              <m:sSub>
                                <m:sSubPr>
                                  <m:ctrlPr>
                                    <a:rPr lang="en-US" altLang="ja-JP" sz="2400" i="1">
                                      <a:solidFill>
                                        <a:prstClr val="white"/>
                                      </a:solidFill>
                                      <a:latin typeface="Cambria Math" panose="02040503050406030204" pitchFamily="18" charset="0"/>
                                      <a:ea typeface="Cambria Math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ja-JP" sz="2400" i="1">
                                      <a:solidFill>
                                        <a:prstClr val="white"/>
                                      </a:solidFill>
                                      <a:latin typeface="Cambria Math"/>
                                      <a:ea typeface="Cambria Math"/>
                                    </a:rPr>
                                    <m:t>𝑉</m:t>
                                  </m:r>
                                </m:e>
                                <m:sub>
                                  <m:r>
                                    <a:rPr lang="en-US" altLang="ja-JP" sz="2400" i="1">
                                      <a:solidFill>
                                        <a:prstClr val="white"/>
                                      </a:solidFill>
                                      <a:latin typeface="Cambria Math"/>
                                      <a:ea typeface="Cambria Math"/>
                                    </a:rPr>
                                    <m:t>𝑏𝑡</m:t>
                                  </m:r>
                                </m:sub>
                              </m:sSub>
                            </m:e>
                            <m:sup>
                              <m:r>
                                <a:rPr lang="en-US" altLang="ja-JP" sz="2400" i="1">
                                  <a:solidFill>
                                    <a:prstClr val="white"/>
                                  </a:solidFill>
                                  <a:latin typeface="Cambria Math"/>
                                  <a:ea typeface="Cambria Math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altLang="ja-JP" sz="2400" i="1">
                              <a:solidFill>
                                <a:prstClr val="white"/>
                              </a:solidFill>
                              <a:latin typeface="Cambria Math"/>
                              <a:ea typeface="Cambria Math"/>
                            </a:rPr>
                            <m:t>−</m:t>
                          </m:r>
                          <m:sSup>
                            <m:sSupPr>
                              <m:ctrlPr>
                                <a:rPr lang="en-US" altLang="ja-JP" sz="2400" i="1">
                                  <a:solidFill>
                                    <a:prstClr val="white"/>
                                  </a:solidFill>
                                  <a:latin typeface="Cambria Math" panose="02040503050406030204" pitchFamily="18" charset="0"/>
                                  <a:ea typeface="Cambria Math"/>
                                </a:rPr>
                              </m:ctrlPr>
                            </m:sSupPr>
                            <m:e>
                              <m:sSub>
                                <m:sSubPr>
                                  <m:ctrlPr>
                                    <a:rPr lang="en-US" altLang="ja-JP" sz="2400" i="1">
                                      <a:solidFill>
                                        <a:prstClr val="white"/>
                                      </a:solidFill>
                                      <a:latin typeface="Cambria Math" panose="02040503050406030204" pitchFamily="18" charset="0"/>
                                      <a:ea typeface="Cambria Math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ja-JP" sz="2400" i="1">
                                      <a:solidFill>
                                        <a:prstClr val="white"/>
                                      </a:solidFill>
                                      <a:latin typeface="Cambria Math"/>
                                      <a:ea typeface="Cambria Math"/>
                                    </a:rPr>
                                    <m:t>𝑉</m:t>
                                  </m:r>
                                </m:e>
                                <m:sub>
                                  <m:r>
                                    <a:rPr lang="en-US" altLang="ja-JP" sz="2400" i="1">
                                      <a:solidFill>
                                        <a:prstClr val="white"/>
                                      </a:solidFill>
                                      <a:latin typeface="Cambria Math"/>
                                      <a:ea typeface="Cambria Math"/>
                                    </a:rPr>
                                    <m:t>𝑒𝑚</m:t>
                                  </m:r>
                                </m:sub>
                              </m:sSub>
                            </m:e>
                            <m:sup>
                              <m:r>
                                <a:rPr lang="en-US" altLang="ja-JP" sz="2400" i="1">
                                  <a:solidFill>
                                    <a:prstClr val="white"/>
                                  </a:solidFill>
                                  <a:latin typeface="Cambria Math"/>
                                  <a:ea typeface="Cambria Math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  <m:sSup>
                        <m:sSupPr>
                          <m:ctrlPr>
                            <a:rPr lang="en-US" altLang="ja-JP" sz="2400" i="1">
                              <a:solidFill>
                                <a:prstClr val="white"/>
                              </a:solidFill>
                              <a:latin typeface="Cambria Math" panose="02040503050406030204" pitchFamily="18" charset="0"/>
                              <a:ea typeface="Cambria Math"/>
                            </a:rPr>
                          </m:ctrlPr>
                        </m:sSupPr>
                        <m:e>
                          <m:r>
                            <a:rPr lang="en-US" altLang="ja-JP" sz="2400" i="1">
                              <a:solidFill>
                                <a:prstClr val="white"/>
                              </a:solidFill>
                              <a:latin typeface="Cambria Math"/>
                              <a:ea typeface="Cambria Math"/>
                            </a:rPr>
                            <m:t>𝑡</m:t>
                          </m:r>
                        </m:e>
                        <m:sup>
                          <m:r>
                            <a:rPr lang="en-US" altLang="ja-JP" sz="2400" i="1">
                              <a:solidFill>
                                <a:prstClr val="white"/>
                              </a:solidFill>
                              <a:latin typeface="Cambria Math"/>
                              <a:ea typeface="Cambria Math"/>
                            </a:rPr>
                            <m:t>2</m:t>
                          </m:r>
                        </m:sup>
                      </m:sSup>
                      <m:r>
                        <a:rPr lang="en-US" altLang="ja-JP" sz="2400" i="1">
                          <a:solidFill>
                            <a:prstClr val="white"/>
                          </a:solidFill>
                          <a:latin typeface="Cambria Math"/>
                          <a:ea typeface="Cambria Math"/>
                        </a:rPr>
                        <m:t>+</m:t>
                      </m:r>
                      <m:d>
                        <m:dPr>
                          <m:ctrlPr>
                            <a:rPr lang="en-US" altLang="ja-JP" sz="2400" i="1">
                              <a:solidFill>
                                <a:prstClr val="white"/>
                              </a:solidFill>
                              <a:latin typeface="Cambria Math" panose="02040503050406030204" pitchFamily="18" charset="0"/>
                              <a:ea typeface="Cambria Math"/>
                            </a:rPr>
                          </m:ctrlPr>
                        </m:dPr>
                        <m:e>
                          <m:r>
                            <a:rPr lang="en-US" altLang="ja-JP" sz="2400" i="1">
                              <a:solidFill>
                                <a:prstClr val="white"/>
                              </a:solidFill>
                              <a:latin typeface="Cambria Math"/>
                              <a:ea typeface="Cambria Math"/>
                            </a:rPr>
                            <m:t>−2</m:t>
                          </m:r>
                          <m:sSub>
                            <m:sSubPr>
                              <m:ctrlPr>
                                <a:rPr lang="en-US" altLang="ja-JP" sz="2400" i="1">
                                  <a:solidFill>
                                    <a:prstClr val="white"/>
                                  </a:solidFill>
                                  <a:latin typeface="Cambria Math" panose="02040503050406030204" pitchFamily="18" charset="0"/>
                                  <a:ea typeface="Cambria Math"/>
                                </a:rPr>
                              </m:ctrlPr>
                            </m:sSubPr>
                            <m:e>
                              <m:r>
                                <a:rPr lang="en-US" altLang="ja-JP" sz="2400" i="1">
                                  <a:solidFill>
                                    <a:prstClr val="white"/>
                                  </a:solidFill>
                                  <a:latin typeface="Cambria Math"/>
                                  <a:ea typeface="Cambria Math"/>
                                </a:rPr>
                                <m:t>𝑑𝑋</m:t>
                              </m:r>
                            </m:e>
                            <m:sub>
                              <m:r>
                                <a:rPr lang="en-US" altLang="ja-JP" sz="2400" i="1">
                                  <a:solidFill>
                                    <a:prstClr val="white"/>
                                  </a:solidFill>
                                  <a:latin typeface="Cambria Math"/>
                                  <a:ea typeface="Cambria Math"/>
                                </a:rPr>
                                <m:t>0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ja-JP" sz="2400" i="1">
                                  <a:solidFill>
                                    <a:prstClr val="white"/>
                                  </a:solidFill>
                                  <a:latin typeface="Cambria Math" panose="02040503050406030204" pitchFamily="18" charset="0"/>
                                  <a:ea typeface="Cambria Math"/>
                                </a:rPr>
                              </m:ctrlPr>
                            </m:sSubPr>
                            <m:e>
                              <m:r>
                                <a:rPr lang="en-US" altLang="ja-JP" sz="2400" i="1">
                                  <a:solidFill>
                                    <a:prstClr val="white"/>
                                  </a:solidFill>
                                  <a:latin typeface="Cambria Math"/>
                                  <a:ea typeface="Cambria Math"/>
                                </a:rPr>
                                <m:t>×</m:t>
                              </m:r>
                              <m:r>
                                <a:rPr lang="en-US" altLang="ja-JP" sz="2400" i="1">
                                  <a:solidFill>
                                    <a:prstClr val="white"/>
                                  </a:solidFill>
                                  <a:latin typeface="Cambria Math"/>
                                  <a:ea typeface="Cambria Math"/>
                                </a:rPr>
                                <m:t>𝑉</m:t>
                              </m:r>
                            </m:e>
                            <m:sub>
                              <m:r>
                                <a:rPr lang="en-US" altLang="ja-JP" sz="2400" i="1">
                                  <a:solidFill>
                                    <a:prstClr val="white"/>
                                  </a:solidFill>
                                  <a:latin typeface="Cambria Math"/>
                                  <a:ea typeface="Cambria Math"/>
                                </a:rPr>
                                <m:t>𝑒𝑚</m:t>
                              </m:r>
                            </m:sub>
                          </m:sSub>
                          <m:func>
                            <m:funcPr>
                              <m:ctrlPr>
                                <a:rPr lang="en-US" altLang="ja-JP" sz="2400" i="1">
                                  <a:solidFill>
                                    <a:prstClr val="white"/>
                                  </a:solidFill>
                                  <a:latin typeface="Cambria Math" panose="02040503050406030204" pitchFamily="18" charset="0"/>
                                  <a:ea typeface="Cambria Math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altLang="ja-JP" sz="2400">
                                  <a:solidFill>
                                    <a:prstClr val="white"/>
                                  </a:solidFill>
                                  <a:latin typeface="Cambria Math"/>
                                  <a:ea typeface="Cambria Math"/>
                                </a:rPr>
                                <m:t>cos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altLang="ja-JP" sz="2400" i="1">
                                      <a:solidFill>
                                        <a:prstClr val="white"/>
                                      </a:solidFill>
                                      <a:latin typeface="Cambria Math" panose="02040503050406030204" pitchFamily="18" charset="0"/>
                                      <a:ea typeface="Cambria Math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ja-JP" sz="2400" i="1">
                                          <a:solidFill>
                                            <a:prstClr val="white"/>
                                          </a:solidFill>
                                          <a:latin typeface="Cambria Math" panose="02040503050406030204" pitchFamily="18" charset="0"/>
                                          <a:ea typeface="Cambria Math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ja-JP" altLang="en-US" sz="2400" i="1">
                                          <a:solidFill>
                                            <a:prstClr val="white"/>
                                          </a:solidFill>
                                          <a:latin typeface="Cambria Math"/>
                                          <a:ea typeface="Cambria Math"/>
                                        </a:rPr>
                                        <m:t>𝜃</m:t>
                                      </m:r>
                                    </m:e>
                                    <m:sub>
                                      <m:r>
                                        <a:rPr lang="en-US" altLang="ja-JP" sz="2400" i="1">
                                          <a:solidFill>
                                            <a:prstClr val="white"/>
                                          </a:solidFill>
                                          <a:latin typeface="Cambria Math"/>
                                          <a:ea typeface="Cambria Math"/>
                                        </a:rPr>
                                        <m:t>2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func>
                          <m:r>
                            <a:rPr lang="en-US" altLang="ja-JP" sz="2400" i="1">
                              <a:solidFill>
                                <a:prstClr val="white"/>
                              </a:solidFill>
                              <a:latin typeface="Cambria Math"/>
                              <a:ea typeface="Cambria Math"/>
                            </a:rPr>
                            <m:t>−2</m:t>
                          </m:r>
                          <m:sSub>
                            <m:sSubPr>
                              <m:ctrlPr>
                                <a:rPr lang="en-US" altLang="ja-JP" sz="2400" i="1">
                                  <a:solidFill>
                                    <a:prstClr val="white"/>
                                  </a:solidFill>
                                  <a:latin typeface="Cambria Math" panose="02040503050406030204" pitchFamily="18" charset="0"/>
                                  <a:ea typeface="Cambria Math"/>
                                </a:rPr>
                              </m:ctrlPr>
                            </m:sSubPr>
                            <m:e>
                              <m:r>
                                <a:rPr lang="en-US" altLang="ja-JP" sz="2400" i="1">
                                  <a:solidFill>
                                    <a:prstClr val="white"/>
                                  </a:solidFill>
                                  <a:latin typeface="Cambria Math"/>
                                  <a:ea typeface="Cambria Math"/>
                                </a:rPr>
                                <m:t>𝑑𝑌</m:t>
                              </m:r>
                            </m:e>
                            <m:sub>
                              <m:r>
                                <a:rPr lang="en-US" altLang="ja-JP" sz="2400" i="1">
                                  <a:solidFill>
                                    <a:prstClr val="white"/>
                                  </a:solidFill>
                                  <a:latin typeface="Cambria Math"/>
                                  <a:ea typeface="Cambria Math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altLang="ja-JP" sz="2400" i="1">
                              <a:solidFill>
                                <a:prstClr val="white"/>
                              </a:solidFill>
                              <a:latin typeface="Cambria Math"/>
                              <a:ea typeface="Cambria Math"/>
                            </a:rPr>
                            <m:t>×</m:t>
                          </m:r>
                          <m:sSub>
                            <m:sSubPr>
                              <m:ctrlPr>
                                <a:rPr lang="en-US" altLang="ja-JP" sz="2400" i="1">
                                  <a:solidFill>
                                    <a:prstClr val="white"/>
                                  </a:solidFill>
                                  <a:latin typeface="Cambria Math" panose="02040503050406030204" pitchFamily="18" charset="0"/>
                                  <a:ea typeface="Cambria Math"/>
                                </a:rPr>
                              </m:ctrlPr>
                            </m:sSubPr>
                            <m:e>
                              <m:r>
                                <a:rPr lang="en-US" altLang="ja-JP" sz="2400" i="1">
                                  <a:solidFill>
                                    <a:prstClr val="white"/>
                                  </a:solidFill>
                                  <a:latin typeface="Cambria Math"/>
                                  <a:ea typeface="Cambria Math"/>
                                </a:rPr>
                                <m:t>𝑉</m:t>
                              </m:r>
                            </m:e>
                            <m:sub>
                              <m:r>
                                <a:rPr lang="en-US" altLang="ja-JP" sz="2400" i="1">
                                  <a:solidFill>
                                    <a:prstClr val="white"/>
                                  </a:solidFill>
                                  <a:latin typeface="Cambria Math"/>
                                  <a:ea typeface="Cambria Math"/>
                                </a:rPr>
                                <m:t>𝑒𝑚</m:t>
                              </m:r>
                            </m:sub>
                          </m:sSub>
                          <m:func>
                            <m:funcPr>
                              <m:ctrlPr>
                                <a:rPr lang="en-US" altLang="ja-JP" sz="2400" i="1">
                                  <a:solidFill>
                                    <a:prstClr val="white"/>
                                  </a:solidFill>
                                  <a:latin typeface="Cambria Math" panose="02040503050406030204" pitchFamily="18" charset="0"/>
                                  <a:ea typeface="Cambria Math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altLang="ja-JP" sz="2400">
                                  <a:solidFill>
                                    <a:prstClr val="white"/>
                                  </a:solidFill>
                                  <a:latin typeface="Cambria Math"/>
                                  <a:ea typeface="Cambria Math"/>
                                </a:rPr>
                                <m:t>sin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altLang="ja-JP" sz="2400" i="1">
                                      <a:solidFill>
                                        <a:prstClr val="white"/>
                                      </a:solidFill>
                                      <a:latin typeface="Cambria Math" panose="02040503050406030204" pitchFamily="18" charset="0"/>
                                      <a:ea typeface="Cambria Math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ja-JP" sz="2400" i="1">
                                          <a:solidFill>
                                            <a:prstClr val="white"/>
                                          </a:solidFill>
                                          <a:latin typeface="Cambria Math" panose="02040503050406030204" pitchFamily="18" charset="0"/>
                                          <a:ea typeface="Cambria Math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ja-JP" altLang="en-US" sz="2400" i="1">
                                          <a:solidFill>
                                            <a:prstClr val="white"/>
                                          </a:solidFill>
                                          <a:latin typeface="Cambria Math"/>
                                          <a:ea typeface="Cambria Math"/>
                                        </a:rPr>
                                        <m:t>𝜃</m:t>
                                      </m:r>
                                    </m:e>
                                    <m:sub>
                                      <m:r>
                                        <a:rPr lang="en-US" altLang="ja-JP" sz="2400" i="1">
                                          <a:solidFill>
                                            <a:prstClr val="white"/>
                                          </a:solidFill>
                                          <a:latin typeface="Cambria Math"/>
                                          <a:ea typeface="Cambria Math"/>
                                        </a:rPr>
                                        <m:t>2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func>
                        </m:e>
                      </m:d>
                      <m:r>
                        <a:rPr lang="en-US" altLang="ja-JP" sz="2400" i="1">
                          <a:solidFill>
                            <a:prstClr val="white"/>
                          </a:solidFill>
                          <a:latin typeface="Cambria Math"/>
                          <a:ea typeface="Cambria Math"/>
                        </a:rPr>
                        <m:t>𝑡</m:t>
                      </m:r>
                    </m:oMath>
                  </m:oMathPara>
                </a14:m>
                <a:endParaRPr lang="en-US" altLang="ja-JP" sz="2400" i="1" dirty="0">
                  <a:solidFill>
                    <a:prstClr val="white"/>
                  </a:solidFill>
                  <a:latin typeface="Cambria Math"/>
                  <a:ea typeface="Cambria Math"/>
                </a:endParaRPr>
              </a:p>
              <a:p>
                <a:r>
                  <a:rPr lang="en-US" altLang="ja-JP" sz="2400" i="1" dirty="0">
                    <a:solidFill>
                      <a:prstClr val="white"/>
                    </a:solidFill>
                    <a:latin typeface="Cambria Math"/>
                    <a:ea typeface="Cambria Math"/>
                  </a:rPr>
                  <a:t>	</a:t>
                </a:r>
                <a14:m>
                  <m:oMath xmlns:m="http://schemas.openxmlformats.org/officeDocument/2006/math">
                    <m:r>
                      <a:rPr lang="en-US" altLang="ja-JP" sz="2400" i="1">
                        <a:solidFill>
                          <a:prstClr val="white"/>
                        </a:solidFill>
                        <a:latin typeface="Cambria Math" panose="02040503050406030204" pitchFamily="18" charset="0"/>
                        <a:ea typeface="Cambria Math"/>
                      </a:rPr>
                      <m:t>  </m:t>
                    </m:r>
                    <m:r>
                      <a:rPr lang="en-US" altLang="ja-JP" sz="2400" i="1">
                        <a:solidFill>
                          <a:prstClr val="white"/>
                        </a:solidFill>
                        <a:latin typeface="Cambria Math"/>
                        <a:ea typeface="Cambria Math"/>
                      </a:rPr>
                      <m:t>+(−</m:t>
                    </m:r>
                    <m:sSup>
                      <m:sSupPr>
                        <m:ctrlPr>
                          <a:rPr lang="en-US" altLang="ja-JP" sz="2400" i="1">
                            <a:solidFill>
                              <a:prstClr val="white"/>
                            </a:solidFill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pPr>
                      <m:e>
                        <m:sSub>
                          <m:sSubPr>
                            <m:ctrlPr>
                              <a:rPr lang="en-US" altLang="ja-JP" sz="2400" i="1">
                                <a:solidFill>
                                  <a:prstClr val="white"/>
                                </a:solidFill>
                                <a:latin typeface="Cambria Math" panose="02040503050406030204" pitchFamily="18" charset="0"/>
                                <a:ea typeface="Cambria Math"/>
                              </a:rPr>
                            </m:ctrlPr>
                          </m:sSubPr>
                          <m:e>
                            <m:r>
                              <a:rPr lang="en-US" altLang="ja-JP" sz="2400" i="1">
                                <a:solidFill>
                                  <a:prstClr val="white"/>
                                </a:solidFill>
                                <a:latin typeface="Cambria Math"/>
                                <a:ea typeface="Cambria Math"/>
                              </a:rPr>
                              <m:t>𝑑𝑋</m:t>
                            </m:r>
                          </m:e>
                          <m:sub>
                            <m:r>
                              <a:rPr lang="en-US" altLang="ja-JP" sz="2400" i="1">
                                <a:solidFill>
                                  <a:prstClr val="white"/>
                                </a:solidFill>
                                <a:latin typeface="Cambria Math"/>
                                <a:ea typeface="Cambria Math"/>
                              </a:rPr>
                              <m:t>0</m:t>
                            </m:r>
                          </m:sub>
                        </m:sSub>
                      </m:e>
                      <m:sup>
                        <m:r>
                          <a:rPr lang="en-US" altLang="ja-JP" sz="2400" i="1">
                            <a:solidFill>
                              <a:prstClr val="white"/>
                            </a:solidFill>
                            <a:latin typeface="Cambria Math"/>
                            <a:ea typeface="Cambria Math"/>
                          </a:rPr>
                          <m:t>2</m:t>
                        </m:r>
                      </m:sup>
                    </m:sSup>
                    <m:r>
                      <a:rPr lang="en-US" altLang="ja-JP" sz="2400" i="1">
                        <a:solidFill>
                          <a:prstClr val="white"/>
                        </a:solidFill>
                        <a:latin typeface="Cambria Math"/>
                        <a:ea typeface="Cambria Math"/>
                      </a:rPr>
                      <m:t>−</m:t>
                    </m:r>
                    <m:sSup>
                      <m:sSupPr>
                        <m:ctrlPr>
                          <a:rPr lang="en-US" altLang="ja-JP" sz="2400" i="1">
                            <a:solidFill>
                              <a:prstClr val="white"/>
                            </a:solidFill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pPr>
                      <m:e>
                        <m:sSub>
                          <m:sSubPr>
                            <m:ctrlPr>
                              <a:rPr lang="en-US" altLang="ja-JP" sz="2400" i="1">
                                <a:solidFill>
                                  <a:prstClr val="white"/>
                                </a:solidFill>
                                <a:latin typeface="Cambria Math" panose="02040503050406030204" pitchFamily="18" charset="0"/>
                                <a:ea typeface="Cambria Math"/>
                              </a:rPr>
                            </m:ctrlPr>
                          </m:sSubPr>
                          <m:e>
                            <m:r>
                              <a:rPr lang="en-US" altLang="ja-JP" sz="2400" i="1">
                                <a:solidFill>
                                  <a:prstClr val="white"/>
                                </a:solidFill>
                                <a:latin typeface="Cambria Math"/>
                                <a:ea typeface="Cambria Math"/>
                              </a:rPr>
                              <m:t>𝑑𝑌</m:t>
                            </m:r>
                          </m:e>
                          <m:sub>
                            <m:r>
                              <a:rPr lang="en-US" altLang="ja-JP" sz="2400" i="1">
                                <a:solidFill>
                                  <a:prstClr val="white"/>
                                </a:solidFill>
                                <a:latin typeface="Cambria Math"/>
                                <a:ea typeface="Cambria Math"/>
                              </a:rPr>
                              <m:t>0</m:t>
                            </m:r>
                          </m:sub>
                        </m:sSub>
                      </m:e>
                      <m:sup>
                        <m:r>
                          <a:rPr lang="en-US" altLang="ja-JP" sz="2400" i="1">
                            <a:solidFill>
                              <a:prstClr val="white"/>
                            </a:solidFill>
                            <a:latin typeface="Cambria Math"/>
                            <a:ea typeface="Cambria Math"/>
                          </a:rPr>
                          <m:t>2</m:t>
                        </m:r>
                      </m:sup>
                    </m:sSup>
                    <m:r>
                      <a:rPr lang="en-US" altLang="ja-JP" sz="2400" i="1">
                        <a:solidFill>
                          <a:prstClr val="white"/>
                        </a:solidFill>
                        <a:latin typeface="Cambria Math"/>
                        <a:ea typeface="Cambria Math"/>
                      </a:rPr>
                      <m:t>)</m:t>
                    </m:r>
                  </m:oMath>
                </a14:m>
                <a:endParaRPr lang="en-US" altLang="ja-JP" sz="2400" dirty="0">
                  <a:solidFill>
                    <a:prstClr val="white"/>
                  </a:solidFill>
                  <a:latin typeface="Calibri"/>
                  <a:ea typeface="Cambria Math"/>
                </a:endParaRPr>
              </a:p>
            </p:txBody>
          </p:sp>
        </mc:Choice>
        <mc:Fallback xmlns="">
          <p:sp>
            <p:nvSpPr>
              <p:cNvPr id="8" name="テキスト ボックス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47528" y="980728"/>
                <a:ext cx="8496944" cy="5659626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00242746"/>
      </p:ext>
    </p:extLst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1981200" y="44624"/>
            <a:ext cx="8229600" cy="778098"/>
          </a:xfrm>
        </p:spPr>
        <p:txBody>
          <a:bodyPr>
            <a:normAutofit/>
          </a:bodyPr>
          <a:lstStyle/>
          <a:p>
            <a:r>
              <a:rPr lang="ja-JP" altLang="en-US" sz="3200" dirty="0"/>
              <a:t>敵の動作の予測（サンプルプログラム）</a:t>
            </a:r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>
          <a:xfrm>
            <a:off x="1631504" y="836712"/>
            <a:ext cx="4176464" cy="5832648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altLang="ja-JP" sz="1400" dirty="0"/>
              <a:t>public void </a:t>
            </a:r>
            <a:r>
              <a:rPr lang="en-US" altLang="ja-JP" sz="1400" dirty="0" err="1"/>
              <a:t>onScannedRobot</a:t>
            </a:r>
            <a:r>
              <a:rPr lang="en-US" altLang="ja-JP" sz="1400" dirty="0"/>
              <a:t>(</a:t>
            </a:r>
            <a:r>
              <a:rPr lang="en-US" altLang="ja-JP" sz="1400" dirty="0" err="1"/>
              <a:t>ScannedRobotEvent</a:t>
            </a:r>
            <a:r>
              <a:rPr lang="en-US" altLang="ja-JP" sz="1400" dirty="0"/>
              <a:t> e){</a:t>
            </a:r>
          </a:p>
          <a:p>
            <a:pPr marL="0" indent="0">
              <a:buNone/>
            </a:pPr>
            <a:r>
              <a:rPr lang="en-US" altLang="ja-JP" sz="1400" dirty="0"/>
              <a:t>    </a:t>
            </a:r>
            <a:r>
              <a:rPr lang="en-US" altLang="ja-JP" sz="1400" dirty="0" err="1"/>
              <a:t>int</a:t>
            </a:r>
            <a:r>
              <a:rPr lang="en-US" altLang="ja-JP" sz="1400" dirty="0"/>
              <a:t> power = 1;</a:t>
            </a:r>
          </a:p>
          <a:p>
            <a:pPr marL="0" indent="0">
              <a:buNone/>
            </a:pPr>
            <a:r>
              <a:rPr lang="en-US" altLang="ja-JP" sz="1400" dirty="0"/>
              <a:t>    </a:t>
            </a:r>
            <a:r>
              <a:rPr lang="en-US" altLang="ja-JP" sz="1400" dirty="0" err="1"/>
              <a:t>int</a:t>
            </a:r>
            <a:r>
              <a:rPr lang="en-US" altLang="ja-JP" sz="1400" dirty="0"/>
              <a:t> </a:t>
            </a:r>
            <a:r>
              <a:rPr lang="en-US" altLang="ja-JP" sz="1400" dirty="0" err="1"/>
              <a:t>v_bt</a:t>
            </a:r>
            <a:r>
              <a:rPr lang="en-US" altLang="ja-JP" sz="1400" dirty="0"/>
              <a:t> = 20-3*power;</a:t>
            </a:r>
          </a:p>
          <a:p>
            <a:pPr marL="0" indent="0">
              <a:buNone/>
            </a:pPr>
            <a:r>
              <a:rPr lang="en-US" altLang="ja-JP" sz="1400" dirty="0"/>
              <a:t>    double </a:t>
            </a:r>
            <a:r>
              <a:rPr lang="en-US" altLang="ja-JP" sz="1400" dirty="0" err="1"/>
              <a:t>v_em</a:t>
            </a:r>
            <a:r>
              <a:rPr lang="en-US" altLang="ja-JP" sz="1400" dirty="0"/>
              <a:t> = </a:t>
            </a:r>
            <a:r>
              <a:rPr lang="en-US" altLang="ja-JP" sz="1400" dirty="0" err="1"/>
              <a:t>e.getVelocity</a:t>
            </a:r>
            <a:r>
              <a:rPr lang="en-US" altLang="ja-JP" sz="1400" dirty="0"/>
              <a:t>();</a:t>
            </a:r>
          </a:p>
          <a:p>
            <a:pPr marL="0" indent="0">
              <a:buNone/>
            </a:pPr>
            <a:r>
              <a:rPr lang="en-US" altLang="ja-JP" sz="1400" dirty="0"/>
              <a:t>    double seta1 = </a:t>
            </a:r>
            <a:r>
              <a:rPr lang="en-US" altLang="ja-JP" sz="1400" dirty="0" err="1"/>
              <a:t>Math.toRadians</a:t>
            </a:r>
            <a:r>
              <a:rPr lang="en-US" altLang="ja-JP" sz="1400" dirty="0"/>
              <a:t>(90-e.getBearing()-</a:t>
            </a:r>
          </a:p>
          <a:p>
            <a:pPr marL="0" indent="0">
              <a:buNone/>
            </a:pPr>
            <a:r>
              <a:rPr lang="en-US" altLang="ja-JP" sz="1400" dirty="0"/>
              <a:t>        </a:t>
            </a:r>
            <a:r>
              <a:rPr lang="en-US" altLang="ja-JP" sz="1400" dirty="0" err="1"/>
              <a:t>getHeading</a:t>
            </a:r>
            <a:r>
              <a:rPr lang="en-US" altLang="ja-JP" sz="1400" dirty="0"/>
              <a:t>());</a:t>
            </a:r>
          </a:p>
          <a:p>
            <a:pPr marL="0" indent="0">
              <a:buNone/>
            </a:pPr>
            <a:r>
              <a:rPr lang="en-US" altLang="ja-JP" sz="1400" dirty="0"/>
              <a:t>    double seta2 = </a:t>
            </a:r>
            <a:r>
              <a:rPr lang="en-US" altLang="ja-JP" sz="1400" dirty="0" err="1"/>
              <a:t>Math.toRadians</a:t>
            </a:r>
            <a:r>
              <a:rPr lang="en-US" altLang="ja-JP" sz="1400" dirty="0"/>
              <a:t>(90-e.getHeading());</a:t>
            </a:r>
          </a:p>
          <a:p>
            <a:pPr marL="0" indent="0">
              <a:buNone/>
            </a:pPr>
            <a:r>
              <a:rPr lang="en-US" altLang="ja-JP" sz="1400" dirty="0"/>
              <a:t>    double dx0 = </a:t>
            </a:r>
            <a:r>
              <a:rPr lang="en-US" altLang="ja-JP" sz="1400" dirty="0" err="1"/>
              <a:t>e.getDistance</a:t>
            </a:r>
            <a:r>
              <a:rPr lang="en-US" altLang="ja-JP" sz="1400" dirty="0"/>
              <a:t>()*</a:t>
            </a:r>
            <a:r>
              <a:rPr lang="en-US" altLang="ja-JP" sz="1400" dirty="0" err="1"/>
              <a:t>Math.cos</a:t>
            </a:r>
            <a:r>
              <a:rPr lang="en-US" altLang="ja-JP" sz="1400" dirty="0"/>
              <a:t>(seta1);</a:t>
            </a:r>
          </a:p>
          <a:p>
            <a:pPr marL="0" indent="0">
              <a:buNone/>
            </a:pPr>
            <a:r>
              <a:rPr lang="en-US" altLang="ja-JP" sz="1400" dirty="0"/>
              <a:t>    double dy0 = </a:t>
            </a:r>
            <a:r>
              <a:rPr lang="en-US" altLang="ja-JP" sz="1400" dirty="0" err="1"/>
              <a:t>e.getDistance</a:t>
            </a:r>
            <a:r>
              <a:rPr lang="en-US" altLang="ja-JP" sz="1400" dirty="0"/>
              <a:t>()*</a:t>
            </a:r>
            <a:r>
              <a:rPr lang="en-US" altLang="ja-JP" sz="1400" dirty="0" err="1"/>
              <a:t>Math.sin</a:t>
            </a:r>
            <a:r>
              <a:rPr lang="en-US" altLang="ja-JP" sz="1400" dirty="0"/>
              <a:t>(seta1);</a:t>
            </a:r>
          </a:p>
          <a:p>
            <a:pPr marL="0" indent="0">
              <a:buNone/>
            </a:pPr>
            <a:r>
              <a:rPr lang="en-US" altLang="ja-JP" sz="1400" dirty="0"/>
              <a:t>    double a = </a:t>
            </a:r>
            <a:r>
              <a:rPr lang="en-US" altLang="ja-JP" sz="1400" dirty="0" err="1"/>
              <a:t>Math.pow</a:t>
            </a:r>
            <a:r>
              <a:rPr lang="en-US" altLang="ja-JP" sz="1400" dirty="0"/>
              <a:t>(v_bt,2)-</a:t>
            </a:r>
            <a:r>
              <a:rPr lang="en-US" altLang="ja-JP" sz="1400" dirty="0" err="1"/>
              <a:t>Math.pow</a:t>
            </a:r>
            <a:r>
              <a:rPr lang="en-US" altLang="ja-JP" sz="1400" dirty="0"/>
              <a:t>(v_em,2);</a:t>
            </a:r>
          </a:p>
          <a:p>
            <a:pPr marL="0" indent="0">
              <a:buNone/>
            </a:pPr>
            <a:r>
              <a:rPr lang="en-US" altLang="ja-JP" sz="1400" dirty="0"/>
              <a:t>    double b = -2*dx0*</a:t>
            </a:r>
            <a:r>
              <a:rPr lang="en-US" altLang="ja-JP" sz="1400" dirty="0" err="1"/>
              <a:t>v_em</a:t>
            </a:r>
            <a:r>
              <a:rPr lang="en-US" altLang="ja-JP" sz="1400" dirty="0"/>
              <a:t>*</a:t>
            </a:r>
            <a:r>
              <a:rPr lang="en-US" altLang="ja-JP" sz="1400" dirty="0" err="1"/>
              <a:t>Math.cos</a:t>
            </a:r>
            <a:r>
              <a:rPr lang="en-US" altLang="ja-JP" sz="1400" dirty="0"/>
              <a:t>(seta2)-</a:t>
            </a:r>
          </a:p>
          <a:p>
            <a:pPr marL="0" indent="0">
              <a:buNone/>
            </a:pPr>
            <a:r>
              <a:rPr lang="en-US" altLang="ja-JP" sz="1400" dirty="0"/>
              <a:t>        2*dy0*</a:t>
            </a:r>
            <a:r>
              <a:rPr lang="en-US" altLang="ja-JP" sz="1400" dirty="0" err="1"/>
              <a:t>v_em</a:t>
            </a:r>
            <a:r>
              <a:rPr lang="en-US" altLang="ja-JP" sz="1400" dirty="0"/>
              <a:t>*</a:t>
            </a:r>
            <a:r>
              <a:rPr lang="en-US" altLang="ja-JP" sz="1400" dirty="0" err="1"/>
              <a:t>Math.sin</a:t>
            </a:r>
            <a:r>
              <a:rPr lang="en-US" altLang="ja-JP" sz="1400" dirty="0"/>
              <a:t>(seta2);</a:t>
            </a:r>
          </a:p>
          <a:p>
            <a:pPr marL="0" indent="0">
              <a:buNone/>
            </a:pPr>
            <a:r>
              <a:rPr lang="en-US" altLang="ja-JP" sz="1400" dirty="0"/>
              <a:t>    double c = -</a:t>
            </a:r>
            <a:r>
              <a:rPr lang="en-US" altLang="ja-JP" sz="1400" dirty="0" err="1"/>
              <a:t>Math.pow</a:t>
            </a:r>
            <a:r>
              <a:rPr lang="en-US" altLang="ja-JP" sz="1400" dirty="0"/>
              <a:t>(dx0,2)-</a:t>
            </a:r>
            <a:r>
              <a:rPr lang="en-US" altLang="ja-JP" sz="1400" dirty="0" err="1"/>
              <a:t>Math.pow</a:t>
            </a:r>
            <a:r>
              <a:rPr lang="en-US" altLang="ja-JP" sz="1400" dirty="0"/>
              <a:t>(dy0,2);</a:t>
            </a:r>
          </a:p>
          <a:p>
            <a:pPr marL="0" indent="0">
              <a:buNone/>
            </a:pPr>
            <a:endParaRPr lang="en-US" altLang="ja-JP" sz="1400" dirty="0"/>
          </a:p>
          <a:p>
            <a:pPr marL="0" indent="0">
              <a:buNone/>
            </a:pPr>
            <a:r>
              <a:rPr lang="en-US" altLang="ja-JP" sz="1400" dirty="0"/>
              <a:t>    double t1 = (-</a:t>
            </a:r>
            <a:r>
              <a:rPr lang="en-US" altLang="ja-JP" sz="1400" dirty="0" err="1"/>
              <a:t>b+Math.sqrt</a:t>
            </a:r>
            <a:r>
              <a:rPr lang="en-US" altLang="ja-JP" sz="1400" dirty="0"/>
              <a:t>(</a:t>
            </a:r>
            <a:r>
              <a:rPr lang="en-US" altLang="ja-JP" sz="1400" dirty="0" err="1"/>
              <a:t>Math.pow</a:t>
            </a:r>
            <a:r>
              <a:rPr lang="en-US" altLang="ja-JP" sz="1400" dirty="0"/>
              <a:t>(b,2)-</a:t>
            </a:r>
          </a:p>
          <a:p>
            <a:pPr marL="0" indent="0">
              <a:buNone/>
            </a:pPr>
            <a:r>
              <a:rPr lang="en-US" altLang="ja-JP" sz="1400" dirty="0"/>
              <a:t>        4*a*c))/(2*a);</a:t>
            </a:r>
          </a:p>
          <a:p>
            <a:pPr marL="0" indent="0">
              <a:buNone/>
            </a:pPr>
            <a:r>
              <a:rPr lang="en-US" altLang="ja-JP" sz="1400" dirty="0"/>
              <a:t>    double t2 = (-b-</a:t>
            </a:r>
            <a:r>
              <a:rPr lang="en-US" altLang="ja-JP" sz="1400" dirty="0" err="1"/>
              <a:t>Math.sqrt</a:t>
            </a:r>
            <a:r>
              <a:rPr lang="en-US" altLang="ja-JP" sz="1400" dirty="0"/>
              <a:t>(</a:t>
            </a:r>
            <a:r>
              <a:rPr lang="en-US" altLang="ja-JP" sz="1400" dirty="0" err="1"/>
              <a:t>Math.pow</a:t>
            </a:r>
            <a:r>
              <a:rPr lang="en-US" altLang="ja-JP" sz="1400" dirty="0"/>
              <a:t>(b,2)-</a:t>
            </a:r>
          </a:p>
          <a:p>
            <a:pPr marL="0" indent="0">
              <a:buNone/>
            </a:pPr>
            <a:r>
              <a:rPr lang="en-US" altLang="ja-JP" sz="1400" dirty="0"/>
              <a:t>        4*a*c))/(2*a);</a:t>
            </a:r>
          </a:p>
          <a:p>
            <a:pPr marL="0" indent="0">
              <a:buNone/>
            </a:pPr>
            <a:endParaRPr lang="en-US" altLang="ja-JP" sz="1400" dirty="0"/>
          </a:p>
          <a:p>
            <a:pPr marL="0" indent="0">
              <a:buNone/>
            </a:pPr>
            <a:r>
              <a:rPr lang="en-US" altLang="ja-JP" sz="1400" dirty="0"/>
              <a:t>    double t = </a:t>
            </a:r>
            <a:r>
              <a:rPr lang="en-US" altLang="ja-JP" sz="1400" dirty="0" err="1"/>
              <a:t>Math.max</a:t>
            </a:r>
            <a:r>
              <a:rPr lang="en-US" altLang="ja-JP" sz="1400" dirty="0"/>
              <a:t>(t1,t2);</a:t>
            </a:r>
          </a:p>
          <a:p>
            <a:pPr marL="0" indent="0">
              <a:buNone/>
            </a:pPr>
            <a:r>
              <a:rPr lang="en-US" altLang="ja-JP" sz="1400" dirty="0"/>
              <a:t>    double dx1 = dx0+v_em*t*</a:t>
            </a:r>
            <a:r>
              <a:rPr lang="en-US" altLang="ja-JP" sz="1400" dirty="0" err="1"/>
              <a:t>Math.cos</a:t>
            </a:r>
            <a:r>
              <a:rPr lang="en-US" altLang="ja-JP" sz="1400" dirty="0"/>
              <a:t>(seta2);</a:t>
            </a:r>
          </a:p>
          <a:p>
            <a:pPr marL="0" indent="0">
              <a:buNone/>
            </a:pPr>
            <a:r>
              <a:rPr lang="en-US" altLang="ja-JP" sz="1400" dirty="0"/>
              <a:t>    double dy1 = dy0+v_em*t*</a:t>
            </a:r>
            <a:r>
              <a:rPr lang="en-US" altLang="ja-JP" sz="1400" dirty="0" err="1"/>
              <a:t>Math.sin</a:t>
            </a:r>
            <a:r>
              <a:rPr lang="en-US" altLang="ja-JP" sz="1400" dirty="0"/>
              <a:t>(seta2);</a:t>
            </a:r>
          </a:p>
          <a:p>
            <a:pPr marL="0" indent="0">
              <a:buNone/>
            </a:pPr>
            <a:endParaRPr lang="en-US" altLang="ja-JP" sz="1400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D8002D-B5B0-4BAC-B1F6-782DDCCE6D9C}" type="slidenum">
              <a:rPr lang="ja-JP" altLang="en-US">
                <a:solidFill>
                  <a:prstClr val="white"/>
                </a:solidFill>
                <a:latin typeface="Calibri"/>
                <a:ea typeface="ＭＳ Ｐゴシック" panose="020B0600070205080204" pitchFamily="50" charset="-128"/>
              </a:rPr>
              <a:pPr/>
              <a:t>9</a:t>
            </a:fld>
            <a:endParaRPr lang="ja-JP" altLang="en-US">
              <a:solidFill>
                <a:prstClr val="white"/>
              </a:solidFill>
              <a:latin typeface="Calibri"/>
              <a:ea typeface="ＭＳ Ｐゴシック" panose="020B0600070205080204" pitchFamily="50" charset="-128"/>
            </a:endParaRPr>
          </a:p>
        </p:txBody>
      </p:sp>
      <p:sp>
        <p:nvSpPr>
          <p:cNvPr id="5" name="コンテンツ プレースホルダー 2"/>
          <p:cNvSpPr txBox="1">
            <a:spLocks/>
          </p:cNvSpPr>
          <p:nvPr/>
        </p:nvSpPr>
        <p:spPr>
          <a:xfrm>
            <a:off x="5960368" y="1412776"/>
            <a:ext cx="4176464" cy="496855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kumimoji="1" sz="3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kumimoji="1" sz="2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kumimoji="1" sz="2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kumimoji="1" sz="20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kumimoji="1" sz="20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ja-JP" altLang="en-US" sz="1400" dirty="0">
                <a:solidFill>
                  <a:prstClr val="white"/>
                </a:solidFill>
                <a:latin typeface="Calibri"/>
                <a:ea typeface="ＭＳ Ｐゴシック" panose="020B0600070205080204" pitchFamily="50" charset="-128"/>
              </a:rPr>
              <a:t>    </a:t>
            </a:r>
            <a:r>
              <a:rPr lang="en-US" altLang="ja-JP" sz="1400" dirty="0">
                <a:solidFill>
                  <a:prstClr val="white"/>
                </a:solidFill>
                <a:latin typeface="Calibri"/>
                <a:ea typeface="ＭＳ Ｐゴシック" panose="020B0600070205080204" pitchFamily="50" charset="-128"/>
              </a:rPr>
              <a:t>if(</a:t>
            </a:r>
            <a:r>
              <a:rPr lang="en-US" altLang="ja-JP" sz="1400" dirty="0" err="1">
                <a:solidFill>
                  <a:prstClr val="white"/>
                </a:solidFill>
                <a:latin typeface="Calibri"/>
                <a:ea typeface="ＭＳ Ｐゴシック" panose="020B0600070205080204" pitchFamily="50" charset="-128"/>
              </a:rPr>
              <a:t>getX</a:t>
            </a:r>
            <a:r>
              <a:rPr lang="en-US" altLang="ja-JP" sz="1400" dirty="0">
                <a:solidFill>
                  <a:prstClr val="white"/>
                </a:solidFill>
                <a:latin typeface="Calibri"/>
                <a:ea typeface="ＭＳ Ｐゴシック" panose="020B0600070205080204" pitchFamily="50" charset="-128"/>
              </a:rPr>
              <a:t>()+dx1 &lt; </a:t>
            </a:r>
            <a:r>
              <a:rPr lang="en-US" altLang="ja-JP" sz="1400" dirty="0" err="1">
                <a:solidFill>
                  <a:prstClr val="white"/>
                </a:solidFill>
                <a:latin typeface="Calibri"/>
                <a:ea typeface="ＭＳ Ｐゴシック" panose="020B0600070205080204" pitchFamily="50" charset="-128"/>
              </a:rPr>
              <a:t>getWidth</a:t>
            </a:r>
            <a:r>
              <a:rPr lang="en-US" altLang="ja-JP" sz="1400" dirty="0">
                <a:solidFill>
                  <a:prstClr val="white"/>
                </a:solidFill>
                <a:latin typeface="Calibri"/>
                <a:ea typeface="ＭＳ Ｐゴシック" panose="020B0600070205080204" pitchFamily="50" charset="-128"/>
              </a:rPr>
              <a:t>()/2){</a:t>
            </a:r>
          </a:p>
          <a:p>
            <a:pPr marL="0" indent="0">
              <a:buNone/>
            </a:pPr>
            <a:r>
              <a:rPr lang="en-US" altLang="ja-JP" sz="1400" dirty="0">
                <a:solidFill>
                  <a:prstClr val="white"/>
                </a:solidFill>
                <a:latin typeface="Calibri"/>
                <a:ea typeface="ＭＳ Ｐゴシック" panose="020B0600070205080204" pitchFamily="50" charset="-128"/>
              </a:rPr>
              <a:t>        dx1 = </a:t>
            </a:r>
            <a:r>
              <a:rPr lang="en-US" altLang="ja-JP" sz="1400" dirty="0" err="1">
                <a:solidFill>
                  <a:prstClr val="white"/>
                </a:solidFill>
                <a:latin typeface="Calibri"/>
                <a:ea typeface="ＭＳ Ｐゴシック" panose="020B0600070205080204" pitchFamily="50" charset="-128"/>
              </a:rPr>
              <a:t>getWidth</a:t>
            </a:r>
            <a:r>
              <a:rPr lang="en-US" altLang="ja-JP" sz="1400" dirty="0">
                <a:solidFill>
                  <a:prstClr val="white"/>
                </a:solidFill>
                <a:latin typeface="Calibri"/>
                <a:ea typeface="ＭＳ Ｐゴシック" panose="020B0600070205080204" pitchFamily="50" charset="-128"/>
              </a:rPr>
              <a:t>()/2-getX();</a:t>
            </a:r>
          </a:p>
          <a:p>
            <a:pPr marL="0" indent="0">
              <a:buNone/>
            </a:pPr>
            <a:r>
              <a:rPr lang="en-US" altLang="ja-JP" sz="1400" dirty="0">
                <a:solidFill>
                  <a:prstClr val="white"/>
                </a:solidFill>
                <a:latin typeface="Calibri"/>
                <a:ea typeface="ＭＳ Ｐゴシック" panose="020B0600070205080204" pitchFamily="50" charset="-128"/>
              </a:rPr>
              <a:t>    }else if(</a:t>
            </a:r>
            <a:r>
              <a:rPr lang="en-US" altLang="ja-JP" sz="1400" dirty="0" err="1">
                <a:solidFill>
                  <a:prstClr val="white"/>
                </a:solidFill>
                <a:latin typeface="Calibri"/>
                <a:ea typeface="ＭＳ Ｐゴシック" panose="020B0600070205080204" pitchFamily="50" charset="-128"/>
              </a:rPr>
              <a:t>getX</a:t>
            </a:r>
            <a:r>
              <a:rPr lang="en-US" altLang="ja-JP" sz="1400" dirty="0">
                <a:solidFill>
                  <a:prstClr val="white"/>
                </a:solidFill>
                <a:latin typeface="Calibri"/>
                <a:ea typeface="ＭＳ Ｐゴシック" panose="020B0600070205080204" pitchFamily="50" charset="-128"/>
              </a:rPr>
              <a:t>()+dx1 &gt; </a:t>
            </a:r>
            <a:r>
              <a:rPr lang="en-US" altLang="ja-JP" sz="1400" dirty="0" err="1">
                <a:solidFill>
                  <a:prstClr val="white"/>
                </a:solidFill>
                <a:latin typeface="Calibri"/>
                <a:ea typeface="ＭＳ Ｐゴシック" panose="020B0600070205080204" pitchFamily="50" charset="-128"/>
              </a:rPr>
              <a:t>getBattleFieldWidth</a:t>
            </a:r>
            <a:r>
              <a:rPr lang="en-US" altLang="ja-JP" sz="1400" dirty="0">
                <a:solidFill>
                  <a:prstClr val="white"/>
                </a:solidFill>
                <a:latin typeface="Calibri"/>
                <a:ea typeface="ＭＳ Ｐゴシック" panose="020B0600070205080204" pitchFamily="50" charset="-128"/>
              </a:rPr>
              <a:t>()-</a:t>
            </a:r>
          </a:p>
          <a:p>
            <a:pPr marL="0" indent="0">
              <a:buNone/>
            </a:pPr>
            <a:r>
              <a:rPr lang="en-US" altLang="ja-JP" sz="1400" dirty="0">
                <a:solidFill>
                  <a:prstClr val="white"/>
                </a:solidFill>
                <a:latin typeface="Calibri"/>
                <a:ea typeface="ＭＳ Ｐゴシック" panose="020B0600070205080204" pitchFamily="50" charset="-128"/>
              </a:rPr>
              <a:t>        </a:t>
            </a:r>
            <a:r>
              <a:rPr lang="en-US" altLang="ja-JP" sz="1400" dirty="0" err="1">
                <a:solidFill>
                  <a:prstClr val="white"/>
                </a:solidFill>
                <a:latin typeface="Calibri"/>
                <a:ea typeface="ＭＳ Ｐゴシック" panose="020B0600070205080204" pitchFamily="50" charset="-128"/>
              </a:rPr>
              <a:t>getWidth</a:t>
            </a:r>
            <a:r>
              <a:rPr lang="en-US" altLang="ja-JP" sz="1400" dirty="0">
                <a:solidFill>
                  <a:prstClr val="white"/>
                </a:solidFill>
                <a:latin typeface="Calibri"/>
                <a:ea typeface="ＭＳ Ｐゴシック" panose="020B0600070205080204" pitchFamily="50" charset="-128"/>
              </a:rPr>
              <a:t>()/2){</a:t>
            </a:r>
          </a:p>
          <a:p>
            <a:pPr marL="0" indent="0">
              <a:buNone/>
            </a:pPr>
            <a:r>
              <a:rPr lang="en-US" altLang="ja-JP" sz="1400" dirty="0">
                <a:solidFill>
                  <a:prstClr val="white"/>
                </a:solidFill>
                <a:latin typeface="Calibri"/>
                <a:ea typeface="ＭＳ Ｐゴシック" panose="020B0600070205080204" pitchFamily="50" charset="-128"/>
              </a:rPr>
              <a:t>        dx1 = </a:t>
            </a:r>
            <a:r>
              <a:rPr lang="en-US" altLang="ja-JP" sz="1400" dirty="0" err="1">
                <a:solidFill>
                  <a:prstClr val="white"/>
                </a:solidFill>
                <a:latin typeface="Calibri"/>
                <a:ea typeface="ＭＳ Ｐゴシック" panose="020B0600070205080204" pitchFamily="50" charset="-128"/>
              </a:rPr>
              <a:t>getBattleFieldWidth</a:t>
            </a:r>
            <a:r>
              <a:rPr lang="en-US" altLang="ja-JP" sz="1400" dirty="0">
                <a:solidFill>
                  <a:prstClr val="white"/>
                </a:solidFill>
                <a:latin typeface="Calibri"/>
                <a:ea typeface="ＭＳ Ｐゴシック" panose="020B0600070205080204" pitchFamily="50" charset="-128"/>
              </a:rPr>
              <a:t>()-</a:t>
            </a:r>
            <a:r>
              <a:rPr lang="en-US" altLang="ja-JP" sz="1400" dirty="0" err="1">
                <a:solidFill>
                  <a:prstClr val="white"/>
                </a:solidFill>
                <a:latin typeface="Calibri"/>
                <a:ea typeface="ＭＳ Ｐゴシック" panose="020B0600070205080204" pitchFamily="50" charset="-128"/>
              </a:rPr>
              <a:t>getWidth</a:t>
            </a:r>
            <a:r>
              <a:rPr lang="en-US" altLang="ja-JP" sz="1400" dirty="0">
                <a:solidFill>
                  <a:prstClr val="white"/>
                </a:solidFill>
                <a:latin typeface="Calibri"/>
                <a:ea typeface="ＭＳ Ｐゴシック" panose="020B0600070205080204" pitchFamily="50" charset="-128"/>
              </a:rPr>
              <a:t>()/2-getX();</a:t>
            </a:r>
          </a:p>
          <a:p>
            <a:pPr marL="0" indent="0">
              <a:buNone/>
            </a:pPr>
            <a:r>
              <a:rPr lang="en-US" altLang="ja-JP" sz="1400" dirty="0">
                <a:solidFill>
                  <a:prstClr val="white"/>
                </a:solidFill>
                <a:latin typeface="Calibri"/>
                <a:ea typeface="ＭＳ Ｐゴシック" panose="020B0600070205080204" pitchFamily="50" charset="-128"/>
              </a:rPr>
              <a:t>    }</a:t>
            </a:r>
          </a:p>
          <a:p>
            <a:pPr marL="0" indent="0">
              <a:buNone/>
            </a:pPr>
            <a:r>
              <a:rPr lang="en-US" altLang="ja-JP" sz="1400" dirty="0">
                <a:solidFill>
                  <a:prstClr val="white"/>
                </a:solidFill>
                <a:latin typeface="Calibri"/>
                <a:ea typeface="ＭＳ Ｐゴシック" panose="020B0600070205080204" pitchFamily="50" charset="-128"/>
              </a:rPr>
              <a:t>    if(</a:t>
            </a:r>
            <a:r>
              <a:rPr lang="en-US" altLang="ja-JP" sz="1400" dirty="0" err="1">
                <a:solidFill>
                  <a:prstClr val="white"/>
                </a:solidFill>
                <a:latin typeface="Calibri"/>
                <a:ea typeface="ＭＳ Ｐゴシック" panose="020B0600070205080204" pitchFamily="50" charset="-128"/>
              </a:rPr>
              <a:t>getY</a:t>
            </a:r>
            <a:r>
              <a:rPr lang="en-US" altLang="ja-JP" sz="1400" dirty="0">
                <a:solidFill>
                  <a:prstClr val="white"/>
                </a:solidFill>
                <a:latin typeface="Calibri"/>
                <a:ea typeface="ＭＳ Ｐゴシック" panose="020B0600070205080204" pitchFamily="50" charset="-128"/>
              </a:rPr>
              <a:t>()+dy1 &lt; </a:t>
            </a:r>
            <a:r>
              <a:rPr lang="en-US" altLang="ja-JP" sz="1400" dirty="0" err="1">
                <a:solidFill>
                  <a:prstClr val="white"/>
                </a:solidFill>
                <a:latin typeface="Calibri"/>
                <a:ea typeface="ＭＳ Ｐゴシック" panose="020B0600070205080204" pitchFamily="50" charset="-128"/>
              </a:rPr>
              <a:t>getHeight</a:t>
            </a:r>
            <a:r>
              <a:rPr lang="en-US" altLang="ja-JP" sz="1400" dirty="0">
                <a:solidFill>
                  <a:prstClr val="white"/>
                </a:solidFill>
                <a:latin typeface="Calibri"/>
                <a:ea typeface="ＭＳ Ｐゴシック" panose="020B0600070205080204" pitchFamily="50" charset="-128"/>
              </a:rPr>
              <a:t>()/2){</a:t>
            </a:r>
          </a:p>
          <a:p>
            <a:pPr marL="0" indent="0">
              <a:buNone/>
            </a:pPr>
            <a:r>
              <a:rPr lang="en-US" altLang="ja-JP" sz="1400" dirty="0">
                <a:solidFill>
                  <a:prstClr val="white"/>
                </a:solidFill>
                <a:latin typeface="Calibri"/>
                <a:ea typeface="ＭＳ Ｐゴシック" panose="020B0600070205080204" pitchFamily="50" charset="-128"/>
              </a:rPr>
              <a:t>        dy1 = </a:t>
            </a:r>
            <a:r>
              <a:rPr lang="en-US" altLang="ja-JP" sz="1400" dirty="0" err="1">
                <a:solidFill>
                  <a:prstClr val="white"/>
                </a:solidFill>
                <a:latin typeface="Calibri"/>
                <a:ea typeface="ＭＳ Ｐゴシック" panose="020B0600070205080204" pitchFamily="50" charset="-128"/>
              </a:rPr>
              <a:t>getHeight</a:t>
            </a:r>
            <a:r>
              <a:rPr lang="en-US" altLang="ja-JP" sz="1400" dirty="0">
                <a:solidFill>
                  <a:prstClr val="white"/>
                </a:solidFill>
                <a:latin typeface="Calibri"/>
                <a:ea typeface="ＭＳ Ｐゴシック" panose="020B0600070205080204" pitchFamily="50" charset="-128"/>
              </a:rPr>
              <a:t>()/2-getY();</a:t>
            </a:r>
          </a:p>
          <a:p>
            <a:pPr marL="0" indent="0">
              <a:buNone/>
            </a:pPr>
            <a:r>
              <a:rPr lang="en-US" altLang="ja-JP" sz="1400" dirty="0">
                <a:solidFill>
                  <a:prstClr val="white"/>
                </a:solidFill>
                <a:latin typeface="Calibri"/>
                <a:ea typeface="ＭＳ Ｐゴシック" panose="020B0600070205080204" pitchFamily="50" charset="-128"/>
              </a:rPr>
              <a:t>    }else if(</a:t>
            </a:r>
            <a:r>
              <a:rPr lang="en-US" altLang="ja-JP" sz="1400" dirty="0" err="1">
                <a:solidFill>
                  <a:prstClr val="white"/>
                </a:solidFill>
                <a:latin typeface="Calibri"/>
                <a:ea typeface="ＭＳ Ｐゴシック" panose="020B0600070205080204" pitchFamily="50" charset="-128"/>
              </a:rPr>
              <a:t>getY</a:t>
            </a:r>
            <a:r>
              <a:rPr lang="en-US" altLang="ja-JP" sz="1400" dirty="0">
                <a:solidFill>
                  <a:prstClr val="white"/>
                </a:solidFill>
                <a:latin typeface="Calibri"/>
                <a:ea typeface="ＭＳ Ｐゴシック" panose="020B0600070205080204" pitchFamily="50" charset="-128"/>
              </a:rPr>
              <a:t>()+dy1 &gt; </a:t>
            </a:r>
            <a:r>
              <a:rPr lang="en-US" altLang="ja-JP" sz="1400" dirty="0" err="1">
                <a:solidFill>
                  <a:prstClr val="white"/>
                </a:solidFill>
                <a:latin typeface="Calibri"/>
                <a:ea typeface="ＭＳ Ｐゴシック" panose="020B0600070205080204" pitchFamily="50" charset="-128"/>
              </a:rPr>
              <a:t>getBattleFieldHeight</a:t>
            </a:r>
            <a:r>
              <a:rPr lang="en-US" altLang="ja-JP" sz="1400" dirty="0">
                <a:solidFill>
                  <a:prstClr val="white"/>
                </a:solidFill>
                <a:latin typeface="Calibri"/>
                <a:ea typeface="ＭＳ Ｐゴシック" panose="020B0600070205080204" pitchFamily="50" charset="-128"/>
              </a:rPr>
              <a:t>()-</a:t>
            </a:r>
          </a:p>
          <a:p>
            <a:pPr marL="0" indent="0">
              <a:buNone/>
            </a:pPr>
            <a:r>
              <a:rPr lang="en-US" altLang="ja-JP" sz="1400" dirty="0">
                <a:solidFill>
                  <a:prstClr val="white"/>
                </a:solidFill>
                <a:latin typeface="Calibri"/>
                <a:ea typeface="ＭＳ Ｐゴシック" panose="020B0600070205080204" pitchFamily="50" charset="-128"/>
              </a:rPr>
              <a:t>        </a:t>
            </a:r>
            <a:r>
              <a:rPr lang="en-US" altLang="ja-JP" sz="1400" dirty="0" err="1">
                <a:solidFill>
                  <a:prstClr val="white"/>
                </a:solidFill>
                <a:latin typeface="Calibri"/>
                <a:ea typeface="ＭＳ Ｐゴシック" panose="020B0600070205080204" pitchFamily="50" charset="-128"/>
              </a:rPr>
              <a:t>getHeight</a:t>
            </a:r>
            <a:r>
              <a:rPr lang="en-US" altLang="ja-JP" sz="1400" dirty="0">
                <a:solidFill>
                  <a:prstClr val="white"/>
                </a:solidFill>
                <a:latin typeface="Calibri"/>
                <a:ea typeface="ＭＳ Ｐゴシック" panose="020B0600070205080204" pitchFamily="50" charset="-128"/>
              </a:rPr>
              <a:t>()/2){</a:t>
            </a:r>
          </a:p>
          <a:p>
            <a:pPr marL="0" indent="0">
              <a:buNone/>
            </a:pPr>
            <a:r>
              <a:rPr lang="en-US" altLang="ja-JP" sz="1400" dirty="0">
                <a:solidFill>
                  <a:prstClr val="white"/>
                </a:solidFill>
                <a:latin typeface="Calibri"/>
                <a:ea typeface="ＭＳ Ｐゴシック" panose="020B0600070205080204" pitchFamily="50" charset="-128"/>
              </a:rPr>
              <a:t>        dy1 = </a:t>
            </a:r>
            <a:r>
              <a:rPr lang="en-US" altLang="ja-JP" sz="1400" dirty="0" err="1">
                <a:solidFill>
                  <a:prstClr val="white"/>
                </a:solidFill>
                <a:latin typeface="Calibri"/>
                <a:ea typeface="ＭＳ Ｐゴシック" panose="020B0600070205080204" pitchFamily="50" charset="-128"/>
              </a:rPr>
              <a:t>getBattleFieldHeight</a:t>
            </a:r>
            <a:r>
              <a:rPr lang="en-US" altLang="ja-JP" sz="1400" dirty="0">
                <a:solidFill>
                  <a:prstClr val="white"/>
                </a:solidFill>
                <a:latin typeface="Calibri"/>
                <a:ea typeface="ＭＳ Ｐゴシック" panose="020B0600070205080204" pitchFamily="50" charset="-128"/>
              </a:rPr>
              <a:t>()-</a:t>
            </a:r>
            <a:r>
              <a:rPr lang="en-US" altLang="ja-JP" sz="1400" dirty="0" err="1">
                <a:solidFill>
                  <a:prstClr val="white"/>
                </a:solidFill>
                <a:latin typeface="Calibri"/>
                <a:ea typeface="ＭＳ Ｐゴシック" panose="020B0600070205080204" pitchFamily="50" charset="-128"/>
              </a:rPr>
              <a:t>getHeight</a:t>
            </a:r>
            <a:r>
              <a:rPr lang="en-US" altLang="ja-JP" sz="1400" dirty="0">
                <a:solidFill>
                  <a:prstClr val="white"/>
                </a:solidFill>
                <a:latin typeface="Calibri"/>
                <a:ea typeface="ＭＳ Ｐゴシック" panose="020B0600070205080204" pitchFamily="50" charset="-128"/>
              </a:rPr>
              <a:t>()/2-getY();</a:t>
            </a:r>
          </a:p>
          <a:p>
            <a:pPr marL="0" indent="0">
              <a:buNone/>
            </a:pPr>
            <a:r>
              <a:rPr lang="en-US" altLang="ja-JP" sz="1400" dirty="0">
                <a:solidFill>
                  <a:prstClr val="white"/>
                </a:solidFill>
                <a:latin typeface="Calibri"/>
                <a:ea typeface="ＭＳ Ｐゴシック" panose="020B0600070205080204" pitchFamily="50" charset="-128"/>
              </a:rPr>
              <a:t>    }</a:t>
            </a:r>
          </a:p>
          <a:p>
            <a:pPr marL="0" indent="0">
              <a:buNone/>
            </a:pPr>
            <a:endParaRPr lang="en-US" altLang="ja-JP" sz="1400" dirty="0">
              <a:solidFill>
                <a:prstClr val="white"/>
              </a:solidFill>
              <a:latin typeface="Calibri"/>
              <a:ea typeface="ＭＳ Ｐゴシック" panose="020B0600070205080204" pitchFamily="50" charset="-128"/>
            </a:endParaRPr>
          </a:p>
          <a:p>
            <a:pPr marL="0" indent="0">
              <a:buNone/>
            </a:pPr>
            <a:r>
              <a:rPr lang="en-US" altLang="ja-JP" sz="1400" dirty="0">
                <a:solidFill>
                  <a:prstClr val="white"/>
                </a:solidFill>
                <a:latin typeface="Calibri"/>
                <a:ea typeface="ＭＳ Ｐゴシック" panose="020B0600070205080204" pitchFamily="50" charset="-128"/>
              </a:rPr>
              <a:t>    double degree = 90-</a:t>
            </a:r>
          </a:p>
          <a:p>
            <a:pPr marL="0" indent="0">
              <a:buNone/>
            </a:pPr>
            <a:r>
              <a:rPr lang="en-US" altLang="ja-JP" sz="1400" dirty="0">
                <a:solidFill>
                  <a:prstClr val="white"/>
                </a:solidFill>
                <a:latin typeface="Calibri"/>
                <a:ea typeface="ＭＳ Ｐゴシック" panose="020B0600070205080204" pitchFamily="50" charset="-128"/>
              </a:rPr>
              <a:t>        </a:t>
            </a:r>
            <a:r>
              <a:rPr lang="en-US" altLang="ja-JP" sz="1400" dirty="0" err="1">
                <a:solidFill>
                  <a:prstClr val="white"/>
                </a:solidFill>
                <a:latin typeface="Calibri"/>
                <a:ea typeface="ＭＳ Ｐゴシック" panose="020B0600070205080204" pitchFamily="50" charset="-128"/>
              </a:rPr>
              <a:t>Math.toDegrees</a:t>
            </a:r>
            <a:r>
              <a:rPr lang="en-US" altLang="ja-JP" sz="1400" dirty="0">
                <a:solidFill>
                  <a:prstClr val="white"/>
                </a:solidFill>
                <a:latin typeface="Calibri"/>
                <a:ea typeface="ＭＳ Ｐゴシック" panose="020B0600070205080204" pitchFamily="50" charset="-128"/>
              </a:rPr>
              <a:t>(Math.atan2(dy1,dx1));</a:t>
            </a:r>
          </a:p>
          <a:p>
            <a:pPr marL="0" indent="0">
              <a:buNone/>
            </a:pPr>
            <a:r>
              <a:rPr lang="en-US" altLang="ja-JP" sz="1400" dirty="0">
                <a:solidFill>
                  <a:prstClr val="white"/>
                </a:solidFill>
                <a:latin typeface="Calibri"/>
                <a:ea typeface="ＭＳ Ｐゴシック" panose="020B0600070205080204" pitchFamily="50" charset="-128"/>
              </a:rPr>
              <a:t>    </a:t>
            </a:r>
            <a:r>
              <a:rPr lang="en-US" altLang="ja-JP" sz="1400" dirty="0" err="1">
                <a:solidFill>
                  <a:prstClr val="white"/>
                </a:solidFill>
                <a:latin typeface="Calibri"/>
                <a:ea typeface="ＭＳ Ｐゴシック" panose="020B0600070205080204" pitchFamily="50" charset="-128"/>
              </a:rPr>
              <a:t>turnGunRight</a:t>
            </a:r>
            <a:r>
              <a:rPr lang="en-US" altLang="ja-JP" sz="1400" dirty="0">
                <a:solidFill>
                  <a:prstClr val="white"/>
                </a:solidFill>
                <a:latin typeface="Calibri"/>
                <a:ea typeface="ＭＳ Ｐゴシック" panose="020B0600070205080204" pitchFamily="50" charset="-128"/>
              </a:rPr>
              <a:t>(</a:t>
            </a:r>
            <a:r>
              <a:rPr lang="en-US" altLang="ja-JP" sz="1400" dirty="0" err="1">
                <a:solidFill>
                  <a:prstClr val="white"/>
                </a:solidFill>
                <a:latin typeface="Calibri"/>
                <a:ea typeface="ＭＳ Ｐゴシック" panose="020B0600070205080204" pitchFamily="50" charset="-128"/>
              </a:rPr>
              <a:t>normalizeDegree</a:t>
            </a:r>
            <a:r>
              <a:rPr lang="en-US" altLang="ja-JP" sz="1400" dirty="0">
                <a:solidFill>
                  <a:prstClr val="white"/>
                </a:solidFill>
                <a:latin typeface="Calibri"/>
                <a:ea typeface="ＭＳ Ｐゴシック" panose="020B0600070205080204" pitchFamily="50" charset="-128"/>
              </a:rPr>
              <a:t>(degree-</a:t>
            </a:r>
          </a:p>
          <a:p>
            <a:pPr marL="0" indent="0">
              <a:buNone/>
            </a:pPr>
            <a:r>
              <a:rPr lang="en-US" altLang="ja-JP" sz="1400" dirty="0">
                <a:solidFill>
                  <a:prstClr val="white"/>
                </a:solidFill>
                <a:latin typeface="Calibri"/>
                <a:ea typeface="ＭＳ Ｐゴシック" panose="020B0600070205080204" pitchFamily="50" charset="-128"/>
              </a:rPr>
              <a:t>        </a:t>
            </a:r>
            <a:r>
              <a:rPr lang="en-US" altLang="ja-JP" sz="1400" dirty="0" err="1">
                <a:solidFill>
                  <a:prstClr val="white"/>
                </a:solidFill>
                <a:latin typeface="Calibri"/>
                <a:ea typeface="ＭＳ Ｐゴシック" panose="020B0600070205080204" pitchFamily="50" charset="-128"/>
              </a:rPr>
              <a:t>getGunHeading</a:t>
            </a:r>
            <a:r>
              <a:rPr lang="en-US" altLang="ja-JP" sz="1400" dirty="0">
                <a:solidFill>
                  <a:prstClr val="white"/>
                </a:solidFill>
                <a:latin typeface="Calibri"/>
                <a:ea typeface="ＭＳ Ｐゴシック" panose="020B0600070205080204" pitchFamily="50" charset="-128"/>
              </a:rPr>
              <a:t>()));</a:t>
            </a:r>
          </a:p>
          <a:p>
            <a:pPr marL="0" indent="0">
              <a:buNone/>
            </a:pPr>
            <a:r>
              <a:rPr lang="en-US" altLang="ja-JP" sz="1400" dirty="0">
                <a:solidFill>
                  <a:prstClr val="white"/>
                </a:solidFill>
                <a:latin typeface="Calibri"/>
                <a:ea typeface="ＭＳ Ｐゴシック" panose="020B0600070205080204" pitchFamily="50" charset="-128"/>
              </a:rPr>
              <a:t>    fire(power);</a:t>
            </a:r>
          </a:p>
          <a:p>
            <a:pPr marL="0" indent="0">
              <a:buNone/>
            </a:pPr>
            <a:r>
              <a:rPr lang="en-US" altLang="ja-JP" sz="1400" dirty="0">
                <a:solidFill>
                  <a:prstClr val="white"/>
                </a:solidFill>
                <a:latin typeface="Calibri"/>
                <a:ea typeface="ＭＳ Ｐゴシック" panose="020B0600070205080204" pitchFamily="50" charset="-128"/>
              </a:rPr>
              <a:t>}</a:t>
            </a:r>
          </a:p>
          <a:p>
            <a:pPr marL="0" indent="0">
              <a:buNone/>
            </a:pPr>
            <a:endParaRPr lang="en-US" altLang="ja-JP" sz="1400" dirty="0">
              <a:solidFill>
                <a:prstClr val="white"/>
              </a:solidFill>
              <a:latin typeface="Calibri"/>
              <a:ea typeface="ＭＳ Ｐゴシック" panose="020B060007020508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167506057"/>
      </p:ext>
    </p:extLst>
  </p:cSld>
  <p:clrMapOvr>
    <a:masterClrMapping/>
  </p:clrMapOvr>
  <p:transition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参考文献</a:t>
            </a:r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ja-JP" altLang="en-US" dirty="0"/>
              <a:t>可知豊</a:t>
            </a:r>
            <a:r>
              <a:rPr lang="en-US" altLang="ja-JP" dirty="0"/>
              <a:t>, </a:t>
            </a:r>
            <a:r>
              <a:rPr kumimoji="1" lang="en-US" altLang="ja-JP" dirty="0"/>
              <a:t>Java</a:t>
            </a:r>
            <a:r>
              <a:rPr kumimoji="1" lang="ja-JP" altLang="en-US" dirty="0"/>
              <a:t>プログラマーにもなれちゃう </a:t>
            </a:r>
            <a:r>
              <a:rPr kumimoji="1" lang="en-US" altLang="ja-JP" dirty="0" err="1"/>
              <a:t>Robocode</a:t>
            </a:r>
            <a:r>
              <a:rPr kumimoji="1" lang="en-US" altLang="ja-JP" dirty="0"/>
              <a:t> &amp; </a:t>
            </a:r>
            <a:r>
              <a:rPr kumimoji="1" lang="ja-JP" altLang="en-US" dirty="0"/>
              <a:t>ゲームプログラミング学習術</a:t>
            </a:r>
            <a:r>
              <a:rPr kumimoji="1" lang="en-US" altLang="ja-JP" dirty="0"/>
              <a:t>, </a:t>
            </a:r>
            <a:r>
              <a:rPr kumimoji="1" lang="ja-JP" altLang="en-US" dirty="0"/>
              <a:t>ソシム株式会社</a:t>
            </a:r>
            <a:r>
              <a:rPr kumimoji="1" lang="en-US" altLang="ja-JP" dirty="0"/>
              <a:t>, ISBN4-88337-373-8, 2003.</a:t>
            </a:r>
          </a:p>
          <a:p>
            <a:r>
              <a:rPr lang="en-US" altLang="ja-JP" dirty="0"/>
              <a:t>IBM</a:t>
            </a:r>
            <a:r>
              <a:rPr lang="ja-JP" altLang="en-US" dirty="0"/>
              <a:t>東京基礎研究所ロボコード・サポーターズ</a:t>
            </a:r>
            <a:r>
              <a:rPr lang="en-US" altLang="ja-JP" dirty="0"/>
              <a:t> </a:t>
            </a:r>
            <a:r>
              <a:rPr lang="ja-JP" altLang="en-US" dirty="0"/>
              <a:t>立堀道昭</a:t>
            </a:r>
            <a:r>
              <a:rPr lang="en-US" altLang="ja-JP" dirty="0"/>
              <a:t>,</a:t>
            </a:r>
            <a:r>
              <a:rPr lang="ja-JP" altLang="en-US" dirty="0"/>
              <a:t>杉原亮</a:t>
            </a:r>
            <a:r>
              <a:rPr lang="en-US" altLang="ja-JP" dirty="0"/>
              <a:t>, </a:t>
            </a:r>
            <a:r>
              <a:rPr lang="ja-JP" altLang="en-US" dirty="0"/>
              <a:t>益満健</a:t>
            </a:r>
            <a:r>
              <a:rPr lang="en-US" altLang="ja-JP" dirty="0"/>
              <a:t>, </a:t>
            </a:r>
            <a:r>
              <a:rPr lang="ja-JP" altLang="en-US" dirty="0"/>
              <a:t>梶永泰正</a:t>
            </a:r>
            <a:r>
              <a:rPr lang="en-US" altLang="ja-JP" dirty="0"/>
              <a:t>, </a:t>
            </a:r>
            <a:r>
              <a:rPr lang="ja-JP" altLang="en-US" dirty="0"/>
              <a:t>小柳光生</a:t>
            </a:r>
            <a:r>
              <a:rPr lang="en-US" altLang="ja-JP" dirty="0"/>
              <a:t>, ROBOCODE BIBLE </a:t>
            </a:r>
            <a:r>
              <a:rPr lang="ja-JP" altLang="en-US" dirty="0"/>
              <a:t>最強ロボットへの道</a:t>
            </a:r>
            <a:r>
              <a:rPr lang="en-US" altLang="ja-JP" dirty="0"/>
              <a:t>, </a:t>
            </a:r>
            <a:r>
              <a:rPr lang="ja-JP" altLang="en-US" dirty="0"/>
              <a:t>株式会社技術評論社</a:t>
            </a:r>
            <a:r>
              <a:rPr lang="en-US" altLang="ja-JP" dirty="0"/>
              <a:t>, ISBN4-7741-1738-2, 2003</a:t>
            </a:r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D8002D-B5B0-4BAC-B1F6-782DDCCE6D9C}" type="slidenum">
              <a:rPr lang="ja-JP" altLang="en-US">
                <a:solidFill>
                  <a:prstClr val="white"/>
                </a:solidFill>
                <a:latin typeface="Calibri"/>
                <a:ea typeface="ＭＳ Ｐゴシック" panose="020B0600070205080204" pitchFamily="50" charset="-128"/>
              </a:rPr>
              <a:pPr/>
              <a:t>10</a:t>
            </a:fld>
            <a:endParaRPr lang="ja-JP" altLang="en-US">
              <a:solidFill>
                <a:prstClr val="white"/>
              </a:solidFill>
              <a:latin typeface="Calibri"/>
              <a:ea typeface="ＭＳ Ｐゴシック" panose="020B060007020508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687386628"/>
      </p:ext>
    </p:extLst>
  </p:cSld>
  <p:clrMapOvr>
    <a:masterClrMapping/>
  </p:clrMapOvr>
  <p:transition>
    <p:fade/>
  </p:transition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1_Office テーマ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</TotalTime>
  <Words>1232</Words>
  <Application>Microsoft Office PowerPoint</Application>
  <PresentationFormat>ワイド画面</PresentationFormat>
  <Paragraphs>163</Paragraphs>
  <Slides>10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6</vt:i4>
      </vt:variant>
      <vt:variant>
        <vt:lpstr>テーマ</vt:lpstr>
      </vt:variant>
      <vt:variant>
        <vt:i4>2</vt:i4>
      </vt:variant>
      <vt:variant>
        <vt:lpstr>スライド タイトル</vt:lpstr>
      </vt:variant>
      <vt:variant>
        <vt:i4>10</vt:i4>
      </vt:variant>
    </vt:vector>
  </HeadingPairs>
  <TitlesOfParts>
    <vt:vector size="18" baseType="lpstr">
      <vt:lpstr>游ゴシック</vt:lpstr>
      <vt:lpstr>游ゴシック Light</vt:lpstr>
      <vt:lpstr>Arial</vt:lpstr>
      <vt:lpstr>Calibri</vt:lpstr>
      <vt:lpstr>Cambria Math</vt:lpstr>
      <vt:lpstr>Consolas</vt:lpstr>
      <vt:lpstr>Office テーマ</vt:lpstr>
      <vt:lpstr>1_Office テーマ</vt:lpstr>
      <vt:lpstr>失敗するAIによるAIの学習サイトへの統合案</vt:lpstr>
      <vt:lpstr>PowerPoint プレゼンテーション</vt:lpstr>
      <vt:lpstr>数学</vt:lpstr>
      <vt:lpstr>PowerPoint プレゼンテーション</vt:lpstr>
      <vt:lpstr>PowerPoint プレゼンテーション</vt:lpstr>
      <vt:lpstr>敵の動作の予測（幾何学）</vt:lpstr>
      <vt:lpstr>敵の動作の予測（三角関数、二次関数の解）</vt:lpstr>
      <vt:lpstr>敵の動作の予測（二次関数の解）</vt:lpstr>
      <vt:lpstr>敵の動作の予測（サンプルプログラム）</vt:lpstr>
      <vt:lpstr>参考文献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中田 豊久</dc:creator>
  <cp:lastModifiedBy>中田 豊久</cp:lastModifiedBy>
  <cp:revision>6</cp:revision>
  <dcterms:created xsi:type="dcterms:W3CDTF">2026-04-07T23:37:46Z</dcterms:created>
  <dcterms:modified xsi:type="dcterms:W3CDTF">2026-04-07T23:51:13Z</dcterms:modified>
</cp:coreProperties>
</file>