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71" r:id="rId4"/>
    <p:sldId id="256" r:id="rId5"/>
    <p:sldId id="264" r:id="rId6"/>
    <p:sldId id="269" r:id="rId7"/>
    <p:sldId id="263" r:id="rId8"/>
    <p:sldId id="265" r:id="rId9"/>
    <p:sldId id="266" r:id="rId10"/>
    <p:sldId id="268" r:id="rId11"/>
    <p:sldId id="270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72DF80-EBF3-111B-5923-F65DBDEB1F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880307A-08B9-3DD8-1C4C-E23EAFBC6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82683B-1F1B-7A61-D605-B657CF5D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9EC6-7AF1-418C-94A7-BD258F9FEED6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6A04F9-9B93-05B5-680D-333BF23E7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468B4A-08E2-F38A-A21A-A8424BC91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C8AA-E002-499F-BACA-D169C2B566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8763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C60283-0375-0013-5BF8-E9D77BC0F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2AB5D5-D4DB-2239-98E3-F33168A01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7F0479-23EA-1238-327B-7D7D9AC1B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9EC6-7AF1-418C-94A7-BD258F9FEED6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7E6E47-218A-C96C-A5A0-8BF1A6496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B641A1-011B-3A6C-4129-E93E7067E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C8AA-E002-499F-BACA-D169C2B566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4418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8A3DB1-BAC1-953B-8EF3-0455D4709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0E8A8E-B0E5-CE97-3048-84F8F7AA8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0147AB-253F-0ACE-6EA6-768EFE22F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9EC6-7AF1-418C-94A7-BD258F9FEED6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EF73F2-5CC2-3968-8736-F51FF9335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F301FA-3899-5BC2-04DE-6D4158116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C8AA-E002-499F-BACA-D169C2B566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629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AAEA6D-A9BC-B323-E213-346A3707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F33F94-BFDB-34ED-4400-C03121F72C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78FA227-977B-64C2-A40A-383493701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6115B6-4540-BEA9-44C8-2F61F7E21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9EC6-7AF1-418C-94A7-BD258F9FEED6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4881FA-FB8E-4B88-2495-E382698D7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5F35D4-06D2-0A2D-675C-CB4AE7418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C8AA-E002-499F-BACA-D169C2B566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8998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8B44EC-1968-7989-ADA1-A60F89505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CD222C1-5B9E-AD31-8275-F873DE24B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D30530-41CD-C2FF-CA68-2460379F0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31821E7-D496-5531-B8EC-B08120A60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8765371-9DD5-49C1-BF9D-A14C69F87E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075C077-D746-20F9-2EB3-3A9EE10F3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9EC6-7AF1-418C-94A7-BD258F9FEED6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3C6D59A-A80A-B5F6-E7A5-C29ABFC2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DF495E4-38B6-8EC8-8209-ED011773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C8AA-E002-499F-BACA-D169C2B566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7267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0FB56D-D51A-F5C3-9E8D-6F5F9401E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7508C95-8172-2040-C457-5DF7C05DC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9EC6-7AF1-418C-94A7-BD258F9FEED6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B0D33F5-CB79-3276-7F3E-6079E84CF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5362377-E65E-7454-DFA5-D4648E64B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C8AA-E002-499F-BACA-D169C2B566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1464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D617F77-AA18-A42D-8934-846E817EC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9EC6-7AF1-418C-94A7-BD258F9FEED6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086CA5B-F7A5-0D65-2595-EB05CD3D5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A3E0991-B908-2901-1988-79C6745B2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C8AA-E002-499F-BACA-D169C2B566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906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5D1828-AAE0-3FA8-D76F-1933BB39E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AD12B7-8CB5-DC12-0ED1-856F0043B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F9D4444-B712-4F49-0655-6CCEBBAD7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5565F6F-E20E-7C39-EEB1-8E9F9480B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9EC6-7AF1-418C-94A7-BD258F9FEED6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DA06A2-0036-8D2A-C4F5-454F1C527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6F3B7A1-42AD-FAB7-C751-82BCF3704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C8AA-E002-499F-BACA-D169C2B566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4796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4DA68E-A0BA-EFD1-F80B-0C55D2F4F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4C6B1F0-11F5-EAB1-14F9-5F7657FA52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FEBE81A-1989-7933-E35F-360377221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D7BC58-1175-9F84-062C-04078313C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9EC6-7AF1-418C-94A7-BD258F9FEED6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ED3F97B-21C0-4488-322D-978071760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C083B25-A6A9-C26C-8A40-03B49C6E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C8AA-E002-499F-BACA-D169C2B566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10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D63165-5910-23D0-28E8-80F67A3A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33C25BC-A9B0-6B25-AF26-FBE74F5B8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15FB23-9D64-0E72-F36C-DFA64176B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9EC6-7AF1-418C-94A7-BD258F9FEED6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A282D4-8804-9F4D-41ED-95152A70C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6052DA-E18D-2B9B-9598-B7E414274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C8AA-E002-499F-BACA-D169C2B566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7564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2C8F68E-B689-BFF4-ADEE-ECC9005ADD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2B769D3-AABD-F64D-9ED2-CABA1066B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B51592-9E3C-F57B-8E43-24FAB33F5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9EC6-7AF1-418C-94A7-BD258F9FEED6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25E008-2A19-2762-3C02-724DC2421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A55890-175F-AA70-DF76-21248C5A1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C8AA-E002-499F-BACA-D169C2B566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3481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Autofit/>
          </a:bodyPr>
          <a:lstStyle>
            <a:lvl1pPr>
              <a:defRPr sz="72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ja-JP"/>
              <a:t>2008/8/19</a:t>
            </a:r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7103874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2008/8/19</a:t>
            </a:r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868499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2008/8/19</a:t>
            </a:r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581622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2008/8/19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274362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2008/8/19</a:t>
            </a:r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0028978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2008/8/19</a:t>
            </a:r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7894011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2008/8/19</a:t>
            </a:r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16769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2008/8/19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5246000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2008/8/19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0143366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2008/8/19</a:t>
            </a:r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0551184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2008/8/19</a:t>
            </a:r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98719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955B98F-EB33-BA20-CE12-7BF2AD11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3F592F1-AFA6-0E98-D431-D97B1389C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CAE540-5AF3-F33F-56AA-938E5B4E1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39EC6-7AF1-418C-94A7-BD258F9FEED6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D709A9-4F41-47FD-1403-FDE2755EC9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0F0BE7-80E1-4ADA-7E0E-22DCC3A0C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54C8AA-E002-499F-BACA-D169C2B566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3058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altLang="ja-JP"/>
              <a:t>2008/8/19</a:t>
            </a:r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0874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6ADF39-3468-2D4E-D74D-04D6D816E9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/>
              <a:t>失敗する</a:t>
            </a:r>
            <a:r>
              <a:rPr lang="en-US" altLang="ja-JP"/>
              <a:t>AI</a:t>
            </a:r>
            <a:r>
              <a:rPr lang="ja-JP" altLang="en-US"/>
              <a:t>による</a:t>
            </a:r>
            <a:r>
              <a:rPr lang="en-US" altLang="ja-JP"/>
              <a:t>AI</a:t>
            </a:r>
            <a:r>
              <a:rPr lang="ja-JP" altLang="en-US"/>
              <a:t>の学習サイトへの統合案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6394D71-ABD2-A30D-20A5-504E6A6876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3023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E30684A-F96F-1A4D-A1FC-FCAA29DC31C0}"/>
              </a:ext>
            </a:extLst>
          </p:cNvPr>
          <p:cNvSpPr txBox="1"/>
          <p:nvPr/>
        </p:nvSpPr>
        <p:spPr>
          <a:xfrm>
            <a:off x="304995" y="440905"/>
            <a:ext cx="3630706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/>
              <a:t>ソースコード</a:t>
            </a:r>
            <a:endParaRPr kumimoji="1" lang="en-US" altLang="ja-JP"/>
          </a:p>
          <a:p>
            <a:endParaRPr lang="en-US" altLang="ja-JP"/>
          </a:p>
          <a:p>
            <a:endParaRPr kumimoji="1" lang="en-US" altLang="ja-JP"/>
          </a:p>
          <a:p>
            <a:endParaRPr lang="en-US" altLang="ja-JP"/>
          </a:p>
          <a:p>
            <a:endParaRPr kumimoji="1" lang="en-US" altLang="ja-JP"/>
          </a:p>
          <a:p>
            <a:endParaRPr lang="en-US" altLang="ja-JP"/>
          </a:p>
          <a:p>
            <a:endParaRPr kumimoji="1" lang="en-US" altLang="ja-JP"/>
          </a:p>
          <a:p>
            <a:endParaRPr lang="en-US" altLang="ja-JP"/>
          </a:p>
          <a:p>
            <a:endParaRPr kumimoji="1" lang="en-US" altLang="ja-JP"/>
          </a:p>
          <a:p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A438E3D-2C16-4709-1721-AA61E21329C9}"/>
              </a:ext>
            </a:extLst>
          </p:cNvPr>
          <p:cNvSpPr txBox="1"/>
          <p:nvPr/>
        </p:nvSpPr>
        <p:spPr>
          <a:xfrm>
            <a:off x="855691" y="187557"/>
            <a:ext cx="2339102" cy="25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050"/>
              <a:t>プレイ（手動、自動、データ収集）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03E189E-595D-823C-C358-90A8A2E8DB0E}"/>
              </a:ext>
            </a:extLst>
          </p:cNvPr>
          <p:cNvSpPr txBox="1"/>
          <p:nvPr/>
        </p:nvSpPr>
        <p:spPr>
          <a:xfrm>
            <a:off x="3194793" y="187557"/>
            <a:ext cx="740908" cy="25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050"/>
              <a:t>AI</a:t>
            </a:r>
            <a:r>
              <a:rPr lang="ja-JP" altLang="en-US" sz="1050"/>
              <a:t>の学習</a:t>
            </a:r>
            <a:endParaRPr kumimoji="1" lang="ja-JP" altLang="en-US" sz="105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28ADFE0-69FF-BCCC-9BBC-A08A0A6D20B9}"/>
              </a:ext>
            </a:extLst>
          </p:cNvPr>
          <p:cNvSpPr txBox="1"/>
          <p:nvPr/>
        </p:nvSpPr>
        <p:spPr>
          <a:xfrm>
            <a:off x="4177748" y="2379897"/>
            <a:ext cx="363070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/>
              <a:t>実行画面</a:t>
            </a:r>
            <a:endParaRPr lang="en-US" altLang="ja-JP"/>
          </a:p>
          <a:p>
            <a:endParaRPr kumimoji="1" lang="en-US" altLang="ja-JP"/>
          </a:p>
          <a:p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973C821-23BA-3247-8533-2CEBE82BD6B3}"/>
              </a:ext>
            </a:extLst>
          </p:cNvPr>
          <p:cNvSpPr txBox="1"/>
          <p:nvPr/>
        </p:nvSpPr>
        <p:spPr>
          <a:xfrm>
            <a:off x="4177748" y="188260"/>
            <a:ext cx="3630706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/>
              <a:t>内部状態</a:t>
            </a:r>
            <a:endParaRPr lang="en-US" altLang="ja-JP"/>
          </a:p>
          <a:p>
            <a:r>
              <a:rPr kumimoji="1" lang="ja-JP" altLang="en-US"/>
              <a:t>どうやって弾を作るか？</a:t>
            </a:r>
            <a:endParaRPr kumimoji="1" lang="en-US" altLang="ja-JP"/>
          </a:p>
          <a:p>
            <a:r>
              <a:rPr lang="ja-JP" altLang="en-US"/>
              <a:t>手動：クリック場所</a:t>
            </a:r>
            <a:endParaRPr lang="en-US" altLang="ja-JP"/>
          </a:p>
          <a:p>
            <a:r>
              <a:rPr kumimoji="1" lang="ja-JP" altLang="en-US"/>
              <a:t>自動：ランダム</a:t>
            </a:r>
            <a:r>
              <a:rPr kumimoji="1" lang="en-US" altLang="ja-JP"/>
              <a:t>/</a:t>
            </a:r>
            <a:r>
              <a:rPr kumimoji="1" lang="ja-JP" altLang="en-US"/>
              <a:t>線形予測</a:t>
            </a:r>
            <a:r>
              <a:rPr lang="en-US" altLang="ja-JP"/>
              <a:t>/AI</a:t>
            </a:r>
          </a:p>
          <a:p>
            <a:endParaRPr kumimoji="1" lang="en-US" altLang="ja-JP"/>
          </a:p>
          <a:p>
            <a:r>
              <a:rPr lang="en-US" altLang="ja-JP"/>
              <a:t>AI</a:t>
            </a:r>
            <a:r>
              <a:rPr lang="ja-JP" altLang="en-US"/>
              <a:t>の学習過程</a:t>
            </a:r>
            <a:endParaRPr kumimoji="1" lang="en-US" altLang="ja-JP"/>
          </a:p>
          <a:p>
            <a:r>
              <a:rPr lang="ja-JP" altLang="en-US"/>
              <a:t>保存されたデータのリスト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1175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B4F15C-3DF3-F53B-E92F-0BD3354F0B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数学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85263BF-8119-092E-F5F2-F4F01B48E3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9611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F16040-602D-178E-1D89-AE3FB5FF6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AD4FFCB7-DD93-A71D-ABF7-BC117D9F995D}"/>
              </a:ext>
            </a:extLst>
          </p:cNvPr>
          <p:cNvSpPr/>
          <p:nvPr/>
        </p:nvSpPr>
        <p:spPr>
          <a:xfrm>
            <a:off x="2212772" y="3740024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3EF78A5F-50DF-46D8-AB94-33788E881115}"/>
              </a:ext>
            </a:extLst>
          </p:cNvPr>
          <p:cNvSpPr/>
          <p:nvPr/>
        </p:nvSpPr>
        <p:spPr>
          <a:xfrm>
            <a:off x="3023500" y="762781"/>
            <a:ext cx="432048" cy="43204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0992E4C9-BB88-63C7-1E6E-8185CB84DD30}"/>
              </a:ext>
            </a:extLst>
          </p:cNvPr>
          <p:cNvSpPr/>
          <p:nvPr/>
        </p:nvSpPr>
        <p:spPr>
          <a:xfrm>
            <a:off x="5039724" y="1770893"/>
            <a:ext cx="432048" cy="43204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01042E7D-4A71-2458-7243-982F8C8548ED}"/>
              </a:ext>
            </a:extLst>
          </p:cNvPr>
          <p:cNvCxnSpPr>
            <a:cxnSpLocks/>
          </p:cNvCxnSpPr>
          <p:nvPr/>
        </p:nvCxnSpPr>
        <p:spPr>
          <a:xfrm flipV="1">
            <a:off x="2428796" y="978805"/>
            <a:ext cx="810728" cy="2987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04D4B345-058E-69C5-402F-2149D410C811}"/>
              </a:ext>
            </a:extLst>
          </p:cNvPr>
          <p:cNvCxnSpPr>
            <a:cxnSpLocks/>
          </p:cNvCxnSpPr>
          <p:nvPr/>
        </p:nvCxnSpPr>
        <p:spPr>
          <a:xfrm>
            <a:off x="3239525" y="978805"/>
            <a:ext cx="2016223" cy="1012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486C9E3-5166-26DC-1705-435BD7A071A9}"/>
              </a:ext>
            </a:extLst>
          </p:cNvPr>
          <p:cNvSpPr txBox="1"/>
          <p:nvPr/>
        </p:nvSpPr>
        <p:spPr>
          <a:xfrm>
            <a:off x="3377743" y="1393247"/>
            <a:ext cx="1433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/>
              <a:t>e.getVelocity() * t</a:t>
            </a:r>
            <a:endParaRPr lang="ja-JP" altLang="en-US" sz="12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4618244-7BD9-3D60-F932-029B3C2A4386}"/>
              </a:ext>
            </a:extLst>
          </p:cNvPr>
          <p:cNvSpPr txBox="1"/>
          <p:nvPr/>
        </p:nvSpPr>
        <p:spPr>
          <a:xfrm>
            <a:off x="4042706" y="2769715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/>
              <a:t>Vbt*t</a:t>
            </a:r>
            <a:endParaRPr lang="ja-JP" altLang="en-US" sz="1200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5FB8E42B-6A2C-AA83-87C6-C78F50FAD993}"/>
              </a:ext>
            </a:extLst>
          </p:cNvPr>
          <p:cNvCxnSpPr>
            <a:cxnSpLocks/>
          </p:cNvCxnSpPr>
          <p:nvPr/>
        </p:nvCxnSpPr>
        <p:spPr>
          <a:xfrm flipV="1">
            <a:off x="2428795" y="1991459"/>
            <a:ext cx="2826952" cy="1974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25E1B796-1FBD-F09B-8BC8-57B3A245CBB1}"/>
              </a:ext>
            </a:extLst>
          </p:cNvPr>
          <p:cNvCxnSpPr>
            <a:cxnSpLocks/>
          </p:cNvCxnSpPr>
          <p:nvPr/>
        </p:nvCxnSpPr>
        <p:spPr>
          <a:xfrm>
            <a:off x="2428796" y="3966139"/>
            <a:ext cx="2826953" cy="37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2AF14E7B-830F-A838-81D9-7D91ABC7D660}"/>
              </a:ext>
            </a:extLst>
          </p:cNvPr>
          <p:cNvCxnSpPr>
            <a:cxnSpLocks/>
          </p:cNvCxnSpPr>
          <p:nvPr/>
        </p:nvCxnSpPr>
        <p:spPr>
          <a:xfrm flipV="1">
            <a:off x="5255748" y="1981273"/>
            <a:ext cx="0" cy="2021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6E930FA-DD69-0D66-1465-F340A10C50D7}"/>
              </a:ext>
            </a:extLst>
          </p:cNvPr>
          <p:cNvSpPr txBox="1"/>
          <p:nvPr/>
        </p:nvSpPr>
        <p:spPr>
          <a:xfrm>
            <a:off x="5255748" y="2943410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/>
              <a:t>dY1</a:t>
            </a:r>
            <a:endParaRPr lang="ja-JP" altLang="en-US" sz="120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5FD2288-772A-192D-A7C2-7EA6BD54FBC8}"/>
              </a:ext>
            </a:extLst>
          </p:cNvPr>
          <p:cNvSpPr txBox="1"/>
          <p:nvPr/>
        </p:nvSpPr>
        <p:spPr>
          <a:xfrm>
            <a:off x="4378956" y="363381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/>
              <a:t>dX1</a:t>
            </a:r>
            <a:endParaRPr lang="ja-JP" altLang="en-US" sz="120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3630613-0A6E-3BEF-2013-545B646AA4C3}"/>
              </a:ext>
            </a:extLst>
          </p:cNvPr>
          <p:cNvSpPr txBox="1"/>
          <p:nvPr/>
        </p:nvSpPr>
        <p:spPr>
          <a:xfrm>
            <a:off x="3403206" y="3449145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/>
              <a:t>θ1</a:t>
            </a:r>
            <a:endParaRPr lang="ja-JP" altLang="en-US" sz="120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995C1D7-6330-CED0-C789-E2C9A53DB8BC}"/>
              </a:ext>
            </a:extLst>
          </p:cNvPr>
          <p:cNvSpPr txBox="1"/>
          <p:nvPr/>
        </p:nvSpPr>
        <p:spPr>
          <a:xfrm>
            <a:off x="1754614" y="4517932"/>
            <a:ext cx="32175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/>
              <a:t>(</a:t>
            </a:r>
            <a:r>
              <a:rPr lang="en-US" altLang="ja-JP" sz="1200">
                <a:solidFill>
                  <a:srgbClr val="0070C0"/>
                </a:solidFill>
              </a:rPr>
              <a:t>Vbt</a:t>
            </a:r>
            <a:r>
              <a:rPr lang="en-US" altLang="ja-JP" sz="1200"/>
              <a:t>*t)^2=dX1^2+dY1^2</a:t>
            </a:r>
          </a:p>
          <a:p>
            <a:r>
              <a:rPr lang="en-US" altLang="ja-JP" sz="1200"/>
              <a:t>dX1 = dX0+dXem</a:t>
            </a:r>
          </a:p>
          <a:p>
            <a:r>
              <a:rPr lang="en-US" altLang="ja-JP" sz="1200"/>
              <a:t>dY1 = dY0+dYem</a:t>
            </a:r>
          </a:p>
          <a:p>
            <a:r>
              <a:rPr lang="en-US" altLang="ja-JP" sz="1200"/>
              <a:t>dX0 = </a:t>
            </a:r>
            <a:r>
              <a:rPr lang="en-US" altLang="ja-JP" sz="1200">
                <a:solidFill>
                  <a:srgbClr val="0070C0"/>
                </a:solidFill>
              </a:rPr>
              <a:t>e.getDistance()</a:t>
            </a:r>
            <a:r>
              <a:rPr lang="en-US" altLang="ja-JP" sz="1200"/>
              <a:t>*</a:t>
            </a:r>
            <a:r>
              <a:rPr lang="en-US" altLang="ja-JP" sz="1200">
                <a:solidFill>
                  <a:srgbClr val="0070C0"/>
                </a:solidFill>
              </a:rPr>
              <a:t>cos(e.getBearing())</a:t>
            </a:r>
          </a:p>
          <a:p>
            <a:r>
              <a:rPr lang="en-US" altLang="ja-JP" sz="1200"/>
              <a:t>dY1 = </a:t>
            </a:r>
            <a:r>
              <a:rPr lang="en-US" altLang="ja-JP" sz="1200">
                <a:solidFill>
                  <a:srgbClr val="0070C0"/>
                </a:solidFill>
              </a:rPr>
              <a:t>e.getDistance()</a:t>
            </a:r>
            <a:r>
              <a:rPr lang="en-US" altLang="ja-JP" sz="1200"/>
              <a:t>*</a:t>
            </a:r>
            <a:r>
              <a:rPr lang="en-US" altLang="ja-JP" sz="1200">
                <a:solidFill>
                  <a:srgbClr val="0070C0"/>
                </a:solidFill>
              </a:rPr>
              <a:t>sin(e.getBearing())</a:t>
            </a:r>
          </a:p>
          <a:p>
            <a:r>
              <a:rPr lang="en-US" altLang="ja-JP" sz="1200"/>
              <a:t>[dXem,dYem] = </a:t>
            </a:r>
            <a:r>
              <a:rPr lang="en-US" altLang="ja-JP" sz="1200">
                <a:solidFill>
                  <a:srgbClr val="0070C0"/>
                </a:solidFill>
              </a:rPr>
              <a:t>e.getVelocity()</a:t>
            </a:r>
            <a:r>
              <a:rPr lang="en-US" altLang="ja-JP" sz="1200"/>
              <a:t>*t</a:t>
            </a:r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3F1EE5FB-88F4-E294-5EDB-40AF46CA3B47}"/>
              </a:ext>
            </a:extLst>
          </p:cNvPr>
          <p:cNvCxnSpPr>
            <a:cxnSpLocks/>
          </p:cNvCxnSpPr>
          <p:nvPr/>
        </p:nvCxnSpPr>
        <p:spPr>
          <a:xfrm>
            <a:off x="2428794" y="3936534"/>
            <a:ext cx="779962" cy="9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8F6D783C-BAF2-B7E9-B8C9-60DE7B0F98C4}"/>
              </a:ext>
            </a:extLst>
          </p:cNvPr>
          <p:cNvCxnSpPr>
            <a:cxnSpLocks/>
          </p:cNvCxnSpPr>
          <p:nvPr/>
        </p:nvCxnSpPr>
        <p:spPr>
          <a:xfrm flipV="1">
            <a:off x="3208756" y="964004"/>
            <a:ext cx="30768" cy="2981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CA00D379-2790-A532-5E33-30934885ED23}"/>
              </a:ext>
            </a:extLst>
          </p:cNvPr>
          <p:cNvSpPr txBox="1"/>
          <p:nvPr/>
        </p:nvSpPr>
        <p:spPr>
          <a:xfrm>
            <a:off x="2650664" y="4057370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/>
              <a:t>dX0</a:t>
            </a:r>
            <a:endParaRPr lang="ja-JP" altLang="en-US" sz="120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CBF6118-DEE2-949B-7AC2-2D4D016493AE}"/>
              </a:ext>
            </a:extLst>
          </p:cNvPr>
          <p:cNvSpPr txBox="1"/>
          <p:nvPr/>
        </p:nvSpPr>
        <p:spPr>
          <a:xfrm>
            <a:off x="3135848" y="2630687"/>
            <a:ext cx="5357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/>
              <a:t>dY0</a:t>
            </a:r>
            <a:endParaRPr lang="ja-JP" altLang="en-US" sz="1200"/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77CACB63-6036-28B2-3534-D447756426B9}"/>
              </a:ext>
            </a:extLst>
          </p:cNvPr>
          <p:cNvCxnSpPr>
            <a:cxnSpLocks/>
          </p:cNvCxnSpPr>
          <p:nvPr/>
        </p:nvCxnSpPr>
        <p:spPr>
          <a:xfrm flipV="1">
            <a:off x="3239524" y="976276"/>
            <a:ext cx="2029654" cy="2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F638DF08-1FBA-DAE5-DE8E-E3EF2509ACFD}"/>
              </a:ext>
            </a:extLst>
          </p:cNvPr>
          <p:cNvCxnSpPr>
            <a:cxnSpLocks/>
          </p:cNvCxnSpPr>
          <p:nvPr/>
        </p:nvCxnSpPr>
        <p:spPr>
          <a:xfrm>
            <a:off x="5255748" y="984155"/>
            <a:ext cx="0" cy="1002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3EEB73F0-268D-F384-CBF7-0BF480EE294A}"/>
              </a:ext>
            </a:extLst>
          </p:cNvPr>
          <p:cNvSpPr txBox="1"/>
          <p:nvPr/>
        </p:nvSpPr>
        <p:spPr>
          <a:xfrm>
            <a:off x="4001334" y="613631"/>
            <a:ext cx="593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/>
              <a:t>dXem</a:t>
            </a:r>
            <a:endParaRPr lang="ja-JP" altLang="en-US" sz="120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69C03182-37AA-10FA-F775-F91A3A265B9F}"/>
              </a:ext>
            </a:extLst>
          </p:cNvPr>
          <p:cNvSpPr txBox="1"/>
          <p:nvPr/>
        </p:nvSpPr>
        <p:spPr>
          <a:xfrm>
            <a:off x="5255747" y="1215994"/>
            <a:ext cx="593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/>
              <a:t>dYem</a:t>
            </a:r>
            <a:endParaRPr lang="ja-JP" altLang="en-US" sz="1200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14F3118B-1E77-3C8C-DED9-BF427033FB5F}"/>
              </a:ext>
            </a:extLst>
          </p:cNvPr>
          <p:cNvSpPr txBox="1"/>
          <p:nvPr/>
        </p:nvSpPr>
        <p:spPr>
          <a:xfrm>
            <a:off x="5877830" y="1189001"/>
            <a:ext cx="4729180" cy="528042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DCDCAA"/>
                </a:solidFill>
                <a:latin typeface="Consolas" panose="020B0609020204030204" pitchFamily="49" charset="0"/>
              </a:rPr>
              <a:t>getLinearPredictiveBullet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state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ja-JP" sz="800">
                <a:solidFill>
                  <a:srgbClr val="4EC9B0"/>
                </a:solidFill>
                <a:latin typeface="Consolas" panose="020B0609020204030204" pitchFamily="49" charset="0"/>
              </a:rPr>
              <a:t>GameState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): </a:t>
            </a:r>
            <a:r>
              <a:rPr lang="en-US" altLang="ja-JP" sz="800">
                <a:solidFill>
                  <a:srgbClr val="4EC9B0"/>
                </a:solidFill>
                <a:latin typeface="Consolas" panose="020B0609020204030204" pitchFamily="49" charset="0"/>
              </a:rPr>
              <a:t>Bullet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| </a:t>
            </a:r>
            <a:r>
              <a:rPr lang="en-US" altLang="ja-JP" sz="800">
                <a:solidFill>
                  <a:srgbClr val="4EC9B0"/>
                </a:solidFill>
                <a:latin typeface="Consolas" panose="020B0609020204030204" pitchFamily="49" charset="0"/>
              </a:rPr>
              <a:t>null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altLang="ja-JP" sz="80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state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enemies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length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=== </a:t>
            </a:r>
            <a:r>
              <a:rPr lang="en-US" altLang="ja-JP" sz="80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ja-JP" sz="80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altLang="ja-JP" sz="80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enemy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state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enemies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altLang="ja-JP" sz="80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altLang="ja-JP" sz="80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v_bt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GAME_CONFIG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BULLET_SPEED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altLang="ja-JP" sz="80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v_em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Math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DCDCAA"/>
                </a:solidFill>
                <a:latin typeface="Consolas" panose="020B0609020204030204" pitchFamily="49" charset="0"/>
              </a:rPr>
              <a:t>sqrt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Math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DCDCAA"/>
                </a:solidFill>
                <a:latin typeface="Consolas" panose="020B0609020204030204" pitchFamily="49" charset="0"/>
              </a:rPr>
              <a:t>pow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enemy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vx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ja-JP" sz="80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) +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Math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DCDCAA"/>
                </a:solidFill>
                <a:latin typeface="Consolas" panose="020B0609020204030204" pitchFamily="49" charset="0"/>
              </a:rPr>
              <a:t>pow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enemy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vy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ja-JP" sz="80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altLang="ja-JP" sz="80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seta2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Math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DCDCAA"/>
                </a:solidFill>
                <a:latin typeface="Consolas" panose="020B0609020204030204" pitchFamily="49" charset="0"/>
              </a:rPr>
              <a:t>atan2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enemy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vy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enemy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vx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altLang="ja-JP" sz="80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dx0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enemy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state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player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altLang="ja-JP" sz="80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dy0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enemy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state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player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altLang="ja-JP" sz="80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a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Math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DCDCAA"/>
                </a:solidFill>
                <a:latin typeface="Consolas" panose="020B0609020204030204" pitchFamily="49" charset="0"/>
              </a:rPr>
              <a:t>pow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v_bt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ja-JP" sz="80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) -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Math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DCDCAA"/>
                </a:solidFill>
                <a:latin typeface="Consolas" panose="020B0609020204030204" pitchFamily="49" charset="0"/>
              </a:rPr>
              <a:t>pow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v_em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ja-JP" sz="80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altLang="ja-JP" sz="80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b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= -</a:t>
            </a:r>
            <a:r>
              <a:rPr lang="en-US" altLang="ja-JP" sz="80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dx0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v_em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Math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DCDCAA"/>
                </a:solidFill>
                <a:latin typeface="Consolas" panose="020B0609020204030204" pitchFamily="49" charset="0"/>
              </a:rPr>
              <a:t>cos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seta2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) - </a:t>
            </a:r>
            <a:r>
              <a:rPr lang="en-US" altLang="ja-JP" sz="80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dy0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v_em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Math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DCDCAA"/>
                </a:solidFill>
                <a:latin typeface="Consolas" panose="020B0609020204030204" pitchFamily="49" charset="0"/>
              </a:rPr>
              <a:t>sin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seta2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altLang="ja-JP" sz="80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c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= -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Math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DCDCAA"/>
                </a:solidFill>
                <a:latin typeface="Consolas" panose="020B0609020204030204" pitchFamily="49" charset="0"/>
              </a:rPr>
              <a:t>pow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dx0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ja-JP" sz="80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) -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Math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DCDCAA"/>
                </a:solidFill>
                <a:latin typeface="Consolas" panose="020B0609020204030204" pitchFamily="49" charset="0"/>
              </a:rPr>
              <a:t>pow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dy0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ja-JP" sz="80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altLang="ja-JP" sz="80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t1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= (-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+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Math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DCDCAA"/>
                </a:solidFill>
                <a:latin typeface="Consolas" panose="020B0609020204030204" pitchFamily="49" charset="0"/>
              </a:rPr>
              <a:t>sqrt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Math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DCDCAA"/>
                </a:solidFill>
                <a:latin typeface="Consolas" panose="020B0609020204030204" pitchFamily="49" charset="0"/>
              </a:rPr>
              <a:t>pow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ja-JP" sz="80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) - </a:t>
            </a:r>
            <a:r>
              <a:rPr lang="en-US" altLang="ja-JP" sz="80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c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)) / (</a:t>
            </a:r>
            <a:r>
              <a:rPr lang="en-US" altLang="ja-JP" sz="80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altLang="ja-JP" sz="80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t2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= (-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-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Math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DCDCAA"/>
                </a:solidFill>
                <a:latin typeface="Consolas" panose="020B0609020204030204" pitchFamily="49" charset="0"/>
              </a:rPr>
              <a:t>sqrt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Math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DCDCAA"/>
                </a:solidFill>
                <a:latin typeface="Consolas" panose="020B0609020204030204" pitchFamily="49" charset="0"/>
              </a:rPr>
              <a:t>pow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ja-JP" sz="80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) - </a:t>
            </a:r>
            <a:r>
              <a:rPr lang="en-US" altLang="ja-JP" sz="80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c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)) / (</a:t>
            </a:r>
            <a:r>
              <a:rPr lang="en-US" altLang="ja-JP" sz="80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altLang="ja-JP" sz="80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Math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DCDCAA"/>
                </a:solidFill>
                <a:latin typeface="Consolas" panose="020B0609020204030204" pitchFamily="49" charset="0"/>
              </a:rPr>
              <a:t>max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t2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altLang="ja-JP" sz="80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dx1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dx0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+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v_em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Math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DCDCAA"/>
                </a:solidFill>
                <a:latin typeface="Consolas" panose="020B0609020204030204" pitchFamily="49" charset="0"/>
              </a:rPr>
              <a:t>cos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seta2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altLang="ja-JP" sz="80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dy1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dy0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+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v_em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*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Math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DCDCAA"/>
                </a:solidFill>
                <a:latin typeface="Consolas" panose="020B0609020204030204" pitchFamily="49" charset="0"/>
              </a:rPr>
              <a:t>sin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seta2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altLang="ja-JP" sz="80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seta1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Math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DCDCAA"/>
                </a:solidFill>
                <a:latin typeface="Consolas" panose="020B0609020204030204" pitchFamily="49" charset="0"/>
              </a:rPr>
              <a:t>atan2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dy1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dx1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altLang="ja-JP" sz="80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id: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Math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DCDCAA"/>
                </a:solidFill>
                <a:latin typeface="Consolas" panose="020B0609020204030204" pitchFamily="49" charset="0"/>
              </a:rPr>
              <a:t>random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().</a:t>
            </a:r>
            <a:r>
              <a:rPr lang="en-US" altLang="ja-JP" sz="800">
                <a:solidFill>
                  <a:srgbClr val="DCDCAA"/>
                </a:solidFill>
                <a:latin typeface="Consolas" panose="020B0609020204030204" pitchFamily="49" charset="0"/>
              </a:rPr>
              <a:t>toString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x: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state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player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y: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state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player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direction: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seta1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speed: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GAME_CONFIG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BULLET_SPEED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size: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GAME_CONFIG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BULLET_SIZE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ja-JP" sz="800">
                <a:solidFill>
                  <a:srgbClr val="9CDCFE"/>
                </a:solidFill>
                <a:latin typeface="Consolas" panose="020B0609020204030204" pitchFamily="49" charset="0"/>
              </a:rPr>
              <a:t>color: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GAME_CONFIG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ja-JP" sz="800">
                <a:solidFill>
                  <a:srgbClr val="4FC1FF"/>
                </a:solidFill>
                <a:latin typeface="Consolas" panose="020B0609020204030204" pitchFamily="49" charset="0"/>
              </a:rPr>
              <a:t>BULLET_COLOR</a:t>
            </a: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  };</a:t>
            </a:r>
          </a:p>
          <a:p>
            <a:pPr>
              <a:lnSpc>
                <a:spcPts val="1425"/>
              </a:lnSpc>
            </a:pPr>
            <a:r>
              <a:rPr lang="en-US" altLang="ja-JP" sz="80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67054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F03435B-7385-5663-E5EB-E12D55A36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pPr/>
              <a:t>5</a:t>
            </a:fld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B3601A-3FCE-53CA-8E4E-F585400B466D}"/>
              </a:ext>
            </a:extLst>
          </p:cNvPr>
          <p:cNvSpPr txBox="1"/>
          <p:nvPr/>
        </p:nvSpPr>
        <p:spPr>
          <a:xfrm>
            <a:off x="5244773" y="3244334"/>
            <a:ext cx="1702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参考</a:t>
            </a:r>
            <a:r>
              <a:rPr lang="en-US" altLang="ja-JP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: Robocode</a:t>
            </a:r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464817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81200" y="44624"/>
            <a:ext cx="8229600" cy="864096"/>
          </a:xfrm>
        </p:spPr>
        <p:txBody>
          <a:bodyPr>
            <a:normAutofit/>
          </a:bodyPr>
          <a:lstStyle/>
          <a:p>
            <a:r>
              <a:rPr lang="ja-JP" altLang="en-US" sz="3200" dirty="0"/>
              <a:t>敵の動作の予測（幾何学）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pPr/>
              <a:t>6</a:t>
            </a:fld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cxnSp>
        <p:nvCxnSpPr>
          <p:cNvPr id="6" name="直線矢印コネクタ 5"/>
          <p:cNvCxnSpPr/>
          <p:nvPr/>
        </p:nvCxnSpPr>
        <p:spPr>
          <a:xfrm>
            <a:off x="2063552" y="4878452"/>
            <a:ext cx="8280920" cy="0"/>
          </a:xfrm>
          <a:prstGeom prst="straightConnector1">
            <a:avLst/>
          </a:prstGeom>
          <a:ln w="22225">
            <a:solidFill>
              <a:schemeClr val="bg1">
                <a:lumMod val="95000"/>
              </a:schemeClr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/>
          <p:cNvCxnSpPr/>
          <p:nvPr/>
        </p:nvCxnSpPr>
        <p:spPr>
          <a:xfrm flipV="1">
            <a:off x="2351584" y="1350060"/>
            <a:ext cx="0" cy="3897724"/>
          </a:xfrm>
          <a:prstGeom prst="straightConnector1">
            <a:avLst/>
          </a:prstGeom>
          <a:ln w="22225">
            <a:solidFill>
              <a:schemeClr val="bg1">
                <a:lumMod val="95000"/>
              </a:schemeClr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/>
          <p:cNvCxnSpPr/>
          <p:nvPr/>
        </p:nvCxnSpPr>
        <p:spPr>
          <a:xfrm>
            <a:off x="2351584" y="4878452"/>
            <a:ext cx="2000138" cy="0"/>
          </a:xfrm>
          <a:prstGeom prst="straightConnector1">
            <a:avLst/>
          </a:prstGeom>
          <a:ln w="3492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/>
          <p:cNvCxnSpPr/>
          <p:nvPr/>
        </p:nvCxnSpPr>
        <p:spPr>
          <a:xfrm flipV="1">
            <a:off x="2351584" y="4077980"/>
            <a:ext cx="0" cy="800472"/>
          </a:xfrm>
          <a:prstGeom prst="straightConnector1">
            <a:avLst/>
          </a:prstGeom>
          <a:ln w="3492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/>
          <p:cNvCxnSpPr/>
          <p:nvPr/>
        </p:nvCxnSpPr>
        <p:spPr>
          <a:xfrm>
            <a:off x="2310680" y="4158372"/>
            <a:ext cx="2000138" cy="0"/>
          </a:xfrm>
          <a:prstGeom prst="straightConnector1">
            <a:avLst/>
          </a:prstGeom>
          <a:ln w="34925">
            <a:solidFill>
              <a:srgbClr val="FFC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/>
          <p:nvPr/>
        </p:nvCxnSpPr>
        <p:spPr>
          <a:xfrm flipV="1">
            <a:off x="4266717" y="4069310"/>
            <a:ext cx="3668" cy="809142"/>
          </a:xfrm>
          <a:prstGeom prst="straightConnector1">
            <a:avLst/>
          </a:prstGeom>
          <a:ln w="34925">
            <a:solidFill>
              <a:srgbClr val="FFC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/>
          <p:cNvCxnSpPr/>
          <p:nvPr/>
        </p:nvCxnSpPr>
        <p:spPr>
          <a:xfrm>
            <a:off x="6023992" y="1998133"/>
            <a:ext cx="2160240" cy="698013"/>
          </a:xfrm>
          <a:prstGeom prst="straightConnector1">
            <a:avLst/>
          </a:prstGeom>
          <a:ln w="34925">
            <a:solidFill>
              <a:srgbClr val="92D05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/>
          <p:nvPr/>
        </p:nvCxnSpPr>
        <p:spPr>
          <a:xfrm flipV="1">
            <a:off x="4266718" y="1998132"/>
            <a:ext cx="1757275" cy="2173586"/>
          </a:xfrm>
          <a:prstGeom prst="straightConnector1">
            <a:avLst/>
          </a:prstGeom>
          <a:ln w="34925">
            <a:solidFill>
              <a:schemeClr val="accent5">
                <a:lumMod val="40000"/>
                <a:lumOff val="6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/>
          <p:cNvCxnSpPr/>
          <p:nvPr/>
        </p:nvCxnSpPr>
        <p:spPr>
          <a:xfrm flipV="1">
            <a:off x="4310818" y="2696146"/>
            <a:ext cx="3873414" cy="1462229"/>
          </a:xfrm>
          <a:prstGeom prst="straightConnector1">
            <a:avLst/>
          </a:prstGeom>
          <a:ln w="349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/>
          <p:cNvCxnSpPr/>
          <p:nvPr/>
        </p:nvCxnSpPr>
        <p:spPr>
          <a:xfrm>
            <a:off x="4270386" y="4158372"/>
            <a:ext cx="1753607" cy="2"/>
          </a:xfrm>
          <a:prstGeom prst="straightConnector1">
            <a:avLst/>
          </a:prstGeom>
          <a:ln w="22225">
            <a:solidFill>
              <a:schemeClr val="accent5">
                <a:lumMod val="40000"/>
                <a:lumOff val="6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/>
          <p:cNvCxnSpPr/>
          <p:nvPr/>
        </p:nvCxnSpPr>
        <p:spPr>
          <a:xfrm flipV="1">
            <a:off x="6023992" y="1998132"/>
            <a:ext cx="0" cy="2160240"/>
          </a:xfrm>
          <a:prstGeom prst="straightConnector1">
            <a:avLst/>
          </a:prstGeom>
          <a:ln w="22225">
            <a:solidFill>
              <a:schemeClr val="accent5">
                <a:lumMod val="40000"/>
                <a:lumOff val="6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/>
          <p:cNvCxnSpPr/>
          <p:nvPr/>
        </p:nvCxnSpPr>
        <p:spPr>
          <a:xfrm flipV="1">
            <a:off x="6023993" y="1965985"/>
            <a:ext cx="2183697" cy="30906"/>
          </a:xfrm>
          <a:prstGeom prst="straightConnector1">
            <a:avLst/>
          </a:prstGeom>
          <a:ln w="22225">
            <a:solidFill>
              <a:srgbClr val="92D05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/>
          <p:cNvCxnSpPr/>
          <p:nvPr/>
        </p:nvCxnSpPr>
        <p:spPr>
          <a:xfrm>
            <a:off x="8184232" y="1996891"/>
            <a:ext cx="0" cy="699254"/>
          </a:xfrm>
          <a:prstGeom prst="straightConnector1">
            <a:avLst/>
          </a:prstGeom>
          <a:ln w="22225">
            <a:solidFill>
              <a:srgbClr val="92D05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/>
          <p:cNvCxnSpPr/>
          <p:nvPr/>
        </p:nvCxnSpPr>
        <p:spPr>
          <a:xfrm>
            <a:off x="4291116" y="4186216"/>
            <a:ext cx="3893117" cy="0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/>
          <p:cNvCxnSpPr/>
          <p:nvPr/>
        </p:nvCxnSpPr>
        <p:spPr>
          <a:xfrm flipV="1">
            <a:off x="8207689" y="2682760"/>
            <a:ext cx="0" cy="1475613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/>
          <p:cNvCxnSpPr/>
          <p:nvPr/>
        </p:nvCxnSpPr>
        <p:spPr>
          <a:xfrm flipV="1">
            <a:off x="4280196" y="3222268"/>
            <a:ext cx="303636" cy="855712"/>
          </a:xfrm>
          <a:prstGeom prst="straightConnector1">
            <a:avLst/>
          </a:prstGeom>
          <a:ln w="22225">
            <a:solidFill>
              <a:srgbClr val="0070C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/>
          <p:cNvCxnSpPr/>
          <p:nvPr/>
        </p:nvCxnSpPr>
        <p:spPr>
          <a:xfrm flipV="1">
            <a:off x="4270385" y="3169720"/>
            <a:ext cx="0" cy="1016496"/>
          </a:xfrm>
          <a:prstGeom prst="straightConnector1">
            <a:avLst/>
          </a:prstGeom>
          <a:ln w="9525">
            <a:solidFill>
              <a:srgbClr val="FFC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円弧 1039"/>
          <p:cNvSpPr/>
          <p:nvPr/>
        </p:nvSpPr>
        <p:spPr>
          <a:xfrm rot="18635117">
            <a:off x="4126943" y="3518678"/>
            <a:ext cx="367748" cy="276015"/>
          </a:xfrm>
          <a:prstGeom prst="arc">
            <a:avLst>
              <a:gd name="adj1" fmla="val 18600999"/>
              <a:gd name="adj2" fmla="val 5380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cxnSp>
        <p:nvCxnSpPr>
          <p:cNvPr id="1042" name="直線矢印コネクタ 1041"/>
          <p:cNvCxnSpPr/>
          <p:nvPr/>
        </p:nvCxnSpPr>
        <p:spPr>
          <a:xfrm flipH="1">
            <a:off x="4361493" y="3008321"/>
            <a:ext cx="28495" cy="4211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/>
          <p:cNvCxnSpPr/>
          <p:nvPr/>
        </p:nvCxnSpPr>
        <p:spPr>
          <a:xfrm flipH="1">
            <a:off x="4705404" y="2632852"/>
            <a:ext cx="238468" cy="8636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円弧 79"/>
          <p:cNvSpPr/>
          <p:nvPr/>
        </p:nvSpPr>
        <p:spPr>
          <a:xfrm rot="19965134">
            <a:off x="4173558" y="3528030"/>
            <a:ext cx="564125" cy="390661"/>
          </a:xfrm>
          <a:prstGeom prst="arc">
            <a:avLst>
              <a:gd name="adj1" fmla="val 18600999"/>
              <a:gd name="adj2" fmla="val 1473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cxnSp>
        <p:nvCxnSpPr>
          <p:cNvPr id="84" name="直線矢印コネクタ 83"/>
          <p:cNvCxnSpPr/>
          <p:nvPr/>
        </p:nvCxnSpPr>
        <p:spPr>
          <a:xfrm>
            <a:off x="5303912" y="2284876"/>
            <a:ext cx="216025" cy="24471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/>
          <p:cNvCxnSpPr/>
          <p:nvPr/>
        </p:nvCxnSpPr>
        <p:spPr>
          <a:xfrm flipV="1">
            <a:off x="6030717" y="981636"/>
            <a:ext cx="0" cy="1016496"/>
          </a:xfrm>
          <a:prstGeom prst="straightConnector1">
            <a:avLst/>
          </a:prstGeom>
          <a:ln w="9525">
            <a:solidFill>
              <a:srgbClr val="FFC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円弧 86"/>
          <p:cNvSpPr/>
          <p:nvPr/>
        </p:nvSpPr>
        <p:spPr>
          <a:xfrm rot="19965134">
            <a:off x="5451860" y="1659135"/>
            <a:ext cx="937678" cy="873551"/>
          </a:xfrm>
          <a:prstGeom prst="arc">
            <a:avLst>
              <a:gd name="adj1" fmla="val 18600999"/>
              <a:gd name="adj2" fmla="val 191872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cxnSp>
        <p:nvCxnSpPr>
          <p:cNvPr id="89" name="直線矢印コネクタ 88"/>
          <p:cNvCxnSpPr/>
          <p:nvPr/>
        </p:nvCxnSpPr>
        <p:spPr>
          <a:xfrm flipH="1">
            <a:off x="6247525" y="1356198"/>
            <a:ext cx="135402" cy="2818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円弧 90"/>
          <p:cNvSpPr/>
          <p:nvPr/>
        </p:nvSpPr>
        <p:spPr>
          <a:xfrm rot="1042521">
            <a:off x="4067326" y="3652235"/>
            <a:ext cx="776587" cy="668212"/>
          </a:xfrm>
          <a:prstGeom prst="arc">
            <a:avLst>
              <a:gd name="adj1" fmla="val 17493012"/>
              <a:gd name="adj2" fmla="val 30338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cxnSp>
        <p:nvCxnSpPr>
          <p:cNvPr id="92" name="直線矢印コネクタ 91"/>
          <p:cNvCxnSpPr/>
          <p:nvPr/>
        </p:nvCxnSpPr>
        <p:spPr>
          <a:xfrm flipH="1">
            <a:off x="4806734" y="3575788"/>
            <a:ext cx="238468" cy="2043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/>
          <p:cNvCxnSpPr/>
          <p:nvPr/>
        </p:nvCxnSpPr>
        <p:spPr>
          <a:xfrm flipH="1">
            <a:off x="5258938" y="3953673"/>
            <a:ext cx="299208" cy="14390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円弧 103"/>
          <p:cNvSpPr/>
          <p:nvPr/>
        </p:nvSpPr>
        <p:spPr>
          <a:xfrm rot="3429772">
            <a:off x="6156777" y="1858277"/>
            <a:ext cx="454831" cy="423726"/>
          </a:xfrm>
          <a:prstGeom prst="arc">
            <a:avLst>
              <a:gd name="adj1" fmla="val 17161516"/>
              <a:gd name="adj2" fmla="val 1970592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cxnSp>
        <p:nvCxnSpPr>
          <p:cNvPr id="105" name="直線矢印コネクタ 104"/>
          <p:cNvCxnSpPr/>
          <p:nvPr/>
        </p:nvCxnSpPr>
        <p:spPr>
          <a:xfrm flipH="1">
            <a:off x="6637510" y="1829532"/>
            <a:ext cx="177885" cy="2706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テキスト ボックス 59"/>
              <p:cNvSpPr txBox="1"/>
              <p:nvPr/>
            </p:nvSpPr>
            <p:spPr>
              <a:xfrm>
                <a:off x="2510765" y="4953775"/>
                <a:ext cx="3798476" cy="18258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ja-JP" sz="16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1600" i="1">
                                  <a:solidFill>
                                    <a:prstClr val="white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ja-JP" sz="1600" i="1">
                                  <a:solidFill>
                                    <a:prstClr val="white"/>
                                  </a:solidFill>
                                  <a:latin typeface="Cambria Math"/>
                                </a:rPr>
                                <m:t>𝑏𝑡</m:t>
                              </m:r>
                            </m:sub>
                          </m:sSub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𝑡</m:t>
                          </m:r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ja-JP" sz="16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ja-JP" sz="16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16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𝑑𝑋</m:t>
                              </m:r>
                            </m:e>
                            <m:sub>
                              <m:r>
                                <a:rPr lang="en-US" altLang="ja-JP" sz="16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ja-JP" sz="16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sSup>
                        <m:sSupPr>
                          <m:ctrlP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ja-JP" sz="16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16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𝑑𝑌</m:t>
                              </m:r>
                            </m:e>
                            <m:sub>
                              <m:r>
                                <a:rPr lang="en-US" altLang="ja-JP" sz="16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ja-JP" sz="1600" dirty="0">
                  <a:solidFill>
                    <a:prstClr val="white"/>
                  </a:solidFill>
                  <a:latin typeface="Calibri"/>
                  <a:ea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𝑏𝑡</m:t>
                          </m:r>
                        </m:sub>
                      </m:sSub>
                      <m:r>
                        <a:rPr lang="en-US" altLang="ja-JP" sz="16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=20−3×</m:t>
                      </m:r>
                      <m:r>
                        <a:rPr lang="en-US" altLang="ja-JP" sz="16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𝑝𝑜𝑤𝑒𝑟</m:t>
                      </m:r>
                    </m:oMath>
                  </m:oMathPara>
                </a14:m>
                <a:endParaRPr lang="en-US" altLang="ja-JP" sz="1600" dirty="0">
                  <a:solidFill>
                    <a:prstClr val="white"/>
                  </a:solidFill>
                  <a:latin typeface="Calibri"/>
                  <a:ea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𝑑𝑋</m:t>
                          </m:r>
                        </m:e>
                        <m:sub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ja-JP" sz="16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𝑑𝑋</m:t>
                          </m:r>
                        </m:e>
                        <m:sub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en-US" altLang="ja-JP" sz="16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𝑑𝑋</m:t>
                          </m:r>
                        </m:e>
                        <m:sub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𝑒𝑚</m:t>
                          </m:r>
                        </m:sub>
                      </m:sSub>
                    </m:oMath>
                  </m:oMathPara>
                </a14:m>
                <a:endParaRPr lang="en-US" altLang="ja-JP" sz="1600" baseline="-25000" dirty="0">
                  <a:solidFill>
                    <a:prstClr val="white"/>
                  </a:solidFill>
                  <a:latin typeface="Calibri"/>
                  <a:ea typeface="ＭＳ Ｐゴシック" panose="020B0600070205080204" pitchFamily="50" charset="-128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𝑑𝑌</m:t>
                          </m:r>
                        </m:e>
                        <m:sub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ja-JP" sz="16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𝑑𝑌</m:t>
                          </m:r>
                        </m:e>
                        <m:sub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en-US" altLang="ja-JP" sz="16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𝑑𝑌</m:t>
                          </m:r>
                        </m:e>
                        <m:sub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𝑒𝑚</m:t>
                          </m:r>
                        </m:sub>
                      </m:sSub>
                    </m:oMath>
                  </m:oMathPara>
                </a14:m>
                <a:endParaRPr lang="en-US" altLang="ja-JP" sz="1600" baseline="-25000" dirty="0">
                  <a:solidFill>
                    <a:prstClr val="white"/>
                  </a:solidFill>
                  <a:latin typeface="Calibri"/>
                  <a:ea typeface="ＭＳ Ｐゴシック" panose="020B0600070205080204" pitchFamily="50" charset="-128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ja-JP" sz="1600" i="1">
                            <a:solidFill>
                              <a:prstClr val="white"/>
                            </a:solidFill>
                            <a:latin typeface="Cambria Math"/>
                            <a:ea typeface="Cambria Math"/>
                          </a:rPr>
                          <m:t>𝑑𝑋</m:t>
                        </m:r>
                      </m:e>
                      <m:sub>
                        <m:r>
                          <a:rPr lang="en-US" altLang="ja-JP" sz="1600" i="1">
                            <a:solidFill>
                              <a:prstClr val="white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  <a:ea typeface="Cambria Math"/>
                      </a:rPr>
                      <m:t>.</m:t>
                    </m:r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  <a:ea typeface="Cambria Math"/>
                      </a:rPr>
                      <m:t>𝑔𝑒𝑡𝐷𝑖𝑠𝑡𝑎𝑛𝑐𝑒</m:t>
                    </m:r>
                  </m:oMath>
                </a14:m>
                <a:r>
                  <a:rPr lang="en-US" altLang="ja-JP" sz="1600" dirty="0">
                    <a:solidFill>
                      <a:prstClr val="white"/>
                    </a:solidFill>
                    <a:latin typeface="Calibri"/>
                    <a:ea typeface="Cambria Math"/>
                  </a:rPr>
                  <a:t>()</a:t>
                </a:r>
                <a14:m>
                  <m:oMath xmlns:m="http://schemas.openxmlformats.org/officeDocument/2006/math"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  <a:ea typeface="Cambria Math"/>
                      </a:rPr>
                      <m:t>×</m:t>
                    </m:r>
                    <m:func>
                      <m:funcPr>
                        <m:ctrlPr>
                          <a:rPr lang="en-US" altLang="ja-JP" sz="16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600">
                            <a:solidFill>
                              <a:prstClr val="white"/>
                            </a:solidFill>
                            <a:latin typeface="Cambria Math"/>
                            <a:ea typeface="Cambria Math"/>
                          </a:rPr>
                          <m:t>cos</m:t>
                        </m:r>
                      </m:fName>
                      <m:e>
                        <m:r>
                          <a:rPr lang="en-US" altLang="ja-JP" sz="1600" i="1">
                            <a:solidFill>
                              <a:prstClr val="white"/>
                            </a:solidFill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16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ja-JP" altLang="en-US" sz="1600" i="1">
                                <a:solidFill>
                                  <a:prstClr val="white"/>
                                </a:solidFill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ja-JP" sz="1600" i="1">
                                <a:solidFill>
                                  <a:prstClr val="white"/>
                                </a:solidFill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1600" i="1">
                            <a:solidFill>
                              <a:prstClr val="white"/>
                            </a:solidFill>
                            <a:latin typeface="Cambria Math"/>
                            <a:ea typeface="Cambria Math"/>
                          </a:rPr>
                          <m:t>)</m:t>
                        </m:r>
                      </m:e>
                    </m:func>
                  </m:oMath>
                </a14:m>
                <a:endParaRPr lang="en-US" altLang="ja-JP" sz="1600" baseline="-25000" dirty="0">
                  <a:solidFill>
                    <a:prstClr val="white"/>
                  </a:solidFill>
                  <a:latin typeface="Calibri"/>
                  <a:ea typeface="ＭＳ Ｐゴシック" panose="020B0600070205080204" pitchFamily="50" charset="-128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ja-JP" sz="1600" i="1">
                            <a:solidFill>
                              <a:prstClr val="white"/>
                            </a:solidFill>
                            <a:latin typeface="Cambria Math"/>
                            <a:ea typeface="Cambria Math"/>
                          </a:rPr>
                          <m:t>𝑑𝑌</m:t>
                        </m:r>
                      </m:e>
                      <m:sub>
                        <m:r>
                          <a:rPr lang="en-US" altLang="ja-JP" sz="1600" i="1">
                            <a:solidFill>
                              <a:prstClr val="white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  <a:ea typeface="Cambria Math"/>
                      </a:rPr>
                      <m:t>.</m:t>
                    </m:r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  <a:ea typeface="Cambria Math"/>
                      </a:rPr>
                      <m:t>𝑔𝑒𝑡𝐷𝑖𝑠𝑡𝑎𝑛𝑐𝑒</m:t>
                    </m:r>
                  </m:oMath>
                </a14:m>
                <a:r>
                  <a:rPr lang="en-US" altLang="ja-JP" sz="1600" dirty="0">
                    <a:solidFill>
                      <a:prstClr val="white"/>
                    </a:solidFill>
                    <a:latin typeface="Calibri"/>
                    <a:ea typeface="Cambria Math"/>
                  </a:rPr>
                  <a:t>()</a:t>
                </a:r>
                <a14:m>
                  <m:oMath xmlns:m="http://schemas.openxmlformats.org/officeDocument/2006/math"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  <a:ea typeface="Cambria Math"/>
                      </a:rPr>
                      <m:t>×</m:t>
                    </m:r>
                    <m:func>
                      <m:funcPr>
                        <m:ctrlPr>
                          <a:rPr lang="en-US" altLang="ja-JP" sz="16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600">
                            <a:solidFill>
                              <a:prstClr val="white"/>
                            </a:solidFill>
                            <a:latin typeface="Cambria Math"/>
                            <a:ea typeface="Cambria Math"/>
                          </a:rPr>
                          <m:t>sin</m:t>
                        </m:r>
                      </m:fName>
                      <m:e>
                        <m:r>
                          <a:rPr lang="en-US" altLang="ja-JP" sz="1600" i="1">
                            <a:solidFill>
                              <a:prstClr val="white"/>
                            </a:solidFill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16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ja-JP" altLang="en-US" sz="1600" i="1">
                                <a:solidFill>
                                  <a:prstClr val="white"/>
                                </a:solidFill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ja-JP" sz="1600" i="1">
                                <a:solidFill>
                                  <a:prstClr val="white"/>
                                </a:solidFill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1600" i="1">
                            <a:solidFill>
                              <a:prstClr val="white"/>
                            </a:solidFill>
                            <a:latin typeface="Cambria Math"/>
                            <a:ea typeface="Cambria Math"/>
                          </a:rPr>
                          <m:t>)</m:t>
                        </m:r>
                      </m:e>
                    </m:func>
                  </m:oMath>
                </a14:m>
                <a:endParaRPr lang="en-US" altLang="ja-JP" sz="1600" dirty="0">
                  <a:solidFill>
                    <a:prstClr val="white"/>
                  </a:solidFill>
                  <a:latin typeface="Calibri"/>
                  <a:ea typeface="ＭＳ Ｐゴシック" panose="020B0600070205080204" pitchFamily="50" charset="-128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i="1">
                            <a:solidFill>
                              <a:prstClr val="white"/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altLang="ja-JP" sz="1600" i="1">
                            <a:solidFill>
                              <a:prstClr val="white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</a:rPr>
                      <m:t>=90−</m:t>
                    </m:r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</a:rPr>
                      <m:t>𝑒</m:t>
                    </m:r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</a:rPr>
                      <m:t>.</m:t>
                    </m:r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</a:rPr>
                      <m:t>𝑔𝑒𝑡𝐵𝑒𝑎𝑟𝑖𝑛𝑔</m:t>
                    </m:r>
                  </m:oMath>
                </a14:m>
                <a:r>
                  <a:rPr lang="en-US" altLang="ja-JP" sz="1600" dirty="0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rPr>
                  <a:t>()-</a:t>
                </a:r>
                <a14:m>
                  <m:oMath xmlns:m="http://schemas.openxmlformats.org/officeDocument/2006/math">
                    <m:r>
                      <a:rPr lang="en-US" altLang="ja-JP" sz="1600" i="1" dirty="0">
                        <a:solidFill>
                          <a:prstClr val="white"/>
                        </a:solidFill>
                        <a:latin typeface="Cambria Math"/>
                      </a:rPr>
                      <m:t>𝑔𝑒𝑡𝐻𝑒𝑎𝑑𝑖𝑛𝑔</m:t>
                    </m:r>
                  </m:oMath>
                </a14:m>
                <a:r>
                  <a:rPr lang="en-US" altLang="ja-JP" sz="1600" dirty="0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rPr>
                  <a:t>()</a:t>
                </a:r>
              </a:p>
            </p:txBody>
          </p:sp>
        </mc:Choice>
        <mc:Fallback xmlns="">
          <p:sp>
            <p:nvSpPr>
              <p:cNvPr id="60" name="テキスト ボックス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765" y="4953775"/>
                <a:ext cx="3798476" cy="1825884"/>
              </a:xfrm>
              <a:prstGeom prst="rect">
                <a:avLst/>
              </a:prstGeom>
              <a:blipFill>
                <a:blip r:embed="rId2"/>
                <a:stretch>
                  <a:fillRect r="-161" b="-36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テキスト ボックス 119"/>
              <p:cNvSpPr txBox="1"/>
              <p:nvPr/>
            </p:nvSpPr>
            <p:spPr>
              <a:xfrm>
                <a:off x="6777087" y="6054080"/>
                <a:ext cx="34383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1400" i="1">
                        <a:solidFill>
                          <a:prstClr val="white"/>
                        </a:solidFill>
                        <a:latin typeface="Cambria Math"/>
                      </a:rPr>
                      <m:t>𝑆𝑐𝑎𝑛𝑛𝑒𝑑𝑅𝑜𝑏𝑜𝑡𝐸𝑣𝑒𝑛𝑡</m:t>
                    </m:r>
                  </m:oMath>
                </a14:m>
                <a:r>
                  <a:rPr lang="ja-JP" altLang="en-US" sz="1400" dirty="0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rPr>
                  <a:t>の変数名を </a:t>
                </a:r>
                <a:r>
                  <a:rPr lang="en-US" altLang="ja-JP" sz="1400" dirty="0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rPr>
                  <a:t>e </a:t>
                </a:r>
                <a:r>
                  <a:rPr lang="ja-JP" altLang="en-US" sz="1400" dirty="0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rPr>
                  <a:t>とする。</a:t>
                </a:r>
              </a:p>
            </p:txBody>
          </p:sp>
        </mc:Choice>
        <mc:Fallback xmlns="">
          <p:sp>
            <p:nvSpPr>
              <p:cNvPr id="120" name="テキスト ボックス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7087" y="6054080"/>
                <a:ext cx="3438314" cy="307777"/>
              </a:xfrm>
              <a:prstGeom prst="rect">
                <a:avLst/>
              </a:prstGeom>
              <a:blipFill>
                <a:blip r:embed="rId3"/>
                <a:stretch>
                  <a:fillRect t="-7843" b="-215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テキスト ボックス 120"/>
              <p:cNvSpPr txBox="1"/>
              <p:nvPr/>
            </p:nvSpPr>
            <p:spPr>
              <a:xfrm>
                <a:off x="6832469" y="4953775"/>
                <a:ext cx="2547492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𝑑𝑋</m:t>
                          </m:r>
                        </m:e>
                        <m:sub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𝑒𝑚</m:t>
                          </m:r>
                        </m:sub>
                      </m:sSub>
                      <m:r>
                        <a:rPr lang="en-US" altLang="ja-JP" sz="1600" i="1">
                          <a:solidFill>
                            <a:prstClr val="white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𝑒𝑚</m:t>
                          </m:r>
                        </m:sub>
                      </m:sSub>
                      <m:r>
                        <a:rPr lang="en-US" altLang="ja-JP" sz="16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altLang="ja-JP" sz="16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𝑡</m:t>
                      </m:r>
                      <m:r>
                        <a:rPr lang="en-US" altLang="ja-JP" sz="16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ja-JP" sz="1600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cos</m:t>
                      </m:r>
                      <m:r>
                        <a:rPr lang="en-US" altLang="ja-JP" sz="16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⁡(</m:t>
                      </m:r>
                      <m:sSub>
                        <m:sSubPr>
                          <m:ctrlP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ja-JP" altLang="en-US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ja-JP" sz="16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altLang="ja-JP" sz="1600" dirty="0">
                  <a:solidFill>
                    <a:prstClr val="white"/>
                  </a:solidFill>
                  <a:latin typeface="Calibri"/>
                  <a:ea typeface="ＭＳ Ｐゴシック" panose="020B0600070205080204" pitchFamily="50" charset="-128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𝑑𝑌</m:t>
                          </m:r>
                        </m:e>
                        <m:sub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𝑒𝑚</m:t>
                          </m:r>
                        </m:sub>
                      </m:sSub>
                      <m:r>
                        <a:rPr lang="en-US" altLang="ja-JP" sz="1600" i="1">
                          <a:solidFill>
                            <a:prstClr val="white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𝑒𝑚</m:t>
                          </m:r>
                        </m:sub>
                      </m:sSub>
                      <m:r>
                        <a:rPr lang="en-US" altLang="ja-JP" sz="16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altLang="ja-JP" sz="16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𝑡</m:t>
                      </m:r>
                      <m:r>
                        <a:rPr lang="en-US" altLang="ja-JP" sz="16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ja-JP" sz="1600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sin</m:t>
                      </m:r>
                      <m:r>
                        <a:rPr lang="en-US" altLang="ja-JP" sz="16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(</m:t>
                      </m:r>
                      <m:sSub>
                        <m:sSubPr>
                          <m:ctrlP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ja-JP" altLang="en-US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altLang="ja-JP" sz="16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ja-JP" sz="16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altLang="ja-JP" sz="1600" dirty="0">
                  <a:solidFill>
                    <a:prstClr val="white"/>
                  </a:solidFill>
                  <a:latin typeface="Calibri"/>
                  <a:ea typeface="ＭＳ Ｐゴシック" panose="020B0600070205080204" pitchFamily="50" charset="-128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i="1">
                            <a:solidFill>
                              <a:prstClr val="white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ja-JP" sz="1600" i="1">
                            <a:solidFill>
                              <a:prstClr val="white"/>
                            </a:solidFill>
                            <a:latin typeface="Cambria Math"/>
                          </a:rPr>
                          <m:t>𝑒𝑚</m:t>
                        </m:r>
                      </m:sub>
                    </m:sSub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</a:rPr>
                      <m:t>=</m:t>
                    </m:r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</a:rPr>
                      <m:t>𝑒</m:t>
                    </m:r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</a:rPr>
                      <m:t>.</m:t>
                    </m:r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</a:rPr>
                      <m:t>𝑔𝑒𝑡𝑉𝑒𝑙𝑜𝑐𝑖𝑡𝑦</m:t>
                    </m:r>
                  </m:oMath>
                </a14:m>
                <a:r>
                  <a:rPr lang="en-US" altLang="ja-JP" sz="1600" dirty="0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rPr>
                  <a:t>()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i="1">
                            <a:solidFill>
                              <a:prstClr val="white"/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altLang="ja-JP" sz="1600" i="1">
                            <a:solidFill>
                              <a:prstClr val="white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</a:rPr>
                      <m:t>=90−</m:t>
                    </m:r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</a:rPr>
                      <m:t>𝑒</m:t>
                    </m:r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</a:rPr>
                      <m:t>.</m:t>
                    </m:r>
                    <m:r>
                      <a:rPr lang="en-US" altLang="ja-JP" sz="1600" i="1">
                        <a:solidFill>
                          <a:prstClr val="white"/>
                        </a:solidFill>
                        <a:latin typeface="Cambria Math"/>
                      </a:rPr>
                      <m:t>𝑔𝑒𝑡𝐻𝑒𝑎𝑑𝑖𝑛𝑔</m:t>
                    </m:r>
                  </m:oMath>
                </a14:m>
                <a:r>
                  <a:rPr lang="en-US" altLang="ja-JP" sz="1600" dirty="0">
                    <a:solidFill>
                      <a:prstClr val="white"/>
                    </a:solidFill>
                    <a:latin typeface="Calibri"/>
                    <a:ea typeface="ＭＳ Ｐゴシック" panose="020B0600070205080204" pitchFamily="50" charset="-128"/>
                  </a:rPr>
                  <a:t>()</a:t>
                </a:r>
              </a:p>
            </p:txBody>
          </p:sp>
        </mc:Choice>
        <mc:Fallback xmlns="">
          <p:sp>
            <p:nvSpPr>
              <p:cNvPr id="121" name="テキスト ボックス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469" y="4953775"/>
                <a:ext cx="2547492" cy="1077218"/>
              </a:xfrm>
              <a:prstGeom prst="rect">
                <a:avLst/>
              </a:prstGeom>
              <a:blipFill>
                <a:blip r:embed="rId4"/>
                <a:stretch>
                  <a:fillRect r="-478" b="-68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/>
              <p:cNvSpPr txBox="1"/>
              <p:nvPr/>
            </p:nvSpPr>
            <p:spPr>
              <a:xfrm>
                <a:off x="3233206" y="4479719"/>
                <a:ext cx="7978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rgbClr val="FFFF00"/>
                        </a:solidFill>
                        <a:latin typeface="Cambria Math"/>
                      </a:rPr>
                      <m:t>𝑔𝑒𝑡</m:t>
                    </m:r>
                  </m:oMath>
                </a14:m>
                <a:r>
                  <a:rPr lang="en-US" altLang="ja-JP" dirty="0">
                    <a:solidFill>
                      <a:srgbClr val="FFFF00"/>
                    </a:solidFill>
                    <a:latin typeface="Calibri"/>
                    <a:ea typeface="ＭＳ Ｐゴシック" panose="020B0600070205080204" pitchFamily="50" charset="-128"/>
                  </a:rPr>
                  <a:t>X()</a:t>
                </a:r>
                <a:endParaRPr lang="ja-JP" altLang="en-US" dirty="0">
                  <a:solidFill>
                    <a:srgbClr val="FFFF00"/>
                  </a:solidFill>
                  <a:latin typeface="Calibri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3" name="テキスト ボックス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3206" y="4479719"/>
                <a:ext cx="797847" cy="369332"/>
              </a:xfrm>
              <a:prstGeom prst="rect">
                <a:avLst/>
              </a:prstGeom>
              <a:blipFill>
                <a:blip r:embed="rId5"/>
                <a:stretch>
                  <a:fillRect l="-763" t="-10000" r="-6870" b="-2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テキスト ボックス 56"/>
              <p:cNvSpPr txBox="1"/>
              <p:nvPr/>
            </p:nvSpPr>
            <p:spPr>
              <a:xfrm>
                <a:off x="2438841" y="4262787"/>
                <a:ext cx="8034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rgbClr val="FFFF00"/>
                        </a:solidFill>
                        <a:latin typeface="Cambria Math"/>
                      </a:rPr>
                      <m:t>𝑔𝑒𝑡</m:t>
                    </m:r>
                    <m:r>
                      <m:rPr>
                        <m:sty m:val="p"/>
                      </m:rPr>
                      <a:rPr lang="en-US" altLang="ja-JP">
                        <a:solidFill>
                          <a:srgbClr val="FFFF00"/>
                        </a:solidFill>
                        <a:latin typeface="Cambria Math"/>
                      </a:rPr>
                      <m:t>Y</m:t>
                    </m:r>
                  </m:oMath>
                </a14:m>
                <a:r>
                  <a:rPr lang="en-US" altLang="ja-JP" dirty="0">
                    <a:solidFill>
                      <a:srgbClr val="FFFF00"/>
                    </a:solidFill>
                    <a:latin typeface="Calibri"/>
                    <a:ea typeface="ＭＳ Ｐゴシック" panose="020B0600070205080204" pitchFamily="50" charset="-128"/>
                  </a:rPr>
                  <a:t>()</a:t>
                </a:r>
                <a:endParaRPr lang="ja-JP" altLang="en-US" dirty="0">
                  <a:solidFill>
                    <a:srgbClr val="FFFF00"/>
                  </a:solidFill>
                  <a:latin typeface="Calibri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57" name="テキスト ボックス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841" y="4262787"/>
                <a:ext cx="803425" cy="369332"/>
              </a:xfrm>
              <a:prstGeom prst="rect">
                <a:avLst/>
              </a:prstGeom>
              <a:blipFill>
                <a:blip r:embed="rId6"/>
                <a:stretch>
                  <a:fillRect l="-758" t="-8197" r="-6818" b="-24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/>
              <p:cNvSpPr txBox="1"/>
              <p:nvPr/>
            </p:nvSpPr>
            <p:spPr>
              <a:xfrm>
                <a:off x="3053539" y="2704018"/>
                <a:ext cx="15672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rgbClr val="0070C0"/>
                        </a:solidFill>
                        <a:latin typeface="Cambria Math"/>
                      </a:rPr>
                      <m:t>𝑔𝑒𝑡𝐻𝑒𝑎𝑑𝑖𝑛𝑔</m:t>
                    </m:r>
                  </m:oMath>
                </a14:m>
                <a:r>
                  <a:rPr lang="en-US" altLang="ja-JP" dirty="0">
                    <a:solidFill>
                      <a:srgbClr val="0070C0"/>
                    </a:solidFill>
                    <a:latin typeface="Calibri"/>
                    <a:ea typeface="ＭＳ Ｐゴシック" panose="020B0600070205080204" pitchFamily="50" charset="-128"/>
                  </a:rPr>
                  <a:t>()</a:t>
                </a:r>
                <a:endParaRPr lang="ja-JP" altLang="en-US" dirty="0">
                  <a:solidFill>
                    <a:srgbClr val="0070C0"/>
                  </a:solidFill>
                  <a:latin typeface="Calibri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5" name="テキスト ボックス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539" y="2704018"/>
                <a:ext cx="1567224" cy="369332"/>
              </a:xfrm>
              <a:prstGeom prst="rect">
                <a:avLst/>
              </a:prstGeom>
              <a:blipFill>
                <a:blip r:embed="rId7"/>
                <a:stretch>
                  <a:fillRect l="-1167" t="-10000" r="-2724" b="-2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テキスト ボックス 61"/>
              <p:cNvSpPr txBox="1"/>
              <p:nvPr/>
            </p:nvSpPr>
            <p:spPr>
              <a:xfrm>
                <a:off x="3616582" y="1829531"/>
                <a:ext cx="17961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rgbClr val="1F497D">
                            <a:lumMod val="20000"/>
                            <a:lumOff val="80000"/>
                          </a:srgbClr>
                        </a:solidFill>
                        <a:latin typeface="Cambria Math"/>
                      </a:rPr>
                      <m:t>𝑒</m:t>
                    </m:r>
                    <m:r>
                      <a:rPr lang="en-US" altLang="ja-JP" i="1">
                        <a:solidFill>
                          <a:srgbClr val="1F497D">
                            <a:lumMod val="20000"/>
                            <a:lumOff val="80000"/>
                          </a:srgbClr>
                        </a:solidFill>
                        <a:latin typeface="Cambria Math"/>
                      </a:rPr>
                      <m:t>.</m:t>
                    </m:r>
                    <m:r>
                      <a:rPr lang="en-US" altLang="ja-JP" i="1">
                        <a:solidFill>
                          <a:srgbClr val="1F497D">
                            <a:lumMod val="20000"/>
                            <a:lumOff val="80000"/>
                          </a:srgbClr>
                        </a:solidFill>
                        <a:latin typeface="Cambria Math"/>
                      </a:rPr>
                      <m:t>𝑔𝑒𝑡𝐷𝑖𝑠𝑡𝑎𝑛𝑐𝑒</m:t>
                    </m:r>
                  </m:oMath>
                </a14:m>
                <a:r>
                  <a:rPr lang="en-US" altLang="ja-JP" dirty="0">
                    <a:solidFill>
                      <a:srgbClr val="1F497D">
                        <a:lumMod val="20000"/>
                        <a:lumOff val="80000"/>
                      </a:srgbClr>
                    </a:solidFill>
                    <a:latin typeface="Calibri"/>
                    <a:ea typeface="ＭＳ Ｐゴシック" panose="020B0600070205080204" pitchFamily="50" charset="-128"/>
                  </a:rPr>
                  <a:t>()</a:t>
                </a:r>
                <a:endParaRPr lang="ja-JP" altLang="en-US" dirty="0">
                  <a:solidFill>
                    <a:srgbClr val="1F497D">
                      <a:lumMod val="20000"/>
                      <a:lumOff val="80000"/>
                    </a:srgbClr>
                  </a:solidFill>
                  <a:latin typeface="Calibri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62" name="テキスト ボックス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582" y="1829531"/>
                <a:ext cx="1796197" cy="369332"/>
              </a:xfrm>
              <a:prstGeom prst="rect">
                <a:avLst/>
              </a:prstGeom>
              <a:blipFill>
                <a:blip r:embed="rId8"/>
                <a:stretch>
                  <a:fillRect t="-8197" r="-2373" b="-24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テキスト ボックス 62"/>
              <p:cNvSpPr txBox="1"/>
              <p:nvPr/>
            </p:nvSpPr>
            <p:spPr>
              <a:xfrm>
                <a:off x="3351653" y="2242517"/>
                <a:ext cx="1732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rgbClr val="0070C0"/>
                        </a:solidFill>
                        <a:latin typeface="Cambria Math"/>
                      </a:rPr>
                      <m:t>𝑒</m:t>
                    </m:r>
                    <m:r>
                      <a:rPr lang="en-US" altLang="ja-JP" i="1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altLang="ja-JP" i="1">
                        <a:solidFill>
                          <a:srgbClr val="0070C0"/>
                        </a:solidFill>
                        <a:latin typeface="Cambria Math"/>
                      </a:rPr>
                      <m:t>𝑔𝑒𝑡𝐵𝑒𝑎𝑟𝑖𝑛𝑔</m:t>
                    </m:r>
                  </m:oMath>
                </a14:m>
                <a:r>
                  <a:rPr lang="en-US" altLang="ja-JP" dirty="0">
                    <a:solidFill>
                      <a:srgbClr val="0070C0"/>
                    </a:solidFill>
                    <a:latin typeface="Calibri"/>
                    <a:ea typeface="ＭＳ Ｐゴシック" panose="020B0600070205080204" pitchFamily="50" charset="-128"/>
                  </a:rPr>
                  <a:t>()</a:t>
                </a:r>
                <a:endParaRPr lang="ja-JP" altLang="en-US" dirty="0">
                  <a:solidFill>
                    <a:srgbClr val="0070C0"/>
                  </a:solidFill>
                  <a:latin typeface="Calibri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63" name="テキスト ボックス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653" y="2242517"/>
                <a:ext cx="1732590" cy="369332"/>
              </a:xfrm>
              <a:prstGeom prst="rect">
                <a:avLst/>
              </a:prstGeom>
              <a:blipFill>
                <a:blip r:embed="rId9"/>
                <a:stretch>
                  <a:fillRect t="-10000" r="-2465" b="-2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テキスト ボックス 63"/>
              <p:cNvSpPr txBox="1"/>
              <p:nvPr/>
            </p:nvSpPr>
            <p:spPr>
              <a:xfrm>
                <a:off x="6118477" y="980728"/>
                <a:ext cx="1772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rgbClr val="0070C0"/>
                        </a:solidFill>
                        <a:latin typeface="Cambria Math"/>
                      </a:rPr>
                      <m:t>𝑒</m:t>
                    </m:r>
                    <m:r>
                      <a:rPr lang="en-US" altLang="ja-JP" i="1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altLang="ja-JP" i="1">
                        <a:solidFill>
                          <a:srgbClr val="0070C0"/>
                        </a:solidFill>
                        <a:latin typeface="Cambria Math"/>
                      </a:rPr>
                      <m:t>𝑔𝑒𝑡𝐻𝑒𝑎𝑑𝑖𝑛𝑔</m:t>
                    </m:r>
                  </m:oMath>
                </a14:m>
                <a:r>
                  <a:rPr lang="en-US" altLang="ja-JP" dirty="0">
                    <a:solidFill>
                      <a:srgbClr val="0070C0"/>
                    </a:solidFill>
                    <a:latin typeface="Calibri"/>
                    <a:ea typeface="ＭＳ Ｐゴシック" panose="020B0600070205080204" pitchFamily="50" charset="-128"/>
                  </a:rPr>
                  <a:t>()</a:t>
                </a:r>
                <a:endParaRPr lang="ja-JP" altLang="en-US" dirty="0">
                  <a:solidFill>
                    <a:srgbClr val="0070C0"/>
                  </a:solidFill>
                  <a:latin typeface="Calibri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64" name="テキスト ボックス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8477" y="980728"/>
                <a:ext cx="1772665" cy="369332"/>
              </a:xfrm>
              <a:prstGeom prst="rect">
                <a:avLst/>
              </a:prstGeom>
              <a:blipFill>
                <a:blip r:embed="rId10"/>
                <a:stretch>
                  <a:fillRect t="-10000" r="-2414" b="-2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/>
              <p:cNvSpPr txBox="1"/>
              <p:nvPr/>
            </p:nvSpPr>
            <p:spPr>
              <a:xfrm>
                <a:off x="5073271" y="3334256"/>
                <a:ext cx="4612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ja-JP" altLang="en-US" dirty="0">
                  <a:solidFill>
                    <a:srgbClr val="0070C0"/>
                  </a:solidFill>
                  <a:latin typeface="Calibri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8" name="テキスト ボックス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271" y="3334256"/>
                <a:ext cx="46128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テキスト ボックス 64"/>
              <p:cNvSpPr txBox="1"/>
              <p:nvPr/>
            </p:nvSpPr>
            <p:spPr>
              <a:xfrm>
                <a:off x="6637510" y="1427440"/>
                <a:ext cx="4666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ja-JP" altLang="en-US" dirty="0">
                  <a:solidFill>
                    <a:srgbClr val="0070C0"/>
                  </a:solidFill>
                  <a:latin typeface="Calibri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65" name="テキスト ボックス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7510" y="1427440"/>
                <a:ext cx="46660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テキスト ボックス 65"/>
              <p:cNvSpPr txBox="1"/>
              <p:nvPr/>
            </p:nvSpPr>
            <p:spPr>
              <a:xfrm>
                <a:off x="5498689" y="3728241"/>
                <a:ext cx="6169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solidFill>
                                <a:srgbClr val="1F497D">
                                  <a:lumMod val="20000"/>
                                  <a:lumOff val="8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1F497D">
                                  <a:lumMod val="20000"/>
                                  <a:lumOff val="80000"/>
                                </a:srgbClr>
                              </a:solidFill>
                              <a:latin typeface="Cambria Math"/>
                            </a:rPr>
                            <m:t>𝑑𝑋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1F497D">
                                  <a:lumMod val="20000"/>
                                  <a:lumOff val="80000"/>
                                </a:srgbClr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ja-JP" altLang="en-US" dirty="0">
                  <a:solidFill>
                    <a:srgbClr val="1F497D">
                      <a:lumMod val="20000"/>
                      <a:lumOff val="80000"/>
                    </a:srgbClr>
                  </a:solidFill>
                  <a:latin typeface="Calibri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66" name="テキスト ボックス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689" y="3728241"/>
                <a:ext cx="61690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テキスト ボックス 66"/>
              <p:cNvSpPr txBox="1"/>
              <p:nvPr/>
            </p:nvSpPr>
            <p:spPr>
              <a:xfrm>
                <a:off x="6366275" y="4186700"/>
                <a:ext cx="611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𝑑𝑋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ja-JP" altLang="en-US" dirty="0">
                  <a:solidFill>
                    <a:srgbClr val="FF0000"/>
                  </a:solidFill>
                  <a:latin typeface="Calibri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67" name="テキスト ボックス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275" y="4186700"/>
                <a:ext cx="61157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テキスト ボックス 67"/>
              <p:cNvSpPr txBox="1"/>
              <p:nvPr/>
            </p:nvSpPr>
            <p:spPr>
              <a:xfrm>
                <a:off x="8210026" y="3222268"/>
                <a:ext cx="5741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𝑑𝑌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ja-JP" altLang="en-US" dirty="0">
                  <a:solidFill>
                    <a:srgbClr val="FF0000"/>
                  </a:solidFill>
                  <a:latin typeface="Calibri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68" name="テキスト ボックス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026" y="3222268"/>
                <a:ext cx="57419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テキスト ボックス 68"/>
              <p:cNvSpPr txBox="1"/>
              <p:nvPr/>
            </p:nvSpPr>
            <p:spPr>
              <a:xfrm>
                <a:off x="6030717" y="2754761"/>
                <a:ext cx="5795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solidFill>
                                <a:srgbClr val="1F497D">
                                  <a:lumMod val="20000"/>
                                  <a:lumOff val="8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1F497D">
                                  <a:lumMod val="20000"/>
                                  <a:lumOff val="80000"/>
                                </a:srgbClr>
                              </a:solidFill>
                              <a:latin typeface="Cambria Math"/>
                            </a:rPr>
                            <m:t>𝑑𝑌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1F497D">
                                  <a:lumMod val="20000"/>
                                  <a:lumOff val="80000"/>
                                </a:srgbClr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ja-JP" altLang="en-US" dirty="0">
                  <a:solidFill>
                    <a:srgbClr val="1F497D">
                      <a:lumMod val="20000"/>
                      <a:lumOff val="80000"/>
                    </a:srgbClr>
                  </a:solidFill>
                  <a:latin typeface="Calibri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69" name="テキスト ボックス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0717" y="2754761"/>
                <a:ext cx="57951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テキスト ボックス 70"/>
              <p:cNvSpPr txBox="1"/>
              <p:nvPr/>
            </p:nvSpPr>
            <p:spPr>
              <a:xfrm>
                <a:off x="8184232" y="2064023"/>
                <a:ext cx="7330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92D050"/>
                              </a:solidFill>
                              <a:latin typeface="Cambria Math"/>
                            </a:rPr>
                            <m:t>𝑑𝑌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92D050"/>
                              </a:solidFill>
                              <a:latin typeface="Cambria Math"/>
                            </a:rPr>
                            <m:t>𝑒𝑚</m:t>
                          </m:r>
                        </m:sub>
                      </m:sSub>
                    </m:oMath>
                  </m:oMathPara>
                </a14:m>
                <a:endParaRPr lang="ja-JP" altLang="en-US" dirty="0">
                  <a:solidFill>
                    <a:srgbClr val="92D050"/>
                  </a:solidFill>
                  <a:latin typeface="Calibri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71" name="テキスト ボックス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232" y="2064023"/>
                <a:ext cx="73308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テキスト ボックス 71"/>
              <p:cNvSpPr txBox="1"/>
              <p:nvPr/>
            </p:nvSpPr>
            <p:spPr>
              <a:xfrm>
                <a:off x="7028722" y="1596653"/>
                <a:ext cx="7704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92D050"/>
                              </a:solidFill>
                              <a:latin typeface="Cambria Math"/>
                            </a:rPr>
                            <m:t>𝑑𝑋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92D050"/>
                              </a:solidFill>
                              <a:latin typeface="Cambria Math"/>
                            </a:rPr>
                            <m:t>𝑒𝑚</m:t>
                          </m:r>
                        </m:sub>
                      </m:sSub>
                    </m:oMath>
                  </m:oMathPara>
                </a14:m>
                <a:endParaRPr lang="ja-JP" altLang="en-US" dirty="0">
                  <a:solidFill>
                    <a:srgbClr val="92D050"/>
                  </a:solidFill>
                  <a:latin typeface="Calibri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72" name="テキスト ボックス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8722" y="1596653"/>
                <a:ext cx="770467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テキスト ボックス 72"/>
              <p:cNvSpPr txBox="1"/>
              <p:nvPr/>
            </p:nvSpPr>
            <p:spPr>
              <a:xfrm>
                <a:off x="6509284" y="3287352"/>
                <a:ext cx="9046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𝑏𝑡</m:t>
                          </m:r>
                        </m:sub>
                      </m:sSub>
                      <m:r>
                        <a:rPr lang="en-US" altLang="ja-JP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altLang="ja-JP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𝑡</m:t>
                      </m:r>
                    </m:oMath>
                  </m:oMathPara>
                </a14:m>
                <a:endParaRPr lang="ja-JP" altLang="en-US" dirty="0">
                  <a:solidFill>
                    <a:srgbClr val="FF0000"/>
                  </a:solidFill>
                  <a:latin typeface="Calibri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73" name="テキスト ボックス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284" y="3287352"/>
                <a:ext cx="904671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テキスト ボックス 73"/>
              <p:cNvSpPr txBox="1"/>
              <p:nvPr/>
            </p:nvSpPr>
            <p:spPr>
              <a:xfrm>
                <a:off x="6300418" y="2341370"/>
                <a:ext cx="953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92D05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92D050"/>
                              </a:solidFill>
                              <a:latin typeface="Cambria Math"/>
                            </a:rPr>
                            <m:t>𝑒𝑚</m:t>
                          </m:r>
                        </m:sub>
                      </m:sSub>
                      <m:r>
                        <a:rPr lang="en-US" altLang="ja-JP" i="1">
                          <a:solidFill>
                            <a:srgbClr val="92D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altLang="ja-JP" i="1">
                          <a:solidFill>
                            <a:srgbClr val="92D050"/>
                          </a:solidFill>
                          <a:latin typeface="Cambria Math"/>
                          <a:ea typeface="Cambria Math"/>
                        </a:rPr>
                        <m:t>𝑡</m:t>
                      </m:r>
                    </m:oMath>
                  </m:oMathPara>
                </a14:m>
                <a:endParaRPr lang="ja-JP" altLang="en-US" dirty="0">
                  <a:solidFill>
                    <a:srgbClr val="92D050"/>
                  </a:solidFill>
                  <a:latin typeface="Calibri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74" name="テキスト ボックス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418" y="2341370"/>
                <a:ext cx="953338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爆発 2 8"/>
          <p:cNvSpPr/>
          <p:nvPr/>
        </p:nvSpPr>
        <p:spPr>
          <a:xfrm>
            <a:off x="7912177" y="2495649"/>
            <a:ext cx="598439" cy="443778"/>
          </a:xfrm>
          <a:prstGeom prst="irregularSeal2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10" name="フローチャート : 論理積ゲート 9"/>
          <p:cNvSpPr/>
          <p:nvPr/>
        </p:nvSpPr>
        <p:spPr>
          <a:xfrm rot="20338803">
            <a:off x="7019218" y="3020324"/>
            <a:ext cx="263341" cy="129202"/>
          </a:xfrm>
          <a:prstGeom prst="flowChartDelay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667445">
            <a:off x="5945308" y="1866687"/>
            <a:ext cx="205740" cy="262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61603">
            <a:off x="4165681" y="4029359"/>
            <a:ext cx="205740" cy="262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" name="Picture 3"/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667445">
            <a:off x="7319898" y="2305745"/>
            <a:ext cx="205740" cy="262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5" name="Picture 3"/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667445">
            <a:off x="8097032" y="2576788"/>
            <a:ext cx="205740" cy="262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915533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81200" y="44624"/>
            <a:ext cx="8229600" cy="792088"/>
          </a:xfrm>
        </p:spPr>
        <p:txBody>
          <a:bodyPr>
            <a:normAutofit/>
          </a:bodyPr>
          <a:lstStyle/>
          <a:p>
            <a:r>
              <a:rPr lang="ja-JP" altLang="en-US" sz="3200" dirty="0"/>
              <a:t>敵の動作の予測（三角関数、二次関数の解）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pPr/>
              <a:t>7</a:t>
            </a:fld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/>
              <p:cNvSpPr txBox="1"/>
              <p:nvPr/>
            </p:nvSpPr>
            <p:spPr>
              <a:xfrm>
                <a:off x="4262004" y="4444461"/>
                <a:ext cx="321613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32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32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𝑎𝑡</m:t>
                          </m:r>
                        </m:e>
                        <m:sup>
                          <m:r>
                            <a:rPr lang="en-US" altLang="ja-JP" sz="32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ja-JP" sz="3200" i="1">
                          <a:solidFill>
                            <a:prstClr val="white"/>
                          </a:solidFill>
                          <a:latin typeface="Cambria Math"/>
                        </a:rPr>
                        <m:t>+</m:t>
                      </m:r>
                      <m:r>
                        <a:rPr lang="en-US" altLang="ja-JP" sz="3200" i="1">
                          <a:solidFill>
                            <a:prstClr val="white"/>
                          </a:solidFill>
                          <a:latin typeface="Cambria Math"/>
                        </a:rPr>
                        <m:t>𝑏𝑡</m:t>
                      </m:r>
                      <m:r>
                        <a:rPr lang="en-US" altLang="ja-JP" sz="3200" i="1">
                          <a:solidFill>
                            <a:prstClr val="white"/>
                          </a:solidFill>
                          <a:latin typeface="Cambria Math"/>
                        </a:rPr>
                        <m:t>+</m:t>
                      </m:r>
                      <m:r>
                        <a:rPr lang="en-US" altLang="ja-JP" sz="3200" i="1">
                          <a:solidFill>
                            <a:prstClr val="white"/>
                          </a:solidFill>
                          <a:latin typeface="Cambria Math"/>
                        </a:rPr>
                        <m:t>𝑐</m:t>
                      </m:r>
                      <m:r>
                        <a:rPr lang="en-US" altLang="ja-JP" sz="3200" i="1">
                          <a:solidFill>
                            <a:prstClr val="white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altLang="ja-JP" sz="3200" dirty="0">
                  <a:solidFill>
                    <a:prstClr val="white"/>
                  </a:solidFill>
                  <a:latin typeface="Calibri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5" name="テキスト ボックス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004" y="4444461"/>
                <a:ext cx="3216137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テキスト ボックス 61"/>
              <p:cNvSpPr txBox="1"/>
              <p:nvPr/>
            </p:nvSpPr>
            <p:spPr>
              <a:xfrm>
                <a:off x="4262004" y="5019094"/>
                <a:ext cx="3850221" cy="11462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3200" i="1">
                          <a:solidFill>
                            <a:prstClr val="white"/>
                          </a:solidFill>
                          <a:latin typeface="Cambria Math"/>
                        </a:rPr>
                        <m:t>𝑡</m:t>
                      </m:r>
                      <m:r>
                        <a:rPr lang="en-US" altLang="ja-JP" sz="3200" i="1">
                          <a:solidFill>
                            <a:prstClr val="white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ja-JP" sz="32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32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ja-JP" sz="32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US" altLang="ja-JP" sz="32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US" altLang="ja-JP" sz="32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ja-JP" sz="32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32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ja-JP" sz="32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ja-JP" sz="32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−4</m:t>
                              </m:r>
                              <m:r>
                                <a:rPr lang="en-US" altLang="ja-JP" sz="32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US" altLang="ja-JP" sz="32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altLang="ja-JP" sz="32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altLang="ja-JP" sz="3200" dirty="0">
                  <a:solidFill>
                    <a:prstClr val="white"/>
                  </a:solidFill>
                  <a:latin typeface="Calibri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62" name="テキスト ボックス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004" y="5019094"/>
                <a:ext cx="3850221" cy="11462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テキスト ボックス 62"/>
              <p:cNvSpPr txBox="1"/>
              <p:nvPr/>
            </p:nvSpPr>
            <p:spPr>
              <a:xfrm>
                <a:off x="4262004" y="2324797"/>
                <a:ext cx="37448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28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8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𝑠𝑖𝑛</m:t>
                          </m:r>
                        </m:e>
                        <m:sup>
                          <m:r>
                            <a:rPr lang="en-US" altLang="ja-JP" sz="28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ja-JP" sz="28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sz="28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𝜃</m:t>
                          </m:r>
                        </m:e>
                      </m:d>
                      <m:r>
                        <a:rPr lang="en-US" altLang="ja-JP" sz="2800" i="1">
                          <a:solidFill>
                            <a:prstClr val="white"/>
                          </a:solidFill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altLang="ja-JP" sz="28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8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𝑐𝑜𝑠</m:t>
                          </m:r>
                        </m:e>
                        <m:sup>
                          <m:r>
                            <a:rPr lang="en-US" altLang="ja-JP" sz="28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ja-JP" sz="28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sz="28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𝜃</m:t>
                          </m:r>
                        </m:e>
                      </m:d>
                      <m:r>
                        <a:rPr lang="en-US" altLang="ja-JP" sz="2800" i="1">
                          <a:solidFill>
                            <a:prstClr val="white"/>
                          </a:solidFill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US" altLang="ja-JP" sz="2800" dirty="0">
                  <a:solidFill>
                    <a:prstClr val="white"/>
                  </a:solidFill>
                  <a:latin typeface="Calibri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63" name="テキスト ボックス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004" y="2324797"/>
                <a:ext cx="374487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テキスト ボックス 8"/>
          <p:cNvSpPr txBox="1"/>
          <p:nvPr/>
        </p:nvSpPr>
        <p:spPr>
          <a:xfrm>
            <a:off x="3646325" y="1554849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三角関数の公式</a:t>
            </a:r>
          </a:p>
        </p:txBody>
      </p:sp>
      <p:sp>
        <p:nvSpPr>
          <p:cNvPr id="64" name="テキスト ボックス 63"/>
          <p:cNvSpPr txBox="1"/>
          <p:nvPr/>
        </p:nvSpPr>
        <p:spPr>
          <a:xfrm>
            <a:off x="3646324" y="3580365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二次関数の解の公式</a:t>
            </a:r>
          </a:p>
        </p:txBody>
      </p:sp>
    </p:spTree>
    <p:extLst>
      <p:ext uri="{BB962C8B-B14F-4D97-AF65-F5344CB8AC3E}">
        <p14:creationId xmlns:p14="http://schemas.microsoft.com/office/powerpoint/2010/main" val="61501629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pPr/>
              <a:t>8</a:t>
            </a:fld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7" name="タイトル 1"/>
          <p:cNvSpPr>
            <a:spLocks noGrp="1"/>
          </p:cNvSpPr>
          <p:nvPr>
            <p:ph type="title"/>
          </p:nvPr>
        </p:nvSpPr>
        <p:spPr>
          <a:xfrm>
            <a:off x="1981200" y="44624"/>
            <a:ext cx="8229600" cy="792088"/>
          </a:xfrm>
        </p:spPr>
        <p:txBody>
          <a:bodyPr>
            <a:normAutofit/>
          </a:bodyPr>
          <a:lstStyle/>
          <a:p>
            <a:r>
              <a:rPr lang="ja-JP" altLang="en-US" sz="3200" dirty="0"/>
              <a:t>敵の動作の予測（二次関数の解）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/>
              <p:cNvSpPr txBox="1"/>
              <p:nvPr/>
            </p:nvSpPr>
            <p:spPr>
              <a:xfrm>
                <a:off x="1847528" y="980728"/>
                <a:ext cx="8496944" cy="56596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</a:rPr>
                                <m:t>𝑏𝑡</m:t>
                              </m:r>
                            </m:sub>
                          </m:sSub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𝑡</m:t>
                          </m:r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ja-JP" sz="24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𝑑𝑋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ja-JP" sz="24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sSup>
                        <m:sSupPr>
                          <m:ctrlP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𝑑𝑌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ja-JP" sz="2400" dirty="0">
                  <a:solidFill>
                    <a:prstClr val="white"/>
                  </a:solidFill>
                  <a:latin typeface="Calibri"/>
                  <a:ea typeface="Cambria Math"/>
                </a:endParaRPr>
              </a:p>
              <a:p>
                <a:endParaRPr lang="en-US" altLang="ja-JP" sz="2400" dirty="0">
                  <a:solidFill>
                    <a:prstClr val="white"/>
                  </a:solidFill>
                  <a:latin typeface="Calibri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𝑏𝑡</m:t>
                              </m:r>
                            </m:sub>
                          </m:sSub>
                        </m:e>
                        <m:sup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ja-JP" sz="24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𝑡</m:t>
                          </m:r>
                        </m:e>
                        <m:sup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ja-JP" sz="24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𝑑𝑋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𝑑𝑋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𝑒𝑚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ja-JP" sz="24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𝑑𝑌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𝑑𝑌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𝑒𝑚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ja-JP" sz="24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=0</m:t>
                      </m:r>
                    </m:oMath>
                  </m:oMathPara>
                </a14:m>
                <a:endParaRPr lang="en-US" altLang="ja-JP" sz="2400" dirty="0">
                  <a:solidFill>
                    <a:prstClr val="white"/>
                  </a:solidFill>
                  <a:latin typeface="Calibri"/>
                  <a:ea typeface="Cambria Math"/>
                </a:endParaRPr>
              </a:p>
              <a:p>
                <a:endParaRPr lang="en-US" altLang="ja-JP" sz="2400" dirty="0">
                  <a:solidFill>
                    <a:prstClr val="white"/>
                  </a:solidFill>
                  <a:latin typeface="Calibri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𝑏𝑡</m:t>
                              </m:r>
                            </m:sub>
                          </m:sSub>
                        </m:e>
                        <m:sup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ja-JP" sz="24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𝑡</m:t>
                          </m:r>
                        </m:e>
                        <m:sup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ja-JP" sz="24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𝑑𝑋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𝑒𝑚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  <m:func>
                                <m:func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ja-JP" sz="2400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ja-JP" sz="2400" i="1">
                                          <a:solidFill>
                                            <a:prstClr val="white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sz="2400" i="1">
                                              <a:solidFill>
                                                <a:prstClr val="white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ja-JP" altLang="en-US" sz="2400" i="1">
                                              <a:solidFill>
                                                <a:prstClr val="white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ja-JP" sz="2400" i="1">
                                              <a:solidFill>
                                                <a:prstClr val="white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ja-JP" sz="24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𝑑𝑌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𝑒𝑚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  <m:func>
                                <m:func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ja-JP" sz="2400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ja-JP" sz="2400" i="1">
                                          <a:solidFill>
                                            <a:prstClr val="white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sz="2400" i="1">
                                              <a:solidFill>
                                                <a:prstClr val="white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ja-JP" altLang="en-US" sz="2400" i="1">
                                              <a:solidFill>
                                                <a:prstClr val="white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ja-JP" sz="2400" i="1">
                                              <a:solidFill>
                                                <a:prstClr val="white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ja-JP" sz="24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=0</m:t>
                      </m:r>
                    </m:oMath>
                  </m:oMathPara>
                </a14:m>
                <a:endParaRPr lang="en-US" altLang="ja-JP" sz="2400" dirty="0">
                  <a:solidFill>
                    <a:prstClr val="white"/>
                  </a:solidFill>
                  <a:latin typeface="Calibri"/>
                  <a:ea typeface="Cambria Math"/>
                </a:endParaRPr>
              </a:p>
              <a:p>
                <a:endParaRPr lang="en-US" altLang="ja-JP" sz="2400" dirty="0">
                  <a:solidFill>
                    <a:prstClr val="white"/>
                  </a:solidFill>
                  <a:latin typeface="Calibri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𝑏𝑡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𝑒𝑚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𝑐𝑜𝑠</m:t>
                              </m:r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en-US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𝑒𝑚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en-US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sSup>
                        <m:sSupPr>
                          <m:ctrlP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𝑡</m:t>
                          </m:r>
                        </m:e>
                        <m:sup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ja-JP" sz="24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𝑑𝑋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𝑒𝑚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z="2400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sz="2400" i="1">
                                          <a:solidFill>
                                            <a:prstClr val="white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ja-JP" altLang="en-US" sz="2400" i="1">
                                          <a:solidFill>
                                            <a:prstClr val="white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ja-JP" sz="2400" i="1">
                                          <a:solidFill>
                                            <a:prstClr val="white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𝑑𝑌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𝑒𝑚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z="2400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sz="2400" i="1">
                                          <a:solidFill>
                                            <a:prstClr val="white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ja-JP" altLang="en-US" sz="2400" i="1">
                                          <a:solidFill>
                                            <a:prstClr val="white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ja-JP" sz="2400" i="1">
                                          <a:solidFill>
                                            <a:prstClr val="white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ja-JP" sz="24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𝑡</m:t>
                      </m:r>
                      <m:r>
                        <a:rPr lang="en-US" altLang="ja-JP" sz="24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𝑑𝑋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𝑑𝑌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ja-JP" sz="2400" i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/>
                </a:endParaRPr>
              </a:p>
              <a:p>
                <a:endParaRPr lang="en-US" altLang="ja-JP" sz="2400" i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𝑏𝑡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𝑒𝑚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𝑡</m:t>
                          </m:r>
                        </m:e>
                        <m:sup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ja-JP" sz="24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𝑑𝑋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𝑒𝑚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z="2400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sz="2400" i="1">
                                          <a:solidFill>
                                            <a:prstClr val="white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ja-JP" altLang="en-US" sz="2400" i="1">
                                          <a:solidFill>
                                            <a:prstClr val="white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ja-JP" sz="2400" i="1">
                                          <a:solidFill>
                                            <a:prstClr val="white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𝑑𝑌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ja-JP" sz="2400" i="1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𝑒𝑚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ja-JP" sz="2400" i="1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z="2400">
                                  <a:solidFill>
                                    <a:prstClr val="white"/>
                                  </a:solidFill>
                                  <a:latin typeface="Cambria Math"/>
                                  <a:ea typeface="Cambria Math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ja-JP" sz="2400" i="1">
                                      <a:solidFill>
                                        <a:prstClr val="white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sz="2400" i="1">
                                          <a:solidFill>
                                            <a:prstClr val="white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ja-JP" altLang="en-US" sz="2400" i="1">
                                          <a:solidFill>
                                            <a:prstClr val="white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ja-JP" sz="2400" i="1">
                                          <a:solidFill>
                                            <a:prstClr val="white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ja-JP" sz="2400" i="1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</a:rPr>
                        <m:t>𝑡</m:t>
                      </m:r>
                    </m:oMath>
                  </m:oMathPara>
                </a14:m>
                <a:endParaRPr lang="en-US" altLang="ja-JP" sz="2400" i="1" dirty="0">
                  <a:solidFill>
                    <a:prstClr val="white"/>
                  </a:solidFill>
                  <a:latin typeface="Cambria Math"/>
                  <a:ea typeface="Cambria Math"/>
                </a:endParaRPr>
              </a:p>
              <a:p>
                <a:r>
                  <a:rPr lang="en-US" altLang="ja-JP" sz="2400" i="1" dirty="0">
                    <a:solidFill>
                      <a:prstClr val="white"/>
                    </a:solidFill>
                    <a:latin typeface="Cambria Math"/>
                    <a:ea typeface="Cambria Math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ja-JP" sz="2400" i="1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Cambria Math"/>
                      </a:rPr>
                      <m:t>  </m:t>
                    </m:r>
                    <m:r>
                      <a:rPr lang="en-US" altLang="ja-JP" sz="2400" i="1">
                        <a:solidFill>
                          <a:prstClr val="white"/>
                        </a:solidFill>
                        <a:latin typeface="Cambria Math"/>
                        <a:ea typeface="Cambria Math"/>
                      </a:rPr>
                      <m:t>+(−</m:t>
                    </m:r>
                    <m:sSup>
                      <m:sSupPr>
                        <m:ctrlPr>
                          <a:rPr lang="en-US" altLang="ja-JP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solidFill>
                                  <a:prstClr val="white"/>
                                </a:solidFill>
                                <a:latin typeface="Cambria Math"/>
                                <a:ea typeface="Cambria Math"/>
                              </a:rPr>
                              <m:t>𝑑𝑋</m:t>
                            </m:r>
                          </m:e>
                          <m:sub>
                            <m:r>
                              <a:rPr lang="en-US" altLang="ja-JP" sz="2400" i="1">
                                <a:solidFill>
                                  <a:prstClr val="white"/>
                                </a:solidFill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ja-JP" sz="2400" i="1">
                            <a:solidFill>
                              <a:prstClr val="white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solidFill>
                          <a:prstClr val="white"/>
                        </a:solidFill>
                        <a:latin typeface="Cambria Math"/>
                        <a:ea typeface="Cambria Math"/>
                      </a:rPr>
                      <m:t>−</m:t>
                    </m:r>
                    <m:sSup>
                      <m:sSupPr>
                        <m:ctrlPr>
                          <a:rPr lang="en-US" altLang="ja-JP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solidFill>
                                  <a:prstClr val="white"/>
                                </a:solidFill>
                                <a:latin typeface="Cambria Math"/>
                                <a:ea typeface="Cambria Math"/>
                              </a:rPr>
                              <m:t>𝑑𝑌</m:t>
                            </m:r>
                          </m:e>
                          <m:sub>
                            <m:r>
                              <a:rPr lang="en-US" altLang="ja-JP" sz="2400" i="1">
                                <a:solidFill>
                                  <a:prstClr val="white"/>
                                </a:solidFill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ja-JP" sz="2400" i="1">
                            <a:solidFill>
                              <a:prstClr val="white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solidFill>
                          <a:prstClr val="white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altLang="ja-JP" sz="2400" dirty="0">
                  <a:solidFill>
                    <a:prstClr val="white"/>
                  </a:solidFill>
                  <a:latin typeface="Calibri"/>
                  <a:ea typeface="Cambria Math"/>
                </a:endParaRPr>
              </a:p>
            </p:txBody>
          </p:sp>
        </mc:Choice>
        <mc:Fallback xmlns="">
          <p:sp>
            <p:nvSpPr>
              <p:cNvPr id="8" name="テキスト ボックス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28" y="980728"/>
                <a:ext cx="8496944" cy="56596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24274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81200" y="44624"/>
            <a:ext cx="8229600" cy="778098"/>
          </a:xfrm>
        </p:spPr>
        <p:txBody>
          <a:bodyPr>
            <a:normAutofit/>
          </a:bodyPr>
          <a:lstStyle/>
          <a:p>
            <a:r>
              <a:rPr lang="ja-JP" altLang="en-US" sz="3200" dirty="0"/>
              <a:t>敵の動作の予測（サンプルプログラム）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631504" y="836712"/>
            <a:ext cx="4176464" cy="58326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/>
              <a:t>public void </a:t>
            </a:r>
            <a:r>
              <a:rPr lang="en-US" altLang="ja-JP" sz="1400" dirty="0" err="1"/>
              <a:t>onScannedRobot</a:t>
            </a:r>
            <a:r>
              <a:rPr lang="en-US" altLang="ja-JP" sz="1400" dirty="0"/>
              <a:t>(</a:t>
            </a:r>
            <a:r>
              <a:rPr lang="en-US" altLang="ja-JP" sz="1400" dirty="0" err="1"/>
              <a:t>ScannedRobotEvent</a:t>
            </a:r>
            <a:r>
              <a:rPr lang="en-US" altLang="ja-JP" sz="1400" dirty="0"/>
              <a:t> e){</a:t>
            </a:r>
          </a:p>
          <a:p>
            <a:pPr marL="0" indent="0">
              <a:buNone/>
            </a:pPr>
            <a:r>
              <a:rPr lang="en-US" altLang="ja-JP" sz="1400" dirty="0"/>
              <a:t>    </a:t>
            </a:r>
            <a:r>
              <a:rPr lang="en-US" altLang="ja-JP" sz="1400" dirty="0" err="1"/>
              <a:t>int</a:t>
            </a:r>
            <a:r>
              <a:rPr lang="en-US" altLang="ja-JP" sz="1400" dirty="0"/>
              <a:t> power = 1;</a:t>
            </a:r>
          </a:p>
          <a:p>
            <a:pPr marL="0" indent="0">
              <a:buNone/>
            </a:pPr>
            <a:r>
              <a:rPr lang="en-US" altLang="ja-JP" sz="1400" dirty="0"/>
              <a:t>    </a:t>
            </a:r>
            <a:r>
              <a:rPr lang="en-US" altLang="ja-JP" sz="1400" dirty="0" err="1"/>
              <a:t>int</a:t>
            </a:r>
            <a:r>
              <a:rPr lang="en-US" altLang="ja-JP" sz="1400" dirty="0"/>
              <a:t> </a:t>
            </a:r>
            <a:r>
              <a:rPr lang="en-US" altLang="ja-JP" sz="1400" dirty="0" err="1"/>
              <a:t>v_bt</a:t>
            </a:r>
            <a:r>
              <a:rPr lang="en-US" altLang="ja-JP" sz="1400" dirty="0"/>
              <a:t> = 20-3*power;</a:t>
            </a:r>
          </a:p>
          <a:p>
            <a:pPr marL="0" indent="0">
              <a:buNone/>
            </a:pPr>
            <a:r>
              <a:rPr lang="en-US" altLang="ja-JP" sz="1400" dirty="0"/>
              <a:t>    double </a:t>
            </a:r>
            <a:r>
              <a:rPr lang="en-US" altLang="ja-JP" sz="1400" dirty="0" err="1"/>
              <a:t>v_em</a:t>
            </a:r>
            <a:r>
              <a:rPr lang="en-US" altLang="ja-JP" sz="1400" dirty="0"/>
              <a:t> = </a:t>
            </a:r>
            <a:r>
              <a:rPr lang="en-US" altLang="ja-JP" sz="1400" dirty="0" err="1"/>
              <a:t>e.getVelocity</a:t>
            </a:r>
            <a:r>
              <a:rPr lang="en-US" altLang="ja-JP" sz="1400" dirty="0"/>
              <a:t>();</a:t>
            </a:r>
          </a:p>
          <a:p>
            <a:pPr marL="0" indent="0">
              <a:buNone/>
            </a:pPr>
            <a:r>
              <a:rPr lang="en-US" altLang="ja-JP" sz="1400" dirty="0"/>
              <a:t>    double seta1 = </a:t>
            </a:r>
            <a:r>
              <a:rPr lang="en-US" altLang="ja-JP" sz="1400" dirty="0" err="1"/>
              <a:t>Math.toRadians</a:t>
            </a:r>
            <a:r>
              <a:rPr lang="en-US" altLang="ja-JP" sz="1400" dirty="0"/>
              <a:t>(90-e.getBearing()-</a:t>
            </a:r>
          </a:p>
          <a:p>
            <a:pPr marL="0" indent="0">
              <a:buNone/>
            </a:pPr>
            <a:r>
              <a:rPr lang="en-US" altLang="ja-JP" sz="1400" dirty="0"/>
              <a:t>        </a:t>
            </a:r>
            <a:r>
              <a:rPr lang="en-US" altLang="ja-JP" sz="1400" dirty="0" err="1"/>
              <a:t>getHeading</a:t>
            </a:r>
            <a:r>
              <a:rPr lang="en-US" altLang="ja-JP" sz="1400" dirty="0"/>
              <a:t>());</a:t>
            </a:r>
          </a:p>
          <a:p>
            <a:pPr marL="0" indent="0">
              <a:buNone/>
            </a:pPr>
            <a:r>
              <a:rPr lang="en-US" altLang="ja-JP" sz="1400" dirty="0"/>
              <a:t>    double seta2 = </a:t>
            </a:r>
            <a:r>
              <a:rPr lang="en-US" altLang="ja-JP" sz="1400" dirty="0" err="1"/>
              <a:t>Math.toRadians</a:t>
            </a:r>
            <a:r>
              <a:rPr lang="en-US" altLang="ja-JP" sz="1400" dirty="0"/>
              <a:t>(90-e.getHeading());</a:t>
            </a:r>
          </a:p>
          <a:p>
            <a:pPr marL="0" indent="0">
              <a:buNone/>
            </a:pPr>
            <a:r>
              <a:rPr lang="en-US" altLang="ja-JP" sz="1400" dirty="0"/>
              <a:t>    double dx0 = </a:t>
            </a:r>
            <a:r>
              <a:rPr lang="en-US" altLang="ja-JP" sz="1400" dirty="0" err="1"/>
              <a:t>e.getDistance</a:t>
            </a:r>
            <a:r>
              <a:rPr lang="en-US" altLang="ja-JP" sz="1400" dirty="0"/>
              <a:t>()*</a:t>
            </a:r>
            <a:r>
              <a:rPr lang="en-US" altLang="ja-JP" sz="1400" dirty="0" err="1"/>
              <a:t>Math.cos</a:t>
            </a:r>
            <a:r>
              <a:rPr lang="en-US" altLang="ja-JP" sz="1400" dirty="0"/>
              <a:t>(seta1);</a:t>
            </a:r>
          </a:p>
          <a:p>
            <a:pPr marL="0" indent="0">
              <a:buNone/>
            </a:pPr>
            <a:r>
              <a:rPr lang="en-US" altLang="ja-JP" sz="1400" dirty="0"/>
              <a:t>    double dy0 = </a:t>
            </a:r>
            <a:r>
              <a:rPr lang="en-US" altLang="ja-JP" sz="1400" dirty="0" err="1"/>
              <a:t>e.getDistance</a:t>
            </a:r>
            <a:r>
              <a:rPr lang="en-US" altLang="ja-JP" sz="1400" dirty="0"/>
              <a:t>()*</a:t>
            </a:r>
            <a:r>
              <a:rPr lang="en-US" altLang="ja-JP" sz="1400" dirty="0" err="1"/>
              <a:t>Math.sin</a:t>
            </a:r>
            <a:r>
              <a:rPr lang="en-US" altLang="ja-JP" sz="1400" dirty="0"/>
              <a:t>(seta1);</a:t>
            </a:r>
          </a:p>
          <a:p>
            <a:pPr marL="0" indent="0">
              <a:buNone/>
            </a:pPr>
            <a:r>
              <a:rPr lang="en-US" altLang="ja-JP" sz="1400" dirty="0"/>
              <a:t>    double a = </a:t>
            </a:r>
            <a:r>
              <a:rPr lang="en-US" altLang="ja-JP" sz="1400" dirty="0" err="1"/>
              <a:t>Math.pow</a:t>
            </a:r>
            <a:r>
              <a:rPr lang="en-US" altLang="ja-JP" sz="1400" dirty="0"/>
              <a:t>(v_bt,2)-</a:t>
            </a:r>
            <a:r>
              <a:rPr lang="en-US" altLang="ja-JP" sz="1400" dirty="0" err="1"/>
              <a:t>Math.pow</a:t>
            </a:r>
            <a:r>
              <a:rPr lang="en-US" altLang="ja-JP" sz="1400" dirty="0"/>
              <a:t>(v_em,2);</a:t>
            </a:r>
          </a:p>
          <a:p>
            <a:pPr marL="0" indent="0">
              <a:buNone/>
            </a:pPr>
            <a:r>
              <a:rPr lang="en-US" altLang="ja-JP" sz="1400" dirty="0"/>
              <a:t>    double b = -2*dx0*</a:t>
            </a:r>
            <a:r>
              <a:rPr lang="en-US" altLang="ja-JP" sz="1400" dirty="0" err="1"/>
              <a:t>v_em</a:t>
            </a:r>
            <a:r>
              <a:rPr lang="en-US" altLang="ja-JP" sz="1400" dirty="0"/>
              <a:t>*</a:t>
            </a:r>
            <a:r>
              <a:rPr lang="en-US" altLang="ja-JP" sz="1400" dirty="0" err="1"/>
              <a:t>Math.cos</a:t>
            </a:r>
            <a:r>
              <a:rPr lang="en-US" altLang="ja-JP" sz="1400" dirty="0"/>
              <a:t>(seta2)-</a:t>
            </a:r>
          </a:p>
          <a:p>
            <a:pPr marL="0" indent="0">
              <a:buNone/>
            </a:pPr>
            <a:r>
              <a:rPr lang="en-US" altLang="ja-JP" sz="1400" dirty="0"/>
              <a:t>        2*dy0*</a:t>
            </a:r>
            <a:r>
              <a:rPr lang="en-US" altLang="ja-JP" sz="1400" dirty="0" err="1"/>
              <a:t>v_em</a:t>
            </a:r>
            <a:r>
              <a:rPr lang="en-US" altLang="ja-JP" sz="1400" dirty="0"/>
              <a:t>*</a:t>
            </a:r>
            <a:r>
              <a:rPr lang="en-US" altLang="ja-JP" sz="1400" dirty="0" err="1"/>
              <a:t>Math.sin</a:t>
            </a:r>
            <a:r>
              <a:rPr lang="en-US" altLang="ja-JP" sz="1400" dirty="0"/>
              <a:t>(seta2);</a:t>
            </a:r>
          </a:p>
          <a:p>
            <a:pPr marL="0" indent="0">
              <a:buNone/>
            </a:pPr>
            <a:r>
              <a:rPr lang="en-US" altLang="ja-JP" sz="1400" dirty="0"/>
              <a:t>    double c = -</a:t>
            </a:r>
            <a:r>
              <a:rPr lang="en-US" altLang="ja-JP" sz="1400" dirty="0" err="1"/>
              <a:t>Math.pow</a:t>
            </a:r>
            <a:r>
              <a:rPr lang="en-US" altLang="ja-JP" sz="1400" dirty="0"/>
              <a:t>(dx0,2)-</a:t>
            </a:r>
            <a:r>
              <a:rPr lang="en-US" altLang="ja-JP" sz="1400" dirty="0" err="1"/>
              <a:t>Math.pow</a:t>
            </a:r>
            <a:r>
              <a:rPr lang="en-US" altLang="ja-JP" sz="1400" dirty="0"/>
              <a:t>(dy0,2);</a:t>
            </a:r>
          </a:p>
          <a:p>
            <a:pPr marL="0" indent="0">
              <a:buNone/>
            </a:pPr>
            <a:endParaRPr lang="en-US" altLang="ja-JP" sz="1400" dirty="0"/>
          </a:p>
          <a:p>
            <a:pPr marL="0" indent="0">
              <a:buNone/>
            </a:pPr>
            <a:r>
              <a:rPr lang="en-US" altLang="ja-JP" sz="1400" dirty="0"/>
              <a:t>    double t1 = (-</a:t>
            </a:r>
            <a:r>
              <a:rPr lang="en-US" altLang="ja-JP" sz="1400" dirty="0" err="1"/>
              <a:t>b+Math.sqrt</a:t>
            </a:r>
            <a:r>
              <a:rPr lang="en-US" altLang="ja-JP" sz="1400" dirty="0"/>
              <a:t>(</a:t>
            </a:r>
            <a:r>
              <a:rPr lang="en-US" altLang="ja-JP" sz="1400" dirty="0" err="1"/>
              <a:t>Math.pow</a:t>
            </a:r>
            <a:r>
              <a:rPr lang="en-US" altLang="ja-JP" sz="1400" dirty="0"/>
              <a:t>(b,2)-</a:t>
            </a:r>
          </a:p>
          <a:p>
            <a:pPr marL="0" indent="0">
              <a:buNone/>
            </a:pPr>
            <a:r>
              <a:rPr lang="en-US" altLang="ja-JP" sz="1400" dirty="0"/>
              <a:t>        4*a*c))/(2*a);</a:t>
            </a:r>
          </a:p>
          <a:p>
            <a:pPr marL="0" indent="0">
              <a:buNone/>
            </a:pPr>
            <a:r>
              <a:rPr lang="en-US" altLang="ja-JP" sz="1400" dirty="0"/>
              <a:t>    double t2 = (-b-</a:t>
            </a:r>
            <a:r>
              <a:rPr lang="en-US" altLang="ja-JP" sz="1400" dirty="0" err="1"/>
              <a:t>Math.sqrt</a:t>
            </a:r>
            <a:r>
              <a:rPr lang="en-US" altLang="ja-JP" sz="1400" dirty="0"/>
              <a:t>(</a:t>
            </a:r>
            <a:r>
              <a:rPr lang="en-US" altLang="ja-JP" sz="1400" dirty="0" err="1"/>
              <a:t>Math.pow</a:t>
            </a:r>
            <a:r>
              <a:rPr lang="en-US" altLang="ja-JP" sz="1400" dirty="0"/>
              <a:t>(b,2)-</a:t>
            </a:r>
          </a:p>
          <a:p>
            <a:pPr marL="0" indent="0">
              <a:buNone/>
            </a:pPr>
            <a:r>
              <a:rPr lang="en-US" altLang="ja-JP" sz="1400" dirty="0"/>
              <a:t>        4*a*c))/(2*a);</a:t>
            </a:r>
          </a:p>
          <a:p>
            <a:pPr marL="0" indent="0">
              <a:buNone/>
            </a:pPr>
            <a:endParaRPr lang="en-US" altLang="ja-JP" sz="1400" dirty="0"/>
          </a:p>
          <a:p>
            <a:pPr marL="0" indent="0">
              <a:buNone/>
            </a:pPr>
            <a:r>
              <a:rPr lang="en-US" altLang="ja-JP" sz="1400" dirty="0"/>
              <a:t>    double t = </a:t>
            </a:r>
            <a:r>
              <a:rPr lang="en-US" altLang="ja-JP" sz="1400" dirty="0" err="1"/>
              <a:t>Math.max</a:t>
            </a:r>
            <a:r>
              <a:rPr lang="en-US" altLang="ja-JP" sz="1400" dirty="0"/>
              <a:t>(t1,t2);</a:t>
            </a:r>
          </a:p>
          <a:p>
            <a:pPr marL="0" indent="0">
              <a:buNone/>
            </a:pPr>
            <a:r>
              <a:rPr lang="en-US" altLang="ja-JP" sz="1400" dirty="0"/>
              <a:t>    double dx1 = dx0+v_em*t*</a:t>
            </a:r>
            <a:r>
              <a:rPr lang="en-US" altLang="ja-JP" sz="1400" dirty="0" err="1"/>
              <a:t>Math.cos</a:t>
            </a:r>
            <a:r>
              <a:rPr lang="en-US" altLang="ja-JP" sz="1400" dirty="0"/>
              <a:t>(seta2);</a:t>
            </a:r>
          </a:p>
          <a:p>
            <a:pPr marL="0" indent="0">
              <a:buNone/>
            </a:pPr>
            <a:r>
              <a:rPr lang="en-US" altLang="ja-JP" sz="1400" dirty="0"/>
              <a:t>    double dy1 = dy0+v_em*t*</a:t>
            </a:r>
            <a:r>
              <a:rPr lang="en-US" altLang="ja-JP" sz="1400" dirty="0" err="1"/>
              <a:t>Math.sin</a:t>
            </a:r>
            <a:r>
              <a:rPr lang="en-US" altLang="ja-JP" sz="1400" dirty="0"/>
              <a:t>(seta2);</a:t>
            </a:r>
          </a:p>
          <a:p>
            <a:pPr marL="0" indent="0">
              <a:buNone/>
            </a:pPr>
            <a:endParaRPr lang="en-US" altLang="ja-JP" sz="14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pPr/>
              <a:t>9</a:t>
            </a:fld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コンテンツ プレースホルダー 2"/>
          <p:cNvSpPr txBox="1">
            <a:spLocks/>
          </p:cNvSpPr>
          <p:nvPr/>
        </p:nvSpPr>
        <p:spPr>
          <a:xfrm>
            <a:off x="5960368" y="1412776"/>
            <a:ext cx="4176464" cy="49685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    </a:t>
            </a: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if(</a:t>
            </a:r>
            <a:r>
              <a:rPr lang="en-US" altLang="ja-JP" sz="1400" dirty="0" err="1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getX</a:t>
            </a: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()+dx1 &lt; </a:t>
            </a:r>
            <a:r>
              <a:rPr lang="en-US" altLang="ja-JP" sz="1400" dirty="0" err="1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getWidth</a:t>
            </a: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()/2){</a:t>
            </a:r>
          </a:p>
          <a:p>
            <a:pPr marL="0" indent="0">
              <a:buNone/>
            </a:pP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        dx1 = </a:t>
            </a:r>
            <a:r>
              <a:rPr lang="en-US" altLang="ja-JP" sz="1400" dirty="0" err="1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getWidth</a:t>
            </a: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()/2-getX();</a:t>
            </a:r>
          </a:p>
          <a:p>
            <a:pPr marL="0" indent="0">
              <a:buNone/>
            </a:pP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    }else if(</a:t>
            </a:r>
            <a:r>
              <a:rPr lang="en-US" altLang="ja-JP" sz="1400" dirty="0" err="1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getX</a:t>
            </a: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()+dx1 &gt; </a:t>
            </a:r>
            <a:r>
              <a:rPr lang="en-US" altLang="ja-JP" sz="1400" dirty="0" err="1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getBattleFieldWidth</a:t>
            </a: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()-</a:t>
            </a:r>
          </a:p>
          <a:p>
            <a:pPr marL="0" indent="0">
              <a:buNone/>
            </a:pP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        </a:t>
            </a:r>
            <a:r>
              <a:rPr lang="en-US" altLang="ja-JP" sz="1400" dirty="0" err="1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getWidth</a:t>
            </a: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()/2){</a:t>
            </a:r>
          </a:p>
          <a:p>
            <a:pPr marL="0" indent="0">
              <a:buNone/>
            </a:pP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        dx1 = </a:t>
            </a:r>
            <a:r>
              <a:rPr lang="en-US" altLang="ja-JP" sz="1400" dirty="0" err="1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getBattleFieldWidth</a:t>
            </a: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()-</a:t>
            </a:r>
            <a:r>
              <a:rPr lang="en-US" altLang="ja-JP" sz="1400" dirty="0" err="1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getWidth</a:t>
            </a: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()/2-getX();</a:t>
            </a:r>
          </a:p>
          <a:p>
            <a:pPr marL="0" indent="0">
              <a:buNone/>
            </a:pP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    }</a:t>
            </a:r>
          </a:p>
          <a:p>
            <a:pPr marL="0" indent="0">
              <a:buNone/>
            </a:pP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    if(</a:t>
            </a:r>
            <a:r>
              <a:rPr lang="en-US" altLang="ja-JP" sz="1400" dirty="0" err="1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getY</a:t>
            </a: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()+dy1 &lt; </a:t>
            </a:r>
            <a:r>
              <a:rPr lang="en-US" altLang="ja-JP" sz="1400" dirty="0" err="1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getHeight</a:t>
            </a: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()/2){</a:t>
            </a:r>
          </a:p>
          <a:p>
            <a:pPr marL="0" indent="0">
              <a:buNone/>
            </a:pP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        dy1 = </a:t>
            </a:r>
            <a:r>
              <a:rPr lang="en-US" altLang="ja-JP" sz="1400" dirty="0" err="1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getHeight</a:t>
            </a: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()/2-getY();</a:t>
            </a:r>
          </a:p>
          <a:p>
            <a:pPr marL="0" indent="0">
              <a:buNone/>
            </a:pP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    }else if(</a:t>
            </a:r>
            <a:r>
              <a:rPr lang="en-US" altLang="ja-JP" sz="1400" dirty="0" err="1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getY</a:t>
            </a: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()+dy1 &gt; </a:t>
            </a:r>
            <a:r>
              <a:rPr lang="en-US" altLang="ja-JP" sz="1400" dirty="0" err="1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getBattleFieldHeight</a:t>
            </a: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()-</a:t>
            </a:r>
          </a:p>
          <a:p>
            <a:pPr marL="0" indent="0">
              <a:buNone/>
            </a:pP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        </a:t>
            </a:r>
            <a:r>
              <a:rPr lang="en-US" altLang="ja-JP" sz="1400" dirty="0" err="1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getHeight</a:t>
            </a: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()/2){</a:t>
            </a:r>
          </a:p>
          <a:p>
            <a:pPr marL="0" indent="0">
              <a:buNone/>
            </a:pP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        dy1 = </a:t>
            </a:r>
            <a:r>
              <a:rPr lang="en-US" altLang="ja-JP" sz="1400" dirty="0" err="1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getBattleFieldHeight</a:t>
            </a: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()-</a:t>
            </a:r>
            <a:r>
              <a:rPr lang="en-US" altLang="ja-JP" sz="1400" dirty="0" err="1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getHeight</a:t>
            </a: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()/2-getY();</a:t>
            </a:r>
          </a:p>
          <a:p>
            <a:pPr marL="0" indent="0">
              <a:buNone/>
            </a:pP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    }</a:t>
            </a:r>
          </a:p>
          <a:p>
            <a:pPr marL="0" indent="0">
              <a:buNone/>
            </a:pPr>
            <a:endParaRPr lang="en-US" altLang="ja-JP" sz="1400" dirty="0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    double degree = 90-</a:t>
            </a:r>
          </a:p>
          <a:p>
            <a:pPr marL="0" indent="0">
              <a:buNone/>
            </a:pP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        </a:t>
            </a:r>
            <a:r>
              <a:rPr lang="en-US" altLang="ja-JP" sz="1400" dirty="0" err="1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Math.toDegrees</a:t>
            </a: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(Math.atan2(dy1,dx1));</a:t>
            </a:r>
          </a:p>
          <a:p>
            <a:pPr marL="0" indent="0">
              <a:buNone/>
            </a:pP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    </a:t>
            </a:r>
            <a:r>
              <a:rPr lang="en-US" altLang="ja-JP" sz="1400" dirty="0" err="1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turnGunRight</a:t>
            </a: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(</a:t>
            </a:r>
            <a:r>
              <a:rPr lang="en-US" altLang="ja-JP" sz="1400" dirty="0" err="1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normalizeDegree</a:t>
            </a: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(degree-</a:t>
            </a:r>
          </a:p>
          <a:p>
            <a:pPr marL="0" indent="0">
              <a:buNone/>
            </a:pP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        </a:t>
            </a:r>
            <a:r>
              <a:rPr lang="en-US" altLang="ja-JP" sz="1400" dirty="0" err="1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getGunHeading</a:t>
            </a: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()));</a:t>
            </a:r>
          </a:p>
          <a:p>
            <a:pPr marL="0" indent="0">
              <a:buNone/>
            </a:pP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    fire(power);</a:t>
            </a:r>
          </a:p>
          <a:p>
            <a:pPr marL="0" indent="0">
              <a:buNone/>
            </a:pPr>
            <a:r>
              <a:rPr lang="en-US" altLang="ja-JP" sz="1400" dirty="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}</a:t>
            </a:r>
          </a:p>
          <a:p>
            <a:pPr marL="0" indent="0">
              <a:buNone/>
            </a:pPr>
            <a:endParaRPr lang="en-US" altLang="ja-JP" sz="1400" dirty="0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750605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参考文献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可知豊</a:t>
            </a:r>
            <a:r>
              <a:rPr lang="en-US" altLang="ja-JP" dirty="0"/>
              <a:t>, </a:t>
            </a:r>
            <a:r>
              <a:rPr kumimoji="1" lang="en-US" altLang="ja-JP" dirty="0"/>
              <a:t>Java</a:t>
            </a:r>
            <a:r>
              <a:rPr kumimoji="1" lang="ja-JP" altLang="en-US" dirty="0"/>
              <a:t>プログラマーにもなれちゃう </a:t>
            </a:r>
            <a:r>
              <a:rPr kumimoji="1" lang="en-US" altLang="ja-JP" dirty="0" err="1"/>
              <a:t>Robocode</a:t>
            </a:r>
            <a:r>
              <a:rPr kumimoji="1" lang="en-US" altLang="ja-JP" dirty="0"/>
              <a:t> &amp; </a:t>
            </a:r>
            <a:r>
              <a:rPr kumimoji="1" lang="ja-JP" altLang="en-US" dirty="0"/>
              <a:t>ゲームプログラミング学習術</a:t>
            </a:r>
            <a:r>
              <a:rPr kumimoji="1" lang="en-US" altLang="ja-JP" dirty="0"/>
              <a:t>, </a:t>
            </a:r>
            <a:r>
              <a:rPr kumimoji="1" lang="ja-JP" altLang="en-US" dirty="0"/>
              <a:t>ソシム株式会社</a:t>
            </a:r>
            <a:r>
              <a:rPr kumimoji="1" lang="en-US" altLang="ja-JP" dirty="0"/>
              <a:t>, ISBN4-88337-373-8, 2003.</a:t>
            </a:r>
          </a:p>
          <a:p>
            <a:r>
              <a:rPr lang="en-US" altLang="ja-JP" dirty="0"/>
              <a:t>IBM</a:t>
            </a:r>
            <a:r>
              <a:rPr lang="ja-JP" altLang="en-US" dirty="0"/>
              <a:t>東京基礎研究所ロボコード・サポーターズ</a:t>
            </a:r>
            <a:r>
              <a:rPr lang="en-US" altLang="ja-JP" dirty="0"/>
              <a:t> </a:t>
            </a:r>
            <a:r>
              <a:rPr lang="ja-JP" altLang="en-US" dirty="0"/>
              <a:t>立堀道昭</a:t>
            </a:r>
            <a:r>
              <a:rPr lang="en-US" altLang="ja-JP" dirty="0"/>
              <a:t>,</a:t>
            </a:r>
            <a:r>
              <a:rPr lang="ja-JP" altLang="en-US" dirty="0"/>
              <a:t>杉原亮</a:t>
            </a:r>
            <a:r>
              <a:rPr lang="en-US" altLang="ja-JP" dirty="0"/>
              <a:t>, </a:t>
            </a:r>
            <a:r>
              <a:rPr lang="ja-JP" altLang="en-US" dirty="0"/>
              <a:t>益満健</a:t>
            </a:r>
            <a:r>
              <a:rPr lang="en-US" altLang="ja-JP" dirty="0"/>
              <a:t>, </a:t>
            </a:r>
            <a:r>
              <a:rPr lang="ja-JP" altLang="en-US" dirty="0"/>
              <a:t>梶永泰正</a:t>
            </a:r>
            <a:r>
              <a:rPr lang="en-US" altLang="ja-JP" dirty="0"/>
              <a:t>, </a:t>
            </a:r>
            <a:r>
              <a:rPr lang="ja-JP" altLang="en-US" dirty="0"/>
              <a:t>小柳光生</a:t>
            </a:r>
            <a:r>
              <a:rPr lang="en-US" altLang="ja-JP" dirty="0"/>
              <a:t>, ROBOCODE BIBLE </a:t>
            </a:r>
            <a:r>
              <a:rPr lang="ja-JP" altLang="en-US" dirty="0"/>
              <a:t>最強ロボットへの道</a:t>
            </a:r>
            <a:r>
              <a:rPr lang="en-US" altLang="ja-JP" dirty="0"/>
              <a:t>, </a:t>
            </a:r>
            <a:r>
              <a:rPr lang="ja-JP" altLang="en-US" dirty="0"/>
              <a:t>株式会社技術評論社</a:t>
            </a:r>
            <a:r>
              <a:rPr lang="en-US" altLang="ja-JP" dirty="0"/>
              <a:t>, ISBN4-7741-1738-2, 2003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pPr/>
              <a:t>10</a:t>
            </a:fld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738662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1232</Words>
  <Application>Microsoft Office PowerPoint</Application>
  <PresentationFormat>ワイド画面</PresentationFormat>
  <Paragraphs>163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10</vt:i4>
      </vt:variant>
    </vt:vector>
  </HeadingPairs>
  <TitlesOfParts>
    <vt:vector size="18" baseType="lpstr">
      <vt:lpstr>游ゴシック</vt:lpstr>
      <vt:lpstr>游ゴシック Light</vt:lpstr>
      <vt:lpstr>Arial</vt:lpstr>
      <vt:lpstr>Calibri</vt:lpstr>
      <vt:lpstr>Cambria Math</vt:lpstr>
      <vt:lpstr>Consolas</vt:lpstr>
      <vt:lpstr>Office テーマ</vt:lpstr>
      <vt:lpstr>1_Office テーマ</vt:lpstr>
      <vt:lpstr>失敗するAIによるAIの学習サイトへの統合案</vt:lpstr>
      <vt:lpstr>PowerPoint プレゼンテーション</vt:lpstr>
      <vt:lpstr>数学</vt:lpstr>
      <vt:lpstr>PowerPoint プレゼンテーション</vt:lpstr>
      <vt:lpstr>PowerPoint プレゼンテーション</vt:lpstr>
      <vt:lpstr>敵の動作の予測（幾何学）</vt:lpstr>
      <vt:lpstr>敵の動作の予測（三角関数、二次関数の解）</vt:lpstr>
      <vt:lpstr>敵の動作の予測（二次関数の解）</vt:lpstr>
      <vt:lpstr>敵の動作の予測（サンプルプログラム）</vt:lpstr>
      <vt:lpstr>参考文献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中田 豊久</dc:creator>
  <cp:lastModifiedBy>中田 豊久</cp:lastModifiedBy>
  <cp:revision>8</cp:revision>
  <dcterms:created xsi:type="dcterms:W3CDTF">2026-04-07T23:37:46Z</dcterms:created>
  <dcterms:modified xsi:type="dcterms:W3CDTF">2026-04-08T08:03:03Z</dcterms:modified>
</cp:coreProperties>
</file>