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4" r:id="rId2"/>
    <p:sldId id="269" r:id="rId3"/>
    <p:sldId id="263" r:id="rId4"/>
    <p:sldId id="265" r:id="rId5"/>
    <p:sldId id="266" r:id="rId6"/>
    <p:sldId id="268" r:id="rId7"/>
    <p:sldId id="270" r:id="rId8"/>
  </p:sldIdLst>
  <p:sldSz cx="9144000" cy="6858000" type="screen4x3"/>
  <p:notesSz cx="10234613" cy="71040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9" userDrawn="1">
          <p15:clr>
            <a:srgbClr val="A4A3A4"/>
          </p15:clr>
        </p15:guide>
        <p15:guide id="2" pos="322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淡色スタイル 3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51" autoAdjust="0"/>
    <p:restoredTop sz="94660"/>
  </p:normalViewPr>
  <p:slideViewPr>
    <p:cSldViewPr>
      <p:cViewPr varScale="1">
        <p:scale>
          <a:sx n="85" d="100"/>
          <a:sy n="85" d="100"/>
        </p:scale>
        <p:origin x="196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11" d="100"/>
          <a:sy n="111" d="100"/>
        </p:scale>
        <p:origin x="-606" y="-84"/>
      </p:cViewPr>
      <p:guideLst>
        <p:guide orient="horz" pos="2239"/>
        <p:guide pos="322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4434998" cy="355203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3" y="6747630"/>
            <a:ext cx="4434998" cy="355203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5797248" y="6747630"/>
            <a:ext cx="4434998" cy="355203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r">
              <a:defRPr sz="1300"/>
            </a:lvl1pPr>
          </a:lstStyle>
          <a:p>
            <a:fld id="{CD1CEC1A-3BA3-4ADA-AEFB-ADA1074528E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934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4434998" cy="355203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5797248" y="1"/>
            <a:ext cx="4434998" cy="355203"/>
          </a:xfrm>
          <a:prstGeom prst="rect">
            <a:avLst/>
          </a:prstGeom>
        </p:spPr>
        <p:txBody>
          <a:bodyPr vert="horz" lIns="99067" tIns="49534" rIns="99067" bIns="49534" rtlCol="0"/>
          <a:lstStyle>
            <a:lvl1pPr algn="r">
              <a:defRPr sz="1300"/>
            </a:lvl1pPr>
          </a:lstStyle>
          <a:p>
            <a:fld id="{5C3A1417-57D4-49C5-8F72-BBE75A52199F}" type="datetimeFigureOut">
              <a:rPr kumimoji="1" lang="ja-JP" altLang="en-US" smtClean="0"/>
              <a:pPr/>
              <a:t>2026/4/7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33400"/>
            <a:ext cx="3551237" cy="26622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7" tIns="49534" rIns="99067" bIns="49534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1023463" y="3374433"/>
            <a:ext cx="8187690" cy="3196828"/>
          </a:xfrm>
          <a:prstGeom prst="rect">
            <a:avLst/>
          </a:prstGeom>
        </p:spPr>
        <p:txBody>
          <a:bodyPr vert="horz" lIns="99067" tIns="49534" rIns="99067" bIns="49534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3" y="6747630"/>
            <a:ext cx="4434998" cy="355203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5797248" y="6747630"/>
            <a:ext cx="4434998" cy="355203"/>
          </a:xfrm>
          <a:prstGeom prst="rect">
            <a:avLst/>
          </a:prstGeom>
        </p:spPr>
        <p:txBody>
          <a:bodyPr vert="horz" lIns="99067" tIns="49534" rIns="99067" bIns="49534" rtlCol="0" anchor="b"/>
          <a:lstStyle>
            <a:lvl1pPr algn="r">
              <a:defRPr sz="1300"/>
            </a:lvl1pPr>
          </a:lstStyle>
          <a:p>
            <a:fld id="{27B90984-01CF-4241-AC57-F870B8684168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2129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2008/8/19</a:t>
            </a:r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2008/8/19</a:t>
            </a:r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altLang="ja-JP"/>
              <a:t>2008/8/19</a:t>
            </a:r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22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7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1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F16040-602D-178E-1D89-AE3FB5FF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D4FFCB7-DD93-A71D-ABF7-BC117D9F995D}"/>
              </a:ext>
            </a:extLst>
          </p:cNvPr>
          <p:cNvSpPr/>
          <p:nvPr/>
        </p:nvSpPr>
        <p:spPr>
          <a:xfrm>
            <a:off x="688772" y="3740024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3EF78A5F-50DF-46D8-AB94-33788E881115}"/>
              </a:ext>
            </a:extLst>
          </p:cNvPr>
          <p:cNvSpPr/>
          <p:nvPr/>
        </p:nvSpPr>
        <p:spPr>
          <a:xfrm>
            <a:off x="1499500" y="762781"/>
            <a:ext cx="432048" cy="43204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0992E4C9-BB88-63C7-1E6E-8185CB84DD30}"/>
              </a:ext>
            </a:extLst>
          </p:cNvPr>
          <p:cNvSpPr/>
          <p:nvPr/>
        </p:nvSpPr>
        <p:spPr>
          <a:xfrm>
            <a:off x="3515724" y="1770893"/>
            <a:ext cx="432048" cy="43204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1042E7D-4A71-2458-7243-982F8C8548ED}"/>
              </a:ext>
            </a:extLst>
          </p:cNvPr>
          <p:cNvCxnSpPr>
            <a:cxnSpLocks/>
          </p:cNvCxnSpPr>
          <p:nvPr/>
        </p:nvCxnSpPr>
        <p:spPr>
          <a:xfrm flipV="1">
            <a:off x="904796" y="978805"/>
            <a:ext cx="810728" cy="2987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04D4B345-058E-69C5-402F-2149D410C811}"/>
              </a:ext>
            </a:extLst>
          </p:cNvPr>
          <p:cNvCxnSpPr>
            <a:cxnSpLocks/>
          </p:cNvCxnSpPr>
          <p:nvPr/>
        </p:nvCxnSpPr>
        <p:spPr>
          <a:xfrm>
            <a:off x="1715524" y="978805"/>
            <a:ext cx="2016223" cy="1012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486C9E3-5166-26DC-1705-435BD7A071A9}"/>
              </a:ext>
            </a:extLst>
          </p:cNvPr>
          <p:cNvSpPr txBox="1"/>
          <p:nvPr/>
        </p:nvSpPr>
        <p:spPr>
          <a:xfrm>
            <a:off x="1853743" y="1393246"/>
            <a:ext cx="1285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/>
              <a:t>e.getVelocity() * t</a:t>
            </a:r>
            <a:endParaRPr kumimoji="1" lang="ja-JP" altLang="en-US" sz="12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4618244-7BD9-3D60-F932-029B3C2A4386}"/>
              </a:ext>
            </a:extLst>
          </p:cNvPr>
          <p:cNvSpPr txBox="1"/>
          <p:nvPr/>
        </p:nvSpPr>
        <p:spPr>
          <a:xfrm>
            <a:off x="2518705" y="2769714"/>
            <a:ext cx="5302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/>
              <a:t>V</a:t>
            </a:r>
            <a:r>
              <a:rPr kumimoji="1" lang="en-US" altLang="ja-JP" sz="1200"/>
              <a:t>bt*t</a:t>
            </a:r>
            <a:endParaRPr kumimoji="1" lang="ja-JP" altLang="en-US" sz="1200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5FB8E42B-6A2C-AA83-87C6-C78F50FAD993}"/>
              </a:ext>
            </a:extLst>
          </p:cNvPr>
          <p:cNvCxnSpPr>
            <a:cxnSpLocks/>
          </p:cNvCxnSpPr>
          <p:nvPr/>
        </p:nvCxnSpPr>
        <p:spPr>
          <a:xfrm flipV="1">
            <a:off x="904795" y="1991458"/>
            <a:ext cx="2826952" cy="1974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25E1B796-1FBD-F09B-8BC8-57B3A245CBB1}"/>
              </a:ext>
            </a:extLst>
          </p:cNvPr>
          <p:cNvCxnSpPr>
            <a:cxnSpLocks/>
          </p:cNvCxnSpPr>
          <p:nvPr/>
        </p:nvCxnSpPr>
        <p:spPr>
          <a:xfrm>
            <a:off x="904795" y="3966139"/>
            <a:ext cx="2826953" cy="37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2AF14E7B-830F-A838-81D9-7D91ABC7D660}"/>
              </a:ext>
            </a:extLst>
          </p:cNvPr>
          <p:cNvCxnSpPr>
            <a:cxnSpLocks/>
          </p:cNvCxnSpPr>
          <p:nvPr/>
        </p:nvCxnSpPr>
        <p:spPr>
          <a:xfrm flipV="1">
            <a:off x="3731748" y="1981273"/>
            <a:ext cx="0" cy="2021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6E930FA-DD69-0D66-1465-F340A10C50D7}"/>
              </a:ext>
            </a:extLst>
          </p:cNvPr>
          <p:cNvSpPr txBox="1"/>
          <p:nvPr/>
        </p:nvSpPr>
        <p:spPr>
          <a:xfrm>
            <a:off x="3731748" y="2943409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/>
              <a:t>dY1</a:t>
            </a:r>
            <a:endParaRPr kumimoji="1" lang="ja-JP" altLang="en-US" sz="120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5FD2288-772A-192D-A7C2-7EA6BD54FBC8}"/>
              </a:ext>
            </a:extLst>
          </p:cNvPr>
          <p:cNvSpPr txBox="1"/>
          <p:nvPr/>
        </p:nvSpPr>
        <p:spPr>
          <a:xfrm>
            <a:off x="2854956" y="3633810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/>
              <a:t>dX1</a:t>
            </a:r>
            <a:endParaRPr kumimoji="1" lang="ja-JP" altLang="en-US" sz="120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3630613-0A6E-3BEF-2013-545B646AA4C3}"/>
              </a:ext>
            </a:extLst>
          </p:cNvPr>
          <p:cNvSpPr txBox="1"/>
          <p:nvPr/>
        </p:nvSpPr>
        <p:spPr>
          <a:xfrm>
            <a:off x="1879206" y="3449144"/>
            <a:ext cx="344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/>
              <a:t>θ1</a:t>
            </a:r>
            <a:endParaRPr kumimoji="1" lang="ja-JP" altLang="en-US" sz="120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995C1D7-6330-CED0-C789-E2C9A53DB8BC}"/>
              </a:ext>
            </a:extLst>
          </p:cNvPr>
          <p:cNvSpPr txBox="1"/>
          <p:nvPr/>
        </p:nvSpPr>
        <p:spPr>
          <a:xfrm>
            <a:off x="230613" y="4517931"/>
            <a:ext cx="27741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/>
              <a:t>(</a:t>
            </a:r>
            <a:r>
              <a:rPr kumimoji="1" lang="en-US" altLang="ja-JP" sz="1200">
                <a:solidFill>
                  <a:srgbClr val="0070C0"/>
                </a:solidFill>
              </a:rPr>
              <a:t>Vbt</a:t>
            </a:r>
            <a:r>
              <a:rPr kumimoji="1" lang="en-US" altLang="ja-JP" sz="1200"/>
              <a:t>*t)^2=dX1^2+dY1^2</a:t>
            </a:r>
          </a:p>
          <a:p>
            <a:r>
              <a:rPr kumimoji="1" lang="en-US" altLang="ja-JP" sz="1200"/>
              <a:t>dX1 = dX0+dXem</a:t>
            </a:r>
          </a:p>
          <a:p>
            <a:r>
              <a:rPr lang="en-US" altLang="ja-JP" sz="1200"/>
              <a:t>dY1 = dY0+dYem</a:t>
            </a:r>
          </a:p>
          <a:p>
            <a:r>
              <a:rPr lang="en-US" altLang="ja-JP" sz="1200"/>
              <a:t>dX0 = </a:t>
            </a:r>
            <a:r>
              <a:rPr lang="en-US" altLang="ja-JP" sz="1200">
                <a:solidFill>
                  <a:srgbClr val="0070C0"/>
                </a:solidFill>
              </a:rPr>
              <a:t>e.getDistance()</a:t>
            </a:r>
            <a:r>
              <a:rPr lang="en-US" altLang="ja-JP" sz="1200"/>
              <a:t>*</a:t>
            </a:r>
            <a:r>
              <a:rPr lang="en-US" altLang="ja-JP" sz="1200">
                <a:solidFill>
                  <a:srgbClr val="0070C0"/>
                </a:solidFill>
              </a:rPr>
              <a:t>cos(e.getBearing())</a:t>
            </a:r>
          </a:p>
          <a:p>
            <a:r>
              <a:rPr lang="en-US" altLang="ja-JP" sz="1200"/>
              <a:t>dY1 = </a:t>
            </a:r>
            <a:r>
              <a:rPr lang="en-US" altLang="ja-JP" sz="1200">
                <a:solidFill>
                  <a:srgbClr val="0070C0"/>
                </a:solidFill>
              </a:rPr>
              <a:t>e.getDistance()</a:t>
            </a:r>
            <a:r>
              <a:rPr lang="en-US" altLang="ja-JP" sz="1200"/>
              <a:t>*</a:t>
            </a:r>
            <a:r>
              <a:rPr lang="en-US" altLang="ja-JP" sz="1200">
                <a:solidFill>
                  <a:srgbClr val="0070C0"/>
                </a:solidFill>
              </a:rPr>
              <a:t>sin(e.getBearing())</a:t>
            </a:r>
          </a:p>
          <a:p>
            <a:r>
              <a:rPr lang="en-US" altLang="ja-JP" sz="1200"/>
              <a:t>[dXem,dYem] = </a:t>
            </a:r>
            <a:r>
              <a:rPr lang="en-US" altLang="ja-JP" sz="1200">
                <a:solidFill>
                  <a:srgbClr val="0070C0"/>
                </a:solidFill>
              </a:rPr>
              <a:t>e.getVelocity()</a:t>
            </a:r>
            <a:r>
              <a:rPr lang="en-US" altLang="ja-JP" sz="1200"/>
              <a:t>*t</a:t>
            </a:r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3F1EE5FB-88F4-E294-5EDB-40AF46CA3B47}"/>
              </a:ext>
            </a:extLst>
          </p:cNvPr>
          <p:cNvCxnSpPr>
            <a:cxnSpLocks/>
          </p:cNvCxnSpPr>
          <p:nvPr/>
        </p:nvCxnSpPr>
        <p:spPr>
          <a:xfrm>
            <a:off x="904794" y="3936534"/>
            <a:ext cx="779962" cy="9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8F6D783C-BAF2-B7E9-B8C9-60DE7B0F98C4}"/>
              </a:ext>
            </a:extLst>
          </p:cNvPr>
          <p:cNvCxnSpPr>
            <a:cxnSpLocks/>
          </p:cNvCxnSpPr>
          <p:nvPr/>
        </p:nvCxnSpPr>
        <p:spPr>
          <a:xfrm flipV="1">
            <a:off x="1684756" y="964003"/>
            <a:ext cx="30768" cy="2981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CA00D379-2790-A532-5E33-30934885ED23}"/>
              </a:ext>
            </a:extLst>
          </p:cNvPr>
          <p:cNvSpPr txBox="1"/>
          <p:nvPr/>
        </p:nvSpPr>
        <p:spPr>
          <a:xfrm>
            <a:off x="1126664" y="4057369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/>
              <a:t>dX0</a:t>
            </a:r>
            <a:endParaRPr kumimoji="1" lang="ja-JP" altLang="en-US" sz="120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CBF6118-DEE2-949B-7AC2-2D4D016493AE}"/>
              </a:ext>
            </a:extLst>
          </p:cNvPr>
          <p:cNvSpPr txBox="1"/>
          <p:nvPr/>
        </p:nvSpPr>
        <p:spPr>
          <a:xfrm>
            <a:off x="1611848" y="2630686"/>
            <a:ext cx="535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/>
              <a:t>dY0</a:t>
            </a:r>
            <a:endParaRPr kumimoji="1" lang="ja-JP" altLang="en-US" sz="1200"/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77CACB63-6036-28B2-3534-D447756426B9}"/>
              </a:ext>
            </a:extLst>
          </p:cNvPr>
          <p:cNvCxnSpPr>
            <a:cxnSpLocks/>
          </p:cNvCxnSpPr>
          <p:nvPr/>
        </p:nvCxnSpPr>
        <p:spPr>
          <a:xfrm flipV="1">
            <a:off x="1715524" y="976276"/>
            <a:ext cx="2029654" cy="2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F638DF08-1FBA-DAE5-DE8E-E3EF2509ACFD}"/>
              </a:ext>
            </a:extLst>
          </p:cNvPr>
          <p:cNvCxnSpPr>
            <a:cxnSpLocks/>
          </p:cNvCxnSpPr>
          <p:nvPr/>
        </p:nvCxnSpPr>
        <p:spPr>
          <a:xfrm>
            <a:off x="3731748" y="984155"/>
            <a:ext cx="0" cy="1002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3EEB73F0-268D-F384-CBF7-0BF480EE294A}"/>
              </a:ext>
            </a:extLst>
          </p:cNvPr>
          <p:cNvSpPr txBox="1"/>
          <p:nvPr/>
        </p:nvSpPr>
        <p:spPr>
          <a:xfrm>
            <a:off x="2477334" y="613630"/>
            <a:ext cx="5423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/>
              <a:t>dXem</a:t>
            </a:r>
            <a:endParaRPr kumimoji="1" lang="ja-JP" altLang="en-US" sz="120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69C03182-37AA-10FA-F775-F91A3A265B9F}"/>
              </a:ext>
            </a:extLst>
          </p:cNvPr>
          <p:cNvSpPr txBox="1"/>
          <p:nvPr/>
        </p:nvSpPr>
        <p:spPr>
          <a:xfrm>
            <a:off x="3731747" y="1215993"/>
            <a:ext cx="5295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/>
              <a:t>dYem</a:t>
            </a:r>
            <a:endParaRPr kumimoji="1" lang="ja-JP" altLang="en-US" sz="1200"/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14F3118B-1E77-3C8C-DED9-BF427033FB5F}"/>
              </a:ext>
            </a:extLst>
          </p:cNvPr>
          <p:cNvSpPr txBox="1"/>
          <p:nvPr/>
        </p:nvSpPr>
        <p:spPr>
          <a:xfrm>
            <a:off x="4353830" y="1189001"/>
            <a:ext cx="4729180" cy="528042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getLinearPredictiveBullet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ja-JP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GameState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altLang="ja-JP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Bullet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altLang="ja-JP" sz="8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enemies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enemy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enemies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v_bt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GAME_CONFIG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BULLET_SPEED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v_em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enemy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enemy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seta2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atan2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enemy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vy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enemy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vx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dx0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enemy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dy0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enemy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v_bt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-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v_em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dx0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v_em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seta2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- 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dy0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v_em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seta2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-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dx0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-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dy0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(-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- 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/ (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(-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pow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- 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/ (</a:t>
            </a:r>
            <a:r>
              <a:rPr lang="en-US" altLang="ja-JP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t1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dx1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dx0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v_em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seta2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dy1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dy0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v_em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seta2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seta1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atan2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dy1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dx1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ja-JP" sz="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altLang="ja-JP" sz="8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x: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y: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player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direction: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seta1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speed: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GAME_CONFIG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BULLET_SPEED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size: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GAME_CONFIG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BULLET_SIZE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ja-JP" sz="8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color: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GAME_CONFIG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ja-JP" sz="800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BULLET_COLOR</a:t>
            </a: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pPr>
              <a:lnSpc>
                <a:spcPts val="1425"/>
              </a:lnSpc>
              <a:buNone/>
            </a:pPr>
            <a:r>
              <a:rPr lang="en-US" altLang="ja-JP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705493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03435B-7385-5663-E5EB-E12D55A36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B3601A-3FCE-53CA-8E4E-F585400B466D}"/>
              </a:ext>
            </a:extLst>
          </p:cNvPr>
          <p:cNvSpPr txBox="1"/>
          <p:nvPr/>
        </p:nvSpPr>
        <p:spPr>
          <a:xfrm>
            <a:off x="3720773" y="3244334"/>
            <a:ext cx="1702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chemeClr val="bg1"/>
                </a:solidFill>
              </a:rPr>
              <a:t>参考</a:t>
            </a:r>
            <a:r>
              <a:rPr kumimoji="1" lang="en-US" altLang="ja-JP">
                <a:solidFill>
                  <a:schemeClr val="bg1"/>
                </a:solidFill>
              </a:rPr>
              <a:t>: Robocode</a:t>
            </a:r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64817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864096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敵の動作の予測（幾何学）</a:t>
            </a:r>
            <a:endParaRPr kumimoji="1" lang="ja-JP" altLang="en-US" sz="32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cxnSp>
        <p:nvCxnSpPr>
          <p:cNvPr id="6" name="直線矢印コネクタ 5"/>
          <p:cNvCxnSpPr/>
          <p:nvPr/>
        </p:nvCxnSpPr>
        <p:spPr>
          <a:xfrm>
            <a:off x="539552" y="4878452"/>
            <a:ext cx="8280920" cy="0"/>
          </a:xfrm>
          <a:prstGeom prst="straightConnector1">
            <a:avLst/>
          </a:prstGeom>
          <a:ln w="22225">
            <a:solidFill>
              <a:schemeClr val="bg1">
                <a:lumMod val="95000"/>
              </a:schemeClr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/>
          <p:cNvCxnSpPr/>
          <p:nvPr/>
        </p:nvCxnSpPr>
        <p:spPr>
          <a:xfrm flipV="1">
            <a:off x="827584" y="1350060"/>
            <a:ext cx="0" cy="3897724"/>
          </a:xfrm>
          <a:prstGeom prst="straightConnector1">
            <a:avLst/>
          </a:prstGeom>
          <a:ln w="22225">
            <a:solidFill>
              <a:schemeClr val="bg1">
                <a:lumMod val="95000"/>
              </a:schemeClr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/>
          <p:cNvCxnSpPr/>
          <p:nvPr/>
        </p:nvCxnSpPr>
        <p:spPr>
          <a:xfrm>
            <a:off x="827584" y="4878452"/>
            <a:ext cx="2000138" cy="0"/>
          </a:xfrm>
          <a:prstGeom prst="straightConnector1">
            <a:avLst/>
          </a:prstGeom>
          <a:ln w="3492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/>
          <p:cNvCxnSpPr/>
          <p:nvPr/>
        </p:nvCxnSpPr>
        <p:spPr>
          <a:xfrm flipV="1">
            <a:off x="827584" y="4077980"/>
            <a:ext cx="0" cy="800472"/>
          </a:xfrm>
          <a:prstGeom prst="straightConnector1">
            <a:avLst/>
          </a:prstGeom>
          <a:ln w="3492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/>
          <p:nvPr/>
        </p:nvCxnSpPr>
        <p:spPr>
          <a:xfrm>
            <a:off x="786680" y="4158372"/>
            <a:ext cx="2000138" cy="0"/>
          </a:xfrm>
          <a:prstGeom prst="straightConnector1">
            <a:avLst/>
          </a:prstGeom>
          <a:ln w="34925">
            <a:solidFill>
              <a:srgbClr val="FFC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/>
          <p:cNvCxnSpPr/>
          <p:nvPr/>
        </p:nvCxnSpPr>
        <p:spPr>
          <a:xfrm flipV="1">
            <a:off x="2742717" y="4069310"/>
            <a:ext cx="3668" cy="809142"/>
          </a:xfrm>
          <a:prstGeom prst="straightConnector1">
            <a:avLst/>
          </a:prstGeom>
          <a:ln w="34925">
            <a:solidFill>
              <a:srgbClr val="FFC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/>
          <p:cNvCxnSpPr/>
          <p:nvPr/>
        </p:nvCxnSpPr>
        <p:spPr>
          <a:xfrm>
            <a:off x="4499992" y="1998132"/>
            <a:ext cx="2160240" cy="698013"/>
          </a:xfrm>
          <a:prstGeom prst="straightConnector1">
            <a:avLst/>
          </a:prstGeom>
          <a:ln w="34925">
            <a:solidFill>
              <a:srgbClr val="92D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 flipV="1">
            <a:off x="2742717" y="1998132"/>
            <a:ext cx="1757275" cy="2173586"/>
          </a:xfrm>
          <a:prstGeom prst="straightConnector1">
            <a:avLst/>
          </a:prstGeom>
          <a:ln w="34925">
            <a:solidFill>
              <a:schemeClr val="accent5">
                <a:lumMod val="40000"/>
                <a:lumOff val="6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/>
          <p:cNvCxnSpPr/>
          <p:nvPr/>
        </p:nvCxnSpPr>
        <p:spPr>
          <a:xfrm flipV="1">
            <a:off x="2786818" y="2696145"/>
            <a:ext cx="3873414" cy="1462229"/>
          </a:xfrm>
          <a:prstGeom prst="straightConnector1">
            <a:avLst/>
          </a:prstGeom>
          <a:ln w="349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/>
          <p:cNvCxnSpPr/>
          <p:nvPr/>
        </p:nvCxnSpPr>
        <p:spPr>
          <a:xfrm>
            <a:off x="2746385" y="4158372"/>
            <a:ext cx="1753607" cy="2"/>
          </a:xfrm>
          <a:prstGeom prst="straightConnector1">
            <a:avLst/>
          </a:prstGeom>
          <a:ln w="22225">
            <a:solidFill>
              <a:schemeClr val="accent5">
                <a:lumMod val="40000"/>
                <a:lumOff val="6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/>
          <p:nvPr/>
        </p:nvCxnSpPr>
        <p:spPr>
          <a:xfrm flipV="1">
            <a:off x="4499992" y="1998132"/>
            <a:ext cx="0" cy="2160240"/>
          </a:xfrm>
          <a:prstGeom prst="straightConnector1">
            <a:avLst/>
          </a:prstGeom>
          <a:ln w="22225">
            <a:solidFill>
              <a:schemeClr val="accent5">
                <a:lumMod val="40000"/>
                <a:lumOff val="6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/>
          <p:cNvCxnSpPr/>
          <p:nvPr/>
        </p:nvCxnSpPr>
        <p:spPr>
          <a:xfrm flipV="1">
            <a:off x="4499992" y="1965985"/>
            <a:ext cx="2183697" cy="30906"/>
          </a:xfrm>
          <a:prstGeom prst="straightConnector1">
            <a:avLst/>
          </a:prstGeom>
          <a:ln w="22225">
            <a:solidFill>
              <a:srgbClr val="92D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/>
          <p:nvPr/>
        </p:nvCxnSpPr>
        <p:spPr>
          <a:xfrm>
            <a:off x="6660232" y="1996891"/>
            <a:ext cx="0" cy="699254"/>
          </a:xfrm>
          <a:prstGeom prst="straightConnector1">
            <a:avLst/>
          </a:prstGeom>
          <a:ln w="22225">
            <a:solidFill>
              <a:srgbClr val="92D05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/>
          <p:cNvCxnSpPr/>
          <p:nvPr/>
        </p:nvCxnSpPr>
        <p:spPr>
          <a:xfrm>
            <a:off x="2767115" y="4186216"/>
            <a:ext cx="3893117" cy="0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/>
          <p:cNvCxnSpPr/>
          <p:nvPr/>
        </p:nvCxnSpPr>
        <p:spPr>
          <a:xfrm flipV="1">
            <a:off x="6683689" y="2682759"/>
            <a:ext cx="0" cy="1475613"/>
          </a:xfrm>
          <a:prstGeom prst="straightConnector1">
            <a:avLst/>
          </a:prstGeom>
          <a:ln w="22225">
            <a:solidFill>
              <a:srgbClr val="FF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/>
          <p:cNvCxnSpPr/>
          <p:nvPr/>
        </p:nvCxnSpPr>
        <p:spPr>
          <a:xfrm flipV="1">
            <a:off x="2756196" y="3222268"/>
            <a:ext cx="303636" cy="855712"/>
          </a:xfrm>
          <a:prstGeom prst="straightConnector1">
            <a:avLst/>
          </a:prstGeom>
          <a:ln w="22225">
            <a:solidFill>
              <a:srgbClr val="0070C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/>
          <p:cNvCxnSpPr/>
          <p:nvPr/>
        </p:nvCxnSpPr>
        <p:spPr>
          <a:xfrm flipV="1">
            <a:off x="2746385" y="3169720"/>
            <a:ext cx="0" cy="1016496"/>
          </a:xfrm>
          <a:prstGeom prst="straightConnector1">
            <a:avLst/>
          </a:prstGeom>
          <a:ln w="9525">
            <a:solidFill>
              <a:srgbClr val="FFC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円弧 1039"/>
          <p:cNvSpPr/>
          <p:nvPr/>
        </p:nvSpPr>
        <p:spPr>
          <a:xfrm rot="18635117">
            <a:off x="2602943" y="3518677"/>
            <a:ext cx="367748" cy="276015"/>
          </a:xfrm>
          <a:prstGeom prst="arc">
            <a:avLst>
              <a:gd name="adj1" fmla="val 18600999"/>
              <a:gd name="adj2" fmla="val 53800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42" name="直線矢印コネクタ 1041"/>
          <p:cNvCxnSpPr/>
          <p:nvPr/>
        </p:nvCxnSpPr>
        <p:spPr>
          <a:xfrm flipH="1">
            <a:off x="2837492" y="3008320"/>
            <a:ext cx="28495" cy="4211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/>
          <p:cNvCxnSpPr/>
          <p:nvPr/>
        </p:nvCxnSpPr>
        <p:spPr>
          <a:xfrm flipH="1">
            <a:off x="3181404" y="2632851"/>
            <a:ext cx="238468" cy="8636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円弧 79"/>
          <p:cNvSpPr/>
          <p:nvPr/>
        </p:nvSpPr>
        <p:spPr>
          <a:xfrm rot="19965134">
            <a:off x="2649557" y="3528029"/>
            <a:ext cx="564125" cy="390661"/>
          </a:xfrm>
          <a:prstGeom prst="arc">
            <a:avLst>
              <a:gd name="adj1" fmla="val 18600999"/>
              <a:gd name="adj2" fmla="val 1473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4" name="直線矢印コネクタ 83"/>
          <p:cNvCxnSpPr/>
          <p:nvPr/>
        </p:nvCxnSpPr>
        <p:spPr>
          <a:xfrm>
            <a:off x="3779911" y="2284876"/>
            <a:ext cx="216025" cy="244718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/>
          <p:cNvCxnSpPr/>
          <p:nvPr/>
        </p:nvCxnSpPr>
        <p:spPr>
          <a:xfrm flipV="1">
            <a:off x="4506717" y="981636"/>
            <a:ext cx="0" cy="1016496"/>
          </a:xfrm>
          <a:prstGeom prst="straightConnector1">
            <a:avLst/>
          </a:prstGeom>
          <a:ln w="9525">
            <a:solidFill>
              <a:srgbClr val="FFC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円弧 86"/>
          <p:cNvSpPr/>
          <p:nvPr/>
        </p:nvSpPr>
        <p:spPr>
          <a:xfrm rot="19965134">
            <a:off x="3927860" y="1659134"/>
            <a:ext cx="937678" cy="873551"/>
          </a:xfrm>
          <a:prstGeom prst="arc">
            <a:avLst>
              <a:gd name="adj1" fmla="val 18600999"/>
              <a:gd name="adj2" fmla="val 191872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9" name="直線矢印コネクタ 88"/>
          <p:cNvCxnSpPr/>
          <p:nvPr/>
        </p:nvCxnSpPr>
        <p:spPr>
          <a:xfrm flipH="1">
            <a:off x="4723525" y="1356197"/>
            <a:ext cx="135402" cy="2818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円弧 90"/>
          <p:cNvSpPr/>
          <p:nvPr/>
        </p:nvSpPr>
        <p:spPr>
          <a:xfrm rot="1042521">
            <a:off x="2543325" y="3652235"/>
            <a:ext cx="776587" cy="668212"/>
          </a:xfrm>
          <a:prstGeom prst="arc">
            <a:avLst>
              <a:gd name="adj1" fmla="val 17493012"/>
              <a:gd name="adj2" fmla="val 30338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2" name="直線矢印コネクタ 91"/>
          <p:cNvCxnSpPr/>
          <p:nvPr/>
        </p:nvCxnSpPr>
        <p:spPr>
          <a:xfrm flipH="1">
            <a:off x="3282734" y="3575787"/>
            <a:ext cx="238468" cy="2043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/>
          <p:cNvCxnSpPr/>
          <p:nvPr/>
        </p:nvCxnSpPr>
        <p:spPr>
          <a:xfrm flipH="1">
            <a:off x="3734938" y="3953673"/>
            <a:ext cx="299208" cy="143900"/>
          </a:xfrm>
          <a:prstGeom prst="straightConnector1">
            <a:avLst/>
          </a:prstGeom>
          <a:ln>
            <a:solidFill>
              <a:schemeClr val="tx2">
                <a:lumMod val="20000"/>
                <a:lumOff val="8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円弧 103"/>
          <p:cNvSpPr/>
          <p:nvPr/>
        </p:nvSpPr>
        <p:spPr>
          <a:xfrm rot="3429772">
            <a:off x="4632776" y="1858277"/>
            <a:ext cx="454831" cy="423726"/>
          </a:xfrm>
          <a:prstGeom prst="arc">
            <a:avLst>
              <a:gd name="adj1" fmla="val 17161516"/>
              <a:gd name="adj2" fmla="val 1970592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5" name="直線矢印コネクタ 104"/>
          <p:cNvCxnSpPr/>
          <p:nvPr/>
        </p:nvCxnSpPr>
        <p:spPr>
          <a:xfrm flipH="1">
            <a:off x="5113509" y="1829531"/>
            <a:ext cx="177885" cy="2706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テキスト ボックス 59"/>
              <p:cNvSpPr txBox="1"/>
              <p:nvPr/>
            </p:nvSpPr>
            <p:spPr>
              <a:xfrm>
                <a:off x="986765" y="4953775"/>
                <a:ext cx="3798476" cy="18258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ja-JP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600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1600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𝑏𝑡</m:t>
                              </m:r>
                            </m:sub>
                          </m:sSub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𝑡</m:t>
                          </m:r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1" lang="en-US" altLang="ja-JP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𝑑𝑋</m:t>
                              </m:r>
                            </m:e>
                            <m:sub>
                              <m:r>
                                <a:rPr kumimoji="1" lang="en-US" altLang="ja-JP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1" lang="en-US" altLang="ja-JP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𝑑𝑌</m:t>
                              </m:r>
                            </m:e>
                            <m:sub>
                              <m:r>
                                <a:rPr kumimoji="1" lang="en-US" altLang="ja-JP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ja-JP" sz="1600" b="0" dirty="0">
                  <a:solidFill>
                    <a:schemeClr val="bg1"/>
                  </a:solidFill>
                  <a:ea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𝑏𝑡</m:t>
                          </m:r>
                        </m:sub>
                      </m:sSub>
                      <m:r>
                        <a:rPr kumimoji="1" lang="en-US" altLang="ja-JP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=20−3×</m:t>
                      </m:r>
                      <m:r>
                        <a:rPr kumimoji="1" lang="en-US" altLang="ja-JP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𝑝𝑜𝑤𝑒𝑟</m:t>
                      </m:r>
                    </m:oMath>
                  </m:oMathPara>
                </a14:m>
                <a:endParaRPr kumimoji="1" lang="en-US" altLang="ja-JP" sz="1600" b="0" dirty="0">
                  <a:solidFill>
                    <a:schemeClr val="bg1"/>
                  </a:solidFill>
                  <a:ea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𝑑𝑋</m:t>
                          </m:r>
                        </m:e>
                        <m:sub>
                          <m: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𝑑𝑋</m:t>
                          </m:r>
                        </m:e>
                        <m:sub>
                          <m: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kumimoji="1" lang="en-US" altLang="ja-JP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𝑑𝑋</m:t>
                          </m:r>
                        </m:e>
                        <m:sub>
                          <m:r>
                            <a:rPr kumimoji="1"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𝑒𝑚</m:t>
                          </m:r>
                        </m:sub>
                      </m:sSub>
                    </m:oMath>
                  </m:oMathPara>
                </a14:m>
                <a:endParaRPr kumimoji="1" lang="en-US" altLang="ja-JP" sz="1600" baseline="-250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𝑒𝑚</m:t>
                          </m:r>
                        </m:sub>
                      </m:sSub>
                    </m:oMath>
                  </m:oMathPara>
                </a14:m>
                <a:endParaRPr lang="en-US" altLang="ja-JP" sz="1600" baseline="-250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ja-JP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𝑑</m:t>
                        </m:r>
                        <m:r>
                          <a:rPr lang="en-US" altLang="ja-JP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𝑋</m:t>
                        </m:r>
                      </m:e>
                      <m:sub>
                        <m:r>
                          <a:rPr lang="en-US" altLang="ja-JP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altLang="ja-JP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ja-JP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altLang="ja-JP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.</m:t>
                    </m:r>
                    <m:r>
                      <a:rPr lang="en-US" altLang="ja-JP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𝑔𝑒𝑡𝐷𝑖𝑠𝑡𝑎𝑛𝑐𝑒</m:t>
                    </m:r>
                  </m:oMath>
                </a14:m>
                <a:r>
                  <a:rPr lang="en-US" altLang="ja-JP" sz="1600" dirty="0">
                    <a:solidFill>
                      <a:schemeClr val="bg1"/>
                    </a:solidFill>
                    <a:ea typeface="Cambria Math"/>
                  </a:rPr>
                  <a:t>()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×</m:t>
                    </m:r>
                    <m:func>
                      <m:funcPr>
                        <m:ctrlPr>
                          <a:rPr lang="en-US" altLang="ja-JP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 b="0" i="0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cos</m:t>
                        </m:r>
                      </m:fName>
                      <m:e>
                        <m:r>
                          <a:rPr lang="en-US" altLang="ja-JP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1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ja-JP" altLang="en-US" sz="1600" b="0" i="1" smtClean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ja-JP" sz="1600" b="0" i="1" smtClean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en-US" altLang="ja-JP" sz="1600" baseline="-250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ja-JP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𝑑</m:t>
                        </m:r>
                        <m:r>
                          <a:rPr lang="en-US" altLang="ja-JP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𝑌</m:t>
                        </m:r>
                      </m:e>
                      <m:sub>
                        <m:r>
                          <a:rPr lang="en-US" altLang="ja-JP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altLang="ja-JP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US" altLang="ja-JP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𝑒</m:t>
                    </m:r>
                    <m:r>
                      <a:rPr lang="en-US" altLang="ja-JP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.</m:t>
                    </m:r>
                    <m:r>
                      <a:rPr lang="en-US" altLang="ja-JP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𝑔𝑒𝑡𝐷𝑖𝑠𝑡𝑎𝑛𝑐𝑒</m:t>
                    </m:r>
                  </m:oMath>
                </a14:m>
                <a:r>
                  <a:rPr lang="en-US" altLang="ja-JP" sz="1600" dirty="0">
                    <a:solidFill>
                      <a:schemeClr val="bg1"/>
                    </a:solidFill>
                    <a:ea typeface="Cambria Math"/>
                  </a:rPr>
                  <a:t>()</a:t>
                </a:r>
                <a14:m>
                  <m:oMath xmlns:m="http://schemas.openxmlformats.org/officeDocument/2006/math">
                    <m:r>
                      <a:rPr lang="en-US" altLang="ja-JP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×</m:t>
                    </m:r>
                    <m:func>
                      <m:funcPr>
                        <m:ctrlPr>
                          <a:rPr lang="en-US" altLang="ja-JP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 b="0" i="0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sin</m:t>
                        </m:r>
                      </m:fName>
                      <m:e>
                        <m:r>
                          <a:rPr lang="en-US" altLang="ja-JP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altLang="ja-JP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ja-JP" altLang="en-US" sz="16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ja-JP" sz="16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func>
                  </m:oMath>
                </a14:m>
                <a:endParaRPr lang="en-US" altLang="ja-JP" sz="16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altLang="ja-JP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ja-JP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=90−</m:t>
                    </m:r>
                    <m:r>
                      <a:rPr lang="en-US" altLang="ja-JP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𝑒</m:t>
                    </m:r>
                    <m:r>
                      <a:rPr lang="en-US" altLang="ja-JP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.</m:t>
                    </m:r>
                    <m:r>
                      <a:rPr lang="en-US" altLang="ja-JP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𝑔𝑒𝑡𝐵𝑒𝑎𝑟𝑖𝑛𝑔</m:t>
                    </m:r>
                  </m:oMath>
                </a14:m>
                <a:r>
                  <a:rPr lang="en-US" altLang="ja-JP" sz="1600" dirty="0">
                    <a:solidFill>
                      <a:schemeClr val="bg1"/>
                    </a:solidFill>
                  </a:rPr>
                  <a:t>()-</a:t>
                </a:r>
                <a14:m>
                  <m:oMath xmlns:m="http://schemas.openxmlformats.org/officeDocument/2006/math">
                    <m:r>
                      <a:rPr lang="en-US" altLang="ja-JP" sz="1600" b="0" i="1" dirty="0" smtClean="0">
                        <a:solidFill>
                          <a:schemeClr val="bg1"/>
                        </a:solidFill>
                        <a:latin typeface="Cambria Math"/>
                      </a:rPr>
                      <m:t>𝑔𝑒𝑡𝐻𝑒𝑎𝑑𝑖𝑛𝑔</m:t>
                    </m:r>
                  </m:oMath>
                </a14:m>
                <a:r>
                  <a:rPr lang="en-US" altLang="ja-JP" sz="1600" dirty="0">
                    <a:solidFill>
                      <a:schemeClr val="bg1"/>
                    </a:solidFill>
                  </a:rPr>
                  <a:t>()</a:t>
                </a:r>
              </a:p>
            </p:txBody>
          </p:sp>
        </mc:Choice>
        <mc:Fallback xmlns="">
          <p:sp>
            <p:nvSpPr>
              <p:cNvPr id="60" name="テキスト ボックス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765" y="4953775"/>
                <a:ext cx="3798476" cy="1825884"/>
              </a:xfrm>
              <a:prstGeom prst="rect">
                <a:avLst/>
              </a:prstGeom>
              <a:blipFill rotWithShape="1">
                <a:blip r:embed="rId2"/>
                <a:stretch>
                  <a:fillRect r="-161" b="-36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テキスト ボックス 119"/>
              <p:cNvSpPr txBox="1"/>
              <p:nvPr/>
            </p:nvSpPr>
            <p:spPr>
              <a:xfrm>
                <a:off x="5253087" y="6054079"/>
                <a:ext cx="343831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𝑆𝑐𝑎𝑛𝑛𝑒𝑑𝑅𝑜𝑏𝑜𝑡𝐸𝑣𝑒𝑛𝑡</m:t>
                    </m:r>
                  </m:oMath>
                </a14:m>
                <a:r>
                  <a:rPr kumimoji="1" lang="ja-JP" altLang="en-US" sz="1400" dirty="0">
                    <a:solidFill>
                      <a:schemeClr val="bg1"/>
                    </a:solidFill>
                  </a:rPr>
                  <a:t>の変数名を </a:t>
                </a:r>
                <a:r>
                  <a:rPr kumimoji="1" lang="en-US" altLang="ja-JP" sz="1400" dirty="0">
                    <a:solidFill>
                      <a:schemeClr val="bg1"/>
                    </a:solidFill>
                  </a:rPr>
                  <a:t>e </a:t>
                </a:r>
                <a:r>
                  <a:rPr kumimoji="1" lang="ja-JP" altLang="en-US" sz="1400" dirty="0">
                    <a:solidFill>
                      <a:schemeClr val="bg1"/>
                    </a:solidFill>
                  </a:rPr>
                  <a:t>とする。</a:t>
                </a:r>
              </a:p>
            </p:txBody>
          </p:sp>
        </mc:Choice>
        <mc:Fallback xmlns="">
          <p:sp>
            <p:nvSpPr>
              <p:cNvPr id="120" name="テキスト ボックス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3087" y="6054079"/>
                <a:ext cx="3438314" cy="307777"/>
              </a:xfrm>
              <a:prstGeom prst="rect">
                <a:avLst/>
              </a:prstGeom>
              <a:blipFill rotWithShape="1">
                <a:blip r:embed="rId5"/>
                <a:stretch>
                  <a:fillRect t="-5882" b="-196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テキスト ボックス 120"/>
              <p:cNvSpPr txBox="1"/>
              <p:nvPr/>
            </p:nvSpPr>
            <p:spPr>
              <a:xfrm>
                <a:off x="5308469" y="4953775"/>
                <a:ext cx="2547492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𝑑𝑋</m:t>
                          </m:r>
                        </m:e>
                        <m:sub>
                          <m:r>
                            <a:rPr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𝑒𝑚</m:t>
                          </m:r>
                        </m:sub>
                      </m:sSub>
                      <m:r>
                        <a:rPr lang="en-US" altLang="ja-JP" sz="16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ja-JP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𝑒𝑚</m:t>
                          </m:r>
                        </m:sub>
                      </m:sSub>
                      <m:r>
                        <a:rPr lang="en-US" altLang="ja-JP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altLang="ja-JP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𝑡</m:t>
                      </m:r>
                      <m:r>
                        <a:rPr lang="en-US" altLang="ja-JP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ja-JP" sz="1600" b="0" i="0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cos</m:t>
                      </m:r>
                      <m:r>
                        <a:rPr lang="en-US" altLang="ja-JP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⁡(</m:t>
                      </m:r>
                      <m:sSub>
                        <m:sSubPr>
                          <m:ctrlPr>
                            <a:rPr lang="en-US" altLang="ja-JP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ja-JP" alt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ja-JP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US" altLang="ja-JP" sz="16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𝑑</m:t>
                          </m:r>
                          <m:r>
                            <a:rPr lang="en-US" altLang="ja-JP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𝑒𝑚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𝑒𝑚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altLang="ja-JP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𝑡</m:t>
                      </m:r>
                      <m:r>
                        <a:rPr lang="en-US" altLang="ja-JP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ja-JP" sz="1600" b="0" i="0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sin</m:t>
                      </m:r>
                      <m:r>
                        <a:rPr lang="en-US" altLang="ja-JP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(</m:t>
                      </m:r>
                      <m:sSub>
                        <m:sSubPr>
                          <m:ctrlP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ja-JP" alt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𝜃</m:t>
                          </m:r>
                        </m:e>
                        <m:sub>
                          <m:r>
                            <a:rPr lang="en-US" altLang="ja-JP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ja-JP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kumimoji="1" lang="en-US" altLang="ja-JP" sz="16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altLang="ja-JP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𝑒𝑚</m:t>
                        </m:r>
                      </m:sub>
                    </m:sSub>
                    <m:r>
                      <a:rPr lang="en-US" altLang="ja-JP" sz="1600" i="1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r>
                      <a:rPr lang="en-US" altLang="ja-JP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𝑒</m:t>
                    </m:r>
                    <m:r>
                      <a:rPr lang="en-US" altLang="ja-JP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.</m:t>
                    </m:r>
                    <m:r>
                      <a:rPr lang="en-US" altLang="ja-JP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𝑔𝑒𝑡𝑉𝑒𝑙𝑜𝑐𝑖𝑡𝑦</m:t>
                    </m:r>
                  </m:oMath>
                </a14:m>
                <a:r>
                  <a:rPr kumimoji="1" lang="en-US" altLang="ja-JP" sz="1600" dirty="0">
                    <a:solidFill>
                      <a:schemeClr val="bg1"/>
                    </a:solidFill>
                  </a:rPr>
                  <a:t>()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en-US" sz="160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altLang="ja-JP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ja-JP" sz="1600" i="1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r>
                      <a:rPr lang="en-US" altLang="ja-JP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90−</m:t>
                    </m:r>
                    <m:r>
                      <a:rPr lang="en-US" altLang="ja-JP" sz="1600" i="1">
                        <a:solidFill>
                          <a:schemeClr val="bg1"/>
                        </a:solidFill>
                        <a:latin typeface="Cambria Math"/>
                      </a:rPr>
                      <m:t>𝑒</m:t>
                    </m:r>
                    <m:r>
                      <a:rPr lang="en-US" altLang="ja-JP" sz="1600" i="1">
                        <a:solidFill>
                          <a:schemeClr val="bg1"/>
                        </a:solidFill>
                        <a:latin typeface="Cambria Math"/>
                      </a:rPr>
                      <m:t>.</m:t>
                    </m:r>
                    <m:r>
                      <a:rPr lang="en-US" altLang="ja-JP" sz="1600" i="1">
                        <a:solidFill>
                          <a:schemeClr val="bg1"/>
                        </a:solidFill>
                        <a:latin typeface="Cambria Math"/>
                      </a:rPr>
                      <m:t>𝑔𝑒𝑡𝐻𝑒𝑎𝑑𝑖𝑛𝑔</m:t>
                    </m:r>
                  </m:oMath>
                </a14:m>
                <a:r>
                  <a:rPr lang="en-US" altLang="ja-JP" sz="1600" dirty="0">
                    <a:solidFill>
                      <a:schemeClr val="bg1"/>
                    </a:solidFill>
                  </a:rPr>
                  <a:t>()</a:t>
                </a:r>
              </a:p>
            </p:txBody>
          </p:sp>
        </mc:Choice>
        <mc:Fallback xmlns="">
          <p:sp>
            <p:nvSpPr>
              <p:cNvPr id="121" name="テキスト ボックス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469" y="4953775"/>
                <a:ext cx="2547492" cy="1077218"/>
              </a:xfrm>
              <a:prstGeom prst="rect">
                <a:avLst/>
              </a:prstGeom>
              <a:blipFill rotWithShape="1">
                <a:blip r:embed="rId6"/>
                <a:stretch>
                  <a:fillRect r="-478" b="-68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1709205" y="4479719"/>
                <a:ext cx="7978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rgbClr val="FFFF00"/>
                        </a:solidFill>
                        <a:latin typeface="Cambria Math"/>
                      </a:rPr>
                      <m:t>𝑔𝑒𝑡</m:t>
                    </m:r>
                  </m:oMath>
                </a14:m>
                <a:r>
                  <a:rPr kumimoji="1" lang="en-US" altLang="ja-JP" dirty="0">
                    <a:solidFill>
                      <a:srgbClr val="FFFF00"/>
                    </a:solidFill>
                  </a:rPr>
                  <a:t>X()</a:t>
                </a:r>
                <a:endParaRPr kumimoji="1" lang="ja-JP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205" y="4479719"/>
                <a:ext cx="797847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763" t="-8333" r="-6870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/>
              <p:cNvSpPr txBox="1"/>
              <p:nvPr/>
            </p:nvSpPr>
            <p:spPr>
              <a:xfrm>
                <a:off x="914840" y="4262787"/>
                <a:ext cx="8034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rgbClr val="FFFF00"/>
                        </a:solidFill>
                        <a:latin typeface="Cambria Math"/>
                      </a:rPr>
                      <m:t>𝑔𝑒𝑡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solidFill>
                          <a:srgbClr val="FFFF00"/>
                        </a:solidFill>
                        <a:latin typeface="Cambria Math"/>
                      </a:rPr>
                      <m:t>Y</m:t>
                    </m:r>
                  </m:oMath>
                </a14:m>
                <a:r>
                  <a:rPr kumimoji="1" lang="en-US" altLang="ja-JP" dirty="0">
                    <a:solidFill>
                      <a:srgbClr val="FFFF00"/>
                    </a:solidFill>
                  </a:rPr>
                  <a:t>()</a:t>
                </a:r>
                <a:endParaRPr kumimoji="1" lang="ja-JP" altLang="en-US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57" name="テキスト ボックス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840" y="4262787"/>
                <a:ext cx="803425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758" t="-8197" r="-6818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/>
              <p:cNvSpPr txBox="1"/>
              <p:nvPr/>
            </p:nvSpPr>
            <p:spPr>
              <a:xfrm>
                <a:off x="1529539" y="2704018"/>
                <a:ext cx="15672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rgbClr val="0070C0"/>
                        </a:solidFill>
                        <a:latin typeface="Cambria Math"/>
                      </a:rPr>
                      <m:t>𝑔𝑒𝑡𝐻𝑒𝑎𝑑𝑖𝑛𝑔</m:t>
                    </m:r>
                  </m:oMath>
                </a14:m>
                <a:r>
                  <a:rPr kumimoji="1" lang="en-US" altLang="ja-JP" dirty="0">
                    <a:solidFill>
                      <a:srgbClr val="0070C0"/>
                    </a:solidFill>
                  </a:rPr>
                  <a:t>()</a:t>
                </a:r>
                <a:endParaRPr kumimoji="1" lang="ja-JP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テキスト ボックス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539" y="2704018"/>
                <a:ext cx="1567224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167" t="-8333" r="-2724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テキスト ボックス 61"/>
              <p:cNvSpPr txBox="1"/>
              <p:nvPr/>
            </p:nvSpPr>
            <p:spPr>
              <a:xfrm>
                <a:off x="2092581" y="1829531"/>
                <a:ext cx="17961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latin typeface="Cambria Math"/>
                      </a:rPr>
                      <m:t>𝑒</m:t>
                    </m:r>
                    <m:r>
                      <a:rPr lang="en-US" altLang="ja-JP" b="0" i="1" smtClean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latin typeface="Cambria Math"/>
                      </a:rPr>
                      <m:t>.</m:t>
                    </m:r>
                    <m:r>
                      <a:rPr lang="en-US" altLang="ja-JP" b="0" i="1" smtClean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  <a:latin typeface="Cambria Math"/>
                      </a:rPr>
                      <m:t>𝑔𝑒𝑡𝐷𝑖𝑠𝑡𝑎𝑛𝑐𝑒</m:t>
                    </m:r>
                  </m:oMath>
                </a14:m>
                <a:r>
                  <a:rPr lang="en-US" altLang="ja-JP" dirty="0">
                    <a:solidFill>
                      <a:schemeClr val="tx2">
                        <a:lumMod val="20000"/>
                        <a:lumOff val="80000"/>
                      </a:schemeClr>
                    </a:solidFill>
                  </a:rPr>
                  <a:t>()</a:t>
                </a:r>
                <a:endParaRPr lang="ja-JP" alt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2" name="テキスト ボックス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581" y="1829531"/>
                <a:ext cx="1796197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2373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テキスト ボックス 62"/>
              <p:cNvSpPr txBox="1"/>
              <p:nvPr/>
            </p:nvSpPr>
            <p:spPr>
              <a:xfrm>
                <a:off x="1827653" y="2242517"/>
                <a:ext cx="1732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rgbClr val="0070C0"/>
                        </a:solidFill>
                        <a:latin typeface="Cambria Math"/>
                      </a:rPr>
                      <m:t>𝑒</m:t>
                    </m:r>
                    <m:r>
                      <a:rPr kumimoji="1" lang="en-US" altLang="ja-JP" b="0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kumimoji="1" lang="en-US" altLang="ja-JP" b="0" i="1" smtClean="0">
                        <a:solidFill>
                          <a:srgbClr val="0070C0"/>
                        </a:solidFill>
                        <a:latin typeface="Cambria Math"/>
                      </a:rPr>
                      <m:t>𝑔𝑒𝑡𝐵𝑒𝑎𝑟𝑖𝑛𝑔</m:t>
                    </m:r>
                  </m:oMath>
                </a14:m>
                <a:r>
                  <a:rPr kumimoji="1" lang="en-US" altLang="ja-JP" dirty="0">
                    <a:solidFill>
                      <a:srgbClr val="0070C0"/>
                    </a:solidFill>
                  </a:rPr>
                  <a:t>()</a:t>
                </a:r>
                <a:endParaRPr kumimoji="1" lang="ja-JP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3" name="テキスト ボックス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7653" y="2242517"/>
                <a:ext cx="1732590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333" r="-2465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テキスト ボックス 63"/>
              <p:cNvSpPr txBox="1"/>
              <p:nvPr/>
            </p:nvSpPr>
            <p:spPr>
              <a:xfrm>
                <a:off x="4594476" y="980728"/>
                <a:ext cx="17726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rgbClr val="0070C0"/>
                        </a:solidFill>
                        <a:latin typeface="Cambria Math"/>
                      </a:rPr>
                      <m:t>𝑒</m:t>
                    </m:r>
                    <m:r>
                      <a:rPr kumimoji="1" lang="en-US" altLang="ja-JP" b="0" i="1" smtClean="0">
                        <a:solidFill>
                          <a:srgbClr val="0070C0"/>
                        </a:solidFill>
                        <a:latin typeface="Cambria Math"/>
                      </a:rPr>
                      <m:t>.</m:t>
                    </m:r>
                    <m:r>
                      <a:rPr kumimoji="1" lang="en-US" altLang="ja-JP" b="0" i="1" smtClean="0">
                        <a:solidFill>
                          <a:srgbClr val="0070C0"/>
                        </a:solidFill>
                        <a:latin typeface="Cambria Math"/>
                      </a:rPr>
                      <m:t>𝑔𝑒𝑡𝐻𝑒𝑎𝑑𝑖𝑛𝑔</m:t>
                    </m:r>
                  </m:oMath>
                </a14:m>
                <a:r>
                  <a:rPr kumimoji="1" lang="en-US" altLang="ja-JP" dirty="0">
                    <a:solidFill>
                      <a:srgbClr val="0070C0"/>
                    </a:solidFill>
                  </a:rPr>
                  <a:t>()</a:t>
                </a:r>
                <a:endParaRPr kumimoji="1" lang="ja-JP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テキスト ボックス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476" y="980728"/>
                <a:ext cx="1772665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2414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/>
              <p:cNvSpPr txBox="1"/>
              <p:nvPr/>
            </p:nvSpPr>
            <p:spPr>
              <a:xfrm>
                <a:off x="3549271" y="3334256"/>
                <a:ext cx="4612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テキスト ボックス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271" y="3334256"/>
                <a:ext cx="461280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/>
              <p:cNvSpPr txBox="1"/>
              <p:nvPr/>
            </p:nvSpPr>
            <p:spPr>
              <a:xfrm>
                <a:off x="5113509" y="1427440"/>
                <a:ext cx="4666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5" name="テキスト ボックス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509" y="1427440"/>
                <a:ext cx="466603" cy="36933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/>
              <p:cNvSpPr txBox="1"/>
              <p:nvPr/>
            </p:nvSpPr>
            <p:spPr>
              <a:xfrm>
                <a:off x="3974689" y="3728241"/>
                <a:ext cx="6169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solidFill>
                                <a:schemeClr val="tx2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chemeClr val="tx2">
                                  <a:lumMod val="20000"/>
                                  <a:lumOff val="80000"/>
                                </a:schemeClr>
                              </a:solidFill>
                              <a:latin typeface="Cambria Math"/>
                            </a:rPr>
                            <m:t>𝑑𝑋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chemeClr val="tx2">
                                  <a:lumMod val="20000"/>
                                  <a:lumOff val="80000"/>
                                </a:schemeClr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ja-JP" alt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6" name="テキスト ボックス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4689" y="3728241"/>
                <a:ext cx="616900" cy="3693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/>
              <p:cNvSpPr txBox="1"/>
              <p:nvPr/>
            </p:nvSpPr>
            <p:spPr>
              <a:xfrm>
                <a:off x="4842275" y="4186700"/>
                <a:ext cx="6115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𝑑𝑋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7" name="テキスト ボックス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2275" y="4186700"/>
                <a:ext cx="611578" cy="369332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テキスト ボックス 67"/>
              <p:cNvSpPr txBox="1"/>
              <p:nvPr/>
            </p:nvSpPr>
            <p:spPr>
              <a:xfrm>
                <a:off x="6686025" y="3222268"/>
                <a:ext cx="5741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𝑑𝑌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テキスト ボックス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6025" y="3222268"/>
                <a:ext cx="574195" cy="369332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テキスト ボックス 68"/>
              <p:cNvSpPr txBox="1"/>
              <p:nvPr/>
            </p:nvSpPr>
            <p:spPr>
              <a:xfrm>
                <a:off x="4506717" y="2754761"/>
                <a:ext cx="5795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solidFill>
                                <a:schemeClr val="tx2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chemeClr val="tx2">
                                  <a:lumMod val="20000"/>
                                  <a:lumOff val="80000"/>
                                </a:schemeClr>
                              </a:solidFill>
                              <a:latin typeface="Cambria Math"/>
                            </a:rPr>
                            <m:t>𝑑𝑌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chemeClr val="tx2">
                                  <a:lumMod val="20000"/>
                                  <a:lumOff val="80000"/>
                                </a:schemeClr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ja-JP" altLang="en-US" dirty="0">
                  <a:solidFill>
                    <a:schemeClr val="tx2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9" name="テキスト ボックス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717" y="2754761"/>
                <a:ext cx="579518" cy="369332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テキスト ボックス 70"/>
              <p:cNvSpPr txBox="1"/>
              <p:nvPr/>
            </p:nvSpPr>
            <p:spPr>
              <a:xfrm>
                <a:off x="6660232" y="2064023"/>
                <a:ext cx="7330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rgbClr val="92D050"/>
                              </a:solidFill>
                              <a:latin typeface="Cambria Math"/>
                            </a:rPr>
                            <m:t>𝑑𝑌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92D050"/>
                              </a:solidFill>
                              <a:latin typeface="Cambria Math"/>
                            </a:rPr>
                            <m:t>𝑒𝑚</m:t>
                          </m:r>
                        </m:sub>
                      </m:sSub>
                    </m:oMath>
                  </m:oMathPara>
                </a14:m>
                <a:endParaRPr lang="ja-JP" altLang="en-US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71" name="テキスト ボックス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064023"/>
                <a:ext cx="733086" cy="369332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テキスト ボックス 71"/>
              <p:cNvSpPr txBox="1"/>
              <p:nvPr/>
            </p:nvSpPr>
            <p:spPr>
              <a:xfrm>
                <a:off x="5504721" y="1596653"/>
                <a:ext cx="7704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rgbClr val="92D050"/>
                              </a:solidFill>
                              <a:latin typeface="Cambria Math"/>
                            </a:rPr>
                            <m:t>𝑑𝑋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92D050"/>
                              </a:solidFill>
                              <a:latin typeface="Cambria Math"/>
                            </a:rPr>
                            <m:t>𝑒𝑚</m:t>
                          </m:r>
                        </m:sub>
                      </m:sSub>
                    </m:oMath>
                  </m:oMathPara>
                </a14:m>
                <a:endParaRPr lang="ja-JP" altLang="en-US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72" name="テキスト ボックス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721" y="1596653"/>
                <a:ext cx="770467" cy="369332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テキスト ボックス 72"/>
              <p:cNvSpPr txBox="1"/>
              <p:nvPr/>
            </p:nvSpPr>
            <p:spPr>
              <a:xfrm>
                <a:off x="4985283" y="3287352"/>
                <a:ext cx="9046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𝑏𝑡</m:t>
                          </m:r>
                        </m:sub>
                      </m:sSub>
                      <m:r>
                        <a:rPr lang="en-US" altLang="ja-JP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altLang="ja-JP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𝑡</m:t>
                      </m:r>
                    </m:oMath>
                  </m:oMathPara>
                </a14:m>
                <a:endParaRPr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テキスト ボックス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5283" y="3287352"/>
                <a:ext cx="904671" cy="369332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テキスト ボックス 73"/>
              <p:cNvSpPr txBox="1"/>
              <p:nvPr/>
            </p:nvSpPr>
            <p:spPr>
              <a:xfrm>
                <a:off x="4776418" y="2341370"/>
                <a:ext cx="9533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solidFill>
                                <a:srgbClr val="92D050"/>
                              </a:solidFill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altLang="ja-JP" b="0" i="1" smtClean="0">
                              <a:solidFill>
                                <a:srgbClr val="92D050"/>
                              </a:solidFill>
                              <a:latin typeface="Cambria Math"/>
                            </a:rPr>
                            <m:t>𝑒𝑚</m:t>
                          </m:r>
                        </m:sub>
                      </m:sSub>
                      <m:r>
                        <a:rPr lang="en-US" altLang="ja-JP" i="1">
                          <a:solidFill>
                            <a:srgbClr val="92D05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altLang="ja-JP" b="0" i="1" smtClean="0">
                          <a:solidFill>
                            <a:srgbClr val="92D050"/>
                          </a:solidFill>
                          <a:latin typeface="Cambria Math"/>
                          <a:ea typeface="Cambria Math"/>
                        </a:rPr>
                        <m:t>𝑡</m:t>
                      </m:r>
                    </m:oMath>
                  </m:oMathPara>
                </a14:m>
                <a:endParaRPr lang="ja-JP" altLang="en-US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74" name="テキスト ボックス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418" y="2341370"/>
                <a:ext cx="953338" cy="369332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爆発 2 8"/>
          <p:cNvSpPr/>
          <p:nvPr/>
        </p:nvSpPr>
        <p:spPr>
          <a:xfrm>
            <a:off x="6388176" y="2495649"/>
            <a:ext cx="598439" cy="443778"/>
          </a:xfrm>
          <a:prstGeom prst="irregularSeal2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 : 論理積ゲート 9"/>
          <p:cNvSpPr/>
          <p:nvPr/>
        </p:nvSpPr>
        <p:spPr>
          <a:xfrm rot="20338803">
            <a:off x="5495217" y="3020324"/>
            <a:ext cx="263341" cy="129202"/>
          </a:xfrm>
          <a:prstGeom prst="flowChartDelay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67445">
            <a:off x="4421308" y="1866687"/>
            <a:ext cx="205740" cy="262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61603">
            <a:off x="2641681" y="4029359"/>
            <a:ext cx="205740" cy="262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0" name="Picture 3"/>
          <p:cNvPicPr>
            <a:picLocks noChangeAspect="1" noChangeArrowheads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67445">
            <a:off x="5795898" y="2305745"/>
            <a:ext cx="205740" cy="262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" name="Picture 3"/>
          <p:cNvPicPr>
            <a:picLocks noChangeAspect="1" noChangeArrowheads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667445">
            <a:off x="6573032" y="2576788"/>
            <a:ext cx="205740" cy="262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915533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2088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敵の動作の予測（三角関数、二次関数の解）</a:t>
            </a:r>
            <a:endParaRPr kumimoji="1" lang="ja-JP" altLang="en-US" sz="32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/>
              <p:cNvSpPr txBox="1"/>
              <p:nvPr/>
            </p:nvSpPr>
            <p:spPr>
              <a:xfrm>
                <a:off x="2738003" y="4444460"/>
                <a:ext cx="321613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𝑎𝑡</m:t>
                          </m:r>
                        </m:e>
                        <m:sup>
                          <m: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32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+</m:t>
                      </m:r>
                      <m:r>
                        <a:rPr kumimoji="1" lang="en-US" altLang="ja-JP" sz="32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𝑏𝑡</m:t>
                      </m:r>
                      <m:r>
                        <a:rPr kumimoji="1" lang="en-US" altLang="ja-JP" sz="32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+</m:t>
                      </m:r>
                      <m:r>
                        <a:rPr kumimoji="1" lang="en-US" altLang="ja-JP" sz="32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𝑐</m:t>
                      </m:r>
                      <m:r>
                        <a:rPr kumimoji="1" lang="en-US" altLang="ja-JP" sz="32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kumimoji="1" lang="en-US" altLang="ja-JP" sz="32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テキスト ボックス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003" y="4444460"/>
                <a:ext cx="3216137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テキスト ボックス 61"/>
              <p:cNvSpPr txBox="1"/>
              <p:nvPr/>
            </p:nvSpPr>
            <p:spPr>
              <a:xfrm>
                <a:off x="2738003" y="5019093"/>
                <a:ext cx="3850221" cy="11462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32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𝑡</m:t>
                      </m:r>
                      <m:r>
                        <a:rPr kumimoji="1" lang="en-US" altLang="ja-JP" sz="32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𝑏</m:t>
                          </m:r>
                          <m: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en-US" altLang="ja-JP" sz="32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32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kumimoji="1" lang="en-US" altLang="ja-JP" sz="32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−4</m:t>
                              </m:r>
                              <m: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kumimoji="1" lang="en-US" altLang="ja-JP" sz="32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2" name="テキスト ボックス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003" y="5019093"/>
                <a:ext cx="3850221" cy="114621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テキスト ボックス 62"/>
              <p:cNvSpPr txBox="1"/>
              <p:nvPr/>
            </p:nvSpPr>
            <p:spPr>
              <a:xfrm>
                <a:off x="2738003" y="2324797"/>
                <a:ext cx="3744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𝑠𝑖𝑛</m:t>
                          </m:r>
                        </m:e>
                        <m:sup>
                          <m: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ja-JP" altLang="en-US" sz="28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</m:d>
                      <m:r>
                        <a:rPr kumimoji="1" lang="en-US" altLang="ja-JP" sz="28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𝑐𝑜𝑠</m:t>
                          </m:r>
                        </m:e>
                        <m:sup>
                          <m: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kumimoji="1" lang="en-US" altLang="ja-JP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ja-JP" altLang="en-US" sz="28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𝜃</m:t>
                          </m:r>
                        </m:e>
                      </m:d>
                      <m:r>
                        <a:rPr kumimoji="1" lang="en-US" altLang="ja-JP" sz="28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kumimoji="1" lang="en-US" altLang="ja-JP" sz="28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テキスト ボックス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003" y="2324797"/>
                <a:ext cx="3744871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テキスト ボックス 8"/>
          <p:cNvSpPr txBox="1"/>
          <p:nvPr/>
        </p:nvSpPr>
        <p:spPr>
          <a:xfrm>
            <a:off x="2122324" y="1554848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>
                <a:solidFill>
                  <a:schemeClr val="bg1"/>
                </a:solidFill>
              </a:rPr>
              <a:t>三角関数の公式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2122323" y="358036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>
                <a:solidFill>
                  <a:schemeClr val="bg1"/>
                </a:solidFill>
              </a:rPr>
              <a:t>二次関数の解の公式</a:t>
            </a:r>
            <a:endParaRPr kumimoji="1" lang="ja-JP" alt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501629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  <p:sp>
        <p:nvSpPr>
          <p:cNvPr id="7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92088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敵の動作の予測（二次関数の解）</a:t>
            </a:r>
            <a:endParaRPr kumimoji="1" lang="ja-JP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/>
              <p:cNvSpPr txBox="1"/>
              <p:nvPr/>
            </p:nvSpPr>
            <p:spPr>
              <a:xfrm>
                <a:off x="323528" y="980728"/>
                <a:ext cx="8496944" cy="56596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ja-JP" sz="24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𝑏𝑡</m:t>
                              </m:r>
                            </m:sub>
                          </m:sSub>
                          <m:r>
                            <a:rPr kumimoji="1" lang="en-US" altLang="ja-JP" sz="24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𝑡</m:t>
                          </m:r>
                          <m: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𝑑𝑋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𝑑𝑌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ja-JP" sz="2400" b="0" dirty="0">
                  <a:solidFill>
                    <a:schemeClr val="bg1"/>
                  </a:solidFill>
                  <a:ea typeface="Cambria Math"/>
                </a:endParaRPr>
              </a:p>
              <a:p>
                <a:endParaRPr kumimoji="1" lang="en-US" altLang="ja-JP" sz="2400" b="0" dirty="0">
                  <a:solidFill>
                    <a:schemeClr val="bg1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𝑏𝑡</m:t>
                              </m:r>
                            </m:sub>
                          </m:sSub>
                        </m:e>
                        <m:sup>
                          <m: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𝑑𝑋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𝑑𝑋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𝑒𝑚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𝑑𝑌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𝑑𝑌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𝑒𝑚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1"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kumimoji="1" lang="en-US" altLang="ja-JP" sz="2400" b="0" dirty="0">
                  <a:solidFill>
                    <a:schemeClr val="bg1"/>
                  </a:solidFill>
                  <a:ea typeface="Cambria Math"/>
                </a:endParaRPr>
              </a:p>
              <a:p>
                <a:endParaRPr kumimoji="1" lang="en-US" altLang="ja-JP" sz="2400" b="0" dirty="0">
                  <a:solidFill>
                    <a:schemeClr val="bg1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𝑏𝑡</m:t>
                              </m:r>
                            </m:sub>
                          </m:sSub>
                        </m:e>
                        <m:sup>
                          <m: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  <m:sup>
                          <m: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𝑑𝑋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sz="2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𝑒𝑚</m:t>
                                  </m:r>
                                </m:sub>
                              </m:sSub>
                              <m:r>
                                <a:rPr lang="en-US" altLang="ja-JP" sz="240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func>
                                <m:funcPr>
                                  <m:ctrlP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ja-JP" sz="2400" b="0" i="0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ja-JP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ja-JP" altLang="en-US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24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sSup>
                        <m:sSupPr>
                          <m:ctrlP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𝑑𝑌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𝑒𝑚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func>
                                <m:funcPr>
                                  <m:ctrlP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ja-JP" sz="2400" b="0" i="0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ja-JP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ja-JP" altLang="en-US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z="24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en-US" altLang="ja-JP" sz="2400" dirty="0">
                  <a:solidFill>
                    <a:schemeClr val="bg1"/>
                  </a:solidFill>
                  <a:ea typeface="Cambria Math"/>
                </a:endParaRPr>
              </a:p>
              <a:p>
                <a:endParaRPr lang="en-US" altLang="ja-JP" sz="2400" dirty="0">
                  <a:solidFill>
                    <a:schemeClr val="bg1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ja-JP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𝑏𝑡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𝑒𝑚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𝑐𝑜𝑠</m:t>
                              </m:r>
                            </m:e>
                            <m:sup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𝑒𝑚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ja-JP" alt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sSup>
                        <m:sSupPr>
                          <m:ctrlPr>
                            <a:rPr lang="en-US" altLang="ja-JP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  <m:sup>
                          <m:r>
                            <a:rPr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US" altLang="ja-JP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𝑑𝑋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𝑒𝑚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400" b="0" i="0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𝑑𝑌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𝑒𝑚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400" b="0" i="0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ja-JP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𝑡</m:t>
                      </m:r>
                      <m:r>
                        <a:rPr lang="en-US" altLang="ja-JP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US" altLang="ja-JP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𝑑𝑋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sz="2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𝑑𝑌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ja-JP" sz="2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ja-JP" sz="2400" b="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/>
                </a:endParaRPr>
              </a:p>
              <a:p>
                <a:endParaRPr lang="en-US" altLang="ja-JP" sz="2400" i="1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𝑏𝑡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𝑒𝑚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  <m:sup>
                          <m: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d>
                        <m:dPr>
                          <m:ctrlP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𝑑𝑋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×</m:t>
                              </m:r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𝑒𝑚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40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24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sz="24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𝑑𝑌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ja-JP" sz="24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𝑒𝑚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ja-JP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240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ja-JP" altLang="en-US" sz="24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sz="24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altLang="ja-JP" sz="24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𝑡</m:t>
                      </m:r>
                    </m:oMath>
                  </m:oMathPara>
                </a14:m>
                <a:endParaRPr lang="en-US" altLang="ja-JP" sz="2400" i="1" dirty="0">
                  <a:solidFill>
                    <a:schemeClr val="bg1"/>
                  </a:solidFill>
                  <a:latin typeface="Cambria Math"/>
                  <a:ea typeface="Cambria Math"/>
                </a:endParaRPr>
              </a:p>
              <a:p>
                <a:r>
                  <a:rPr lang="en-US" altLang="ja-JP" sz="2400" i="1" dirty="0">
                    <a:solidFill>
                      <a:schemeClr val="bg1"/>
                    </a:solidFill>
                    <a:latin typeface="Cambria Math"/>
                    <a:ea typeface="Cambria Math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/>
                      </a:rPr>
                      <m:t>  </m:t>
                    </m:r>
                    <m:r>
                      <a:rPr lang="en-US" altLang="ja-JP" sz="24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+(−</m:t>
                    </m:r>
                    <m:sSup>
                      <m:sSupPr>
                        <m:ctrlPr>
                          <a:rPr lang="en-US" altLang="ja-JP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𝑑𝑋</m:t>
                            </m:r>
                          </m:e>
                          <m:sub>
                            <m:r>
                              <a:rPr lang="en-US" altLang="ja-JP" sz="24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ja-JP" sz="24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−</m:t>
                    </m:r>
                    <m:sSup>
                      <m:sSupPr>
                        <m:ctrlPr>
                          <a:rPr lang="en-US" altLang="ja-JP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ja-JP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𝑑𝑌</m:t>
                            </m:r>
                          </m:e>
                          <m:sub>
                            <m:r>
                              <a:rPr lang="en-US" altLang="ja-JP" sz="24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e>
                      <m:sup>
                        <m:r>
                          <a:rPr lang="en-US" altLang="ja-JP" sz="24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altLang="ja-JP" sz="2400" dirty="0">
                  <a:solidFill>
                    <a:schemeClr val="bg1"/>
                  </a:solidFill>
                  <a:ea typeface="Cambria Math"/>
                </a:endParaRPr>
              </a:p>
            </p:txBody>
          </p:sp>
        </mc:Choice>
        <mc:Fallback xmlns="">
          <p:sp>
            <p:nvSpPr>
              <p:cNvPr id="8" name="テキスト ボックス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980728"/>
                <a:ext cx="8496944" cy="565962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24274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78098"/>
          </a:xfrm>
        </p:spPr>
        <p:txBody>
          <a:bodyPr>
            <a:normAutofit/>
          </a:bodyPr>
          <a:lstStyle/>
          <a:p>
            <a:r>
              <a:rPr lang="ja-JP" altLang="en-US" sz="3200" dirty="0"/>
              <a:t>敵の動作の予測（サンプルプログラム）</a:t>
            </a:r>
            <a:endParaRPr kumimoji="1" lang="ja-JP" altLang="en-US" sz="32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07504" y="836712"/>
            <a:ext cx="4176464" cy="58326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1400" dirty="0"/>
              <a:t>public void </a:t>
            </a:r>
            <a:r>
              <a:rPr lang="en-US" altLang="ja-JP" sz="1400" dirty="0" err="1"/>
              <a:t>onScannedRobot</a:t>
            </a:r>
            <a:r>
              <a:rPr lang="en-US" altLang="ja-JP" sz="1400" dirty="0"/>
              <a:t>(</a:t>
            </a:r>
            <a:r>
              <a:rPr lang="en-US" altLang="ja-JP" sz="1400" dirty="0" err="1"/>
              <a:t>ScannedRobotEvent</a:t>
            </a:r>
            <a:r>
              <a:rPr lang="en-US" altLang="ja-JP" sz="1400" dirty="0"/>
              <a:t> e){</a:t>
            </a:r>
          </a:p>
          <a:p>
            <a:pPr marL="0" indent="0">
              <a:buNone/>
            </a:pPr>
            <a:r>
              <a:rPr lang="en-US" altLang="ja-JP" sz="1400" dirty="0"/>
              <a:t>    </a:t>
            </a:r>
            <a:r>
              <a:rPr lang="en-US" altLang="ja-JP" sz="1400" dirty="0" err="1"/>
              <a:t>int</a:t>
            </a:r>
            <a:r>
              <a:rPr lang="en-US" altLang="ja-JP" sz="1400" dirty="0"/>
              <a:t> power = 1;</a:t>
            </a:r>
          </a:p>
          <a:p>
            <a:pPr marL="0" indent="0">
              <a:buNone/>
            </a:pPr>
            <a:r>
              <a:rPr lang="en-US" altLang="ja-JP" sz="1400" dirty="0"/>
              <a:t>    </a:t>
            </a:r>
            <a:r>
              <a:rPr lang="en-US" altLang="ja-JP" sz="1400" dirty="0" err="1"/>
              <a:t>int</a:t>
            </a:r>
            <a:r>
              <a:rPr lang="en-US" altLang="ja-JP" sz="1400" dirty="0"/>
              <a:t> </a:t>
            </a:r>
            <a:r>
              <a:rPr lang="en-US" altLang="ja-JP" sz="1400" dirty="0" err="1"/>
              <a:t>v_bt</a:t>
            </a:r>
            <a:r>
              <a:rPr lang="en-US" altLang="ja-JP" sz="1400" dirty="0"/>
              <a:t> = 20-3*power;</a:t>
            </a:r>
          </a:p>
          <a:p>
            <a:pPr marL="0" indent="0">
              <a:buNone/>
            </a:pPr>
            <a:r>
              <a:rPr lang="en-US" altLang="ja-JP" sz="1400" dirty="0"/>
              <a:t>    double </a:t>
            </a:r>
            <a:r>
              <a:rPr lang="en-US" altLang="ja-JP" sz="1400" dirty="0" err="1"/>
              <a:t>v_em</a:t>
            </a:r>
            <a:r>
              <a:rPr lang="en-US" altLang="ja-JP" sz="1400" dirty="0"/>
              <a:t> = </a:t>
            </a:r>
            <a:r>
              <a:rPr lang="en-US" altLang="ja-JP" sz="1400" dirty="0" err="1"/>
              <a:t>e.getVelocity</a:t>
            </a:r>
            <a:r>
              <a:rPr lang="en-US" altLang="ja-JP" sz="1400" dirty="0"/>
              <a:t>();</a:t>
            </a:r>
          </a:p>
          <a:p>
            <a:pPr marL="0" indent="0">
              <a:buNone/>
            </a:pPr>
            <a:r>
              <a:rPr lang="en-US" altLang="ja-JP" sz="1400" dirty="0"/>
              <a:t>    double seta1 = </a:t>
            </a:r>
            <a:r>
              <a:rPr lang="en-US" altLang="ja-JP" sz="1400" dirty="0" err="1"/>
              <a:t>Math.toRadians</a:t>
            </a:r>
            <a:r>
              <a:rPr lang="en-US" altLang="ja-JP" sz="1400" dirty="0"/>
              <a:t>(90-e.getBearing()-</a:t>
            </a:r>
          </a:p>
          <a:p>
            <a:pPr marL="0" indent="0">
              <a:buNone/>
            </a:pPr>
            <a:r>
              <a:rPr lang="en-US" altLang="ja-JP" sz="1400" dirty="0"/>
              <a:t>        </a:t>
            </a:r>
            <a:r>
              <a:rPr lang="en-US" altLang="ja-JP" sz="1400" dirty="0" err="1"/>
              <a:t>getHeading</a:t>
            </a:r>
            <a:r>
              <a:rPr lang="en-US" altLang="ja-JP" sz="1400" dirty="0"/>
              <a:t>());</a:t>
            </a:r>
          </a:p>
          <a:p>
            <a:pPr marL="0" indent="0">
              <a:buNone/>
            </a:pPr>
            <a:r>
              <a:rPr lang="en-US" altLang="ja-JP" sz="1400" dirty="0"/>
              <a:t>    double seta2 = </a:t>
            </a:r>
            <a:r>
              <a:rPr lang="en-US" altLang="ja-JP" sz="1400" dirty="0" err="1"/>
              <a:t>Math.toRadians</a:t>
            </a:r>
            <a:r>
              <a:rPr lang="en-US" altLang="ja-JP" sz="1400" dirty="0"/>
              <a:t>(90-e.getHeading());</a:t>
            </a:r>
          </a:p>
          <a:p>
            <a:pPr marL="0" indent="0">
              <a:buNone/>
            </a:pPr>
            <a:r>
              <a:rPr lang="en-US" altLang="ja-JP" sz="1400" dirty="0"/>
              <a:t>    double dx0 = </a:t>
            </a:r>
            <a:r>
              <a:rPr lang="en-US" altLang="ja-JP" sz="1400" dirty="0" err="1"/>
              <a:t>e.getDistance</a:t>
            </a:r>
            <a:r>
              <a:rPr lang="en-US" altLang="ja-JP" sz="1400" dirty="0"/>
              <a:t>()*</a:t>
            </a:r>
            <a:r>
              <a:rPr lang="en-US" altLang="ja-JP" sz="1400" dirty="0" err="1"/>
              <a:t>Math.cos</a:t>
            </a:r>
            <a:r>
              <a:rPr lang="en-US" altLang="ja-JP" sz="1400" dirty="0"/>
              <a:t>(seta1);</a:t>
            </a:r>
          </a:p>
          <a:p>
            <a:pPr marL="0" indent="0">
              <a:buNone/>
            </a:pPr>
            <a:r>
              <a:rPr lang="en-US" altLang="ja-JP" sz="1400" dirty="0"/>
              <a:t>    double dy0 = </a:t>
            </a:r>
            <a:r>
              <a:rPr lang="en-US" altLang="ja-JP" sz="1400" dirty="0" err="1"/>
              <a:t>e.getDistance</a:t>
            </a:r>
            <a:r>
              <a:rPr lang="en-US" altLang="ja-JP" sz="1400" dirty="0"/>
              <a:t>()*</a:t>
            </a:r>
            <a:r>
              <a:rPr lang="en-US" altLang="ja-JP" sz="1400" dirty="0" err="1"/>
              <a:t>Math.sin</a:t>
            </a:r>
            <a:r>
              <a:rPr lang="en-US" altLang="ja-JP" sz="1400" dirty="0"/>
              <a:t>(seta1);</a:t>
            </a:r>
          </a:p>
          <a:p>
            <a:pPr marL="0" indent="0">
              <a:buNone/>
            </a:pPr>
            <a:r>
              <a:rPr lang="en-US" altLang="ja-JP" sz="1400" dirty="0"/>
              <a:t>    double a = </a:t>
            </a:r>
            <a:r>
              <a:rPr lang="en-US" altLang="ja-JP" sz="1400" dirty="0" err="1"/>
              <a:t>Math.pow</a:t>
            </a:r>
            <a:r>
              <a:rPr lang="en-US" altLang="ja-JP" sz="1400" dirty="0"/>
              <a:t>(v_bt,2)-</a:t>
            </a:r>
            <a:r>
              <a:rPr lang="en-US" altLang="ja-JP" sz="1400" dirty="0" err="1"/>
              <a:t>Math.pow</a:t>
            </a:r>
            <a:r>
              <a:rPr lang="en-US" altLang="ja-JP" sz="1400" dirty="0"/>
              <a:t>(v_em,2);</a:t>
            </a:r>
          </a:p>
          <a:p>
            <a:pPr marL="0" indent="0">
              <a:buNone/>
            </a:pPr>
            <a:r>
              <a:rPr lang="en-US" altLang="ja-JP" sz="1400" dirty="0"/>
              <a:t>    double b = -2*dx0*</a:t>
            </a:r>
            <a:r>
              <a:rPr lang="en-US" altLang="ja-JP" sz="1400" dirty="0" err="1"/>
              <a:t>v_em</a:t>
            </a:r>
            <a:r>
              <a:rPr lang="en-US" altLang="ja-JP" sz="1400" dirty="0"/>
              <a:t>*</a:t>
            </a:r>
            <a:r>
              <a:rPr lang="en-US" altLang="ja-JP" sz="1400" dirty="0" err="1"/>
              <a:t>Math.cos</a:t>
            </a:r>
            <a:r>
              <a:rPr lang="en-US" altLang="ja-JP" sz="1400" dirty="0"/>
              <a:t>(seta2)-</a:t>
            </a:r>
          </a:p>
          <a:p>
            <a:pPr marL="0" indent="0">
              <a:buNone/>
            </a:pPr>
            <a:r>
              <a:rPr lang="en-US" altLang="ja-JP" sz="1400" dirty="0"/>
              <a:t>        2*dy0*</a:t>
            </a:r>
            <a:r>
              <a:rPr lang="en-US" altLang="ja-JP" sz="1400" dirty="0" err="1"/>
              <a:t>v_em</a:t>
            </a:r>
            <a:r>
              <a:rPr lang="en-US" altLang="ja-JP" sz="1400" dirty="0"/>
              <a:t>*</a:t>
            </a:r>
            <a:r>
              <a:rPr lang="en-US" altLang="ja-JP" sz="1400" dirty="0" err="1"/>
              <a:t>Math.sin</a:t>
            </a:r>
            <a:r>
              <a:rPr lang="en-US" altLang="ja-JP" sz="1400" dirty="0"/>
              <a:t>(seta2);</a:t>
            </a:r>
          </a:p>
          <a:p>
            <a:pPr marL="0" indent="0">
              <a:buNone/>
            </a:pPr>
            <a:r>
              <a:rPr lang="en-US" altLang="ja-JP" sz="1400" dirty="0"/>
              <a:t>    double c = -</a:t>
            </a:r>
            <a:r>
              <a:rPr lang="en-US" altLang="ja-JP" sz="1400" dirty="0" err="1"/>
              <a:t>Math.pow</a:t>
            </a:r>
            <a:r>
              <a:rPr lang="en-US" altLang="ja-JP" sz="1400" dirty="0"/>
              <a:t>(dx0,2)-</a:t>
            </a:r>
            <a:r>
              <a:rPr lang="en-US" altLang="ja-JP" sz="1400" dirty="0" err="1"/>
              <a:t>Math.pow</a:t>
            </a:r>
            <a:r>
              <a:rPr lang="en-US" altLang="ja-JP" sz="1400" dirty="0"/>
              <a:t>(dy0,2);</a:t>
            </a:r>
          </a:p>
          <a:p>
            <a:pPr marL="0" indent="0">
              <a:buNone/>
            </a:pPr>
            <a:endParaRPr lang="en-US" altLang="ja-JP" sz="1400" dirty="0"/>
          </a:p>
          <a:p>
            <a:pPr marL="0" indent="0">
              <a:buNone/>
            </a:pPr>
            <a:r>
              <a:rPr lang="en-US" altLang="ja-JP" sz="1400" dirty="0"/>
              <a:t>    double t1 = (-</a:t>
            </a:r>
            <a:r>
              <a:rPr lang="en-US" altLang="ja-JP" sz="1400" dirty="0" err="1"/>
              <a:t>b+Math.sqrt</a:t>
            </a:r>
            <a:r>
              <a:rPr lang="en-US" altLang="ja-JP" sz="1400" dirty="0"/>
              <a:t>(</a:t>
            </a:r>
            <a:r>
              <a:rPr lang="en-US" altLang="ja-JP" sz="1400" dirty="0" err="1"/>
              <a:t>Math.pow</a:t>
            </a:r>
            <a:r>
              <a:rPr lang="en-US" altLang="ja-JP" sz="1400" dirty="0"/>
              <a:t>(b,2)-</a:t>
            </a:r>
          </a:p>
          <a:p>
            <a:pPr marL="0" indent="0">
              <a:buNone/>
            </a:pPr>
            <a:r>
              <a:rPr lang="en-US" altLang="ja-JP" sz="1400" dirty="0"/>
              <a:t>        4*a*c))/(2*a);</a:t>
            </a:r>
          </a:p>
          <a:p>
            <a:pPr marL="0" indent="0">
              <a:buNone/>
            </a:pPr>
            <a:r>
              <a:rPr lang="en-US" altLang="ja-JP" sz="1400" dirty="0"/>
              <a:t>    double t2 = (-b-</a:t>
            </a:r>
            <a:r>
              <a:rPr lang="en-US" altLang="ja-JP" sz="1400" dirty="0" err="1"/>
              <a:t>Math.sqrt</a:t>
            </a:r>
            <a:r>
              <a:rPr lang="en-US" altLang="ja-JP" sz="1400" dirty="0"/>
              <a:t>(</a:t>
            </a:r>
            <a:r>
              <a:rPr lang="en-US" altLang="ja-JP" sz="1400" dirty="0" err="1"/>
              <a:t>Math.pow</a:t>
            </a:r>
            <a:r>
              <a:rPr lang="en-US" altLang="ja-JP" sz="1400" dirty="0"/>
              <a:t>(b,2)-</a:t>
            </a:r>
          </a:p>
          <a:p>
            <a:pPr marL="0" indent="0">
              <a:buNone/>
            </a:pPr>
            <a:r>
              <a:rPr lang="en-US" altLang="ja-JP" sz="1400" dirty="0"/>
              <a:t>        4*a*c))/(2*a);</a:t>
            </a:r>
          </a:p>
          <a:p>
            <a:pPr marL="0" indent="0">
              <a:buNone/>
            </a:pPr>
            <a:endParaRPr lang="en-US" altLang="ja-JP" sz="1400" dirty="0"/>
          </a:p>
          <a:p>
            <a:pPr marL="0" indent="0">
              <a:buNone/>
            </a:pPr>
            <a:r>
              <a:rPr lang="en-US" altLang="ja-JP" sz="1400" dirty="0"/>
              <a:t>    double t = </a:t>
            </a:r>
            <a:r>
              <a:rPr lang="en-US" altLang="ja-JP" sz="1400" dirty="0" err="1"/>
              <a:t>Math.max</a:t>
            </a:r>
            <a:r>
              <a:rPr lang="en-US" altLang="ja-JP" sz="1400" dirty="0"/>
              <a:t>(t1,t2);</a:t>
            </a:r>
          </a:p>
          <a:p>
            <a:pPr marL="0" indent="0">
              <a:buNone/>
            </a:pPr>
            <a:r>
              <a:rPr lang="en-US" altLang="ja-JP" sz="1400" dirty="0"/>
              <a:t>    double dx1 = dx0+v_em*t*</a:t>
            </a:r>
            <a:r>
              <a:rPr lang="en-US" altLang="ja-JP" sz="1400" dirty="0" err="1"/>
              <a:t>Math.cos</a:t>
            </a:r>
            <a:r>
              <a:rPr lang="en-US" altLang="ja-JP" sz="1400" dirty="0"/>
              <a:t>(seta2);</a:t>
            </a:r>
          </a:p>
          <a:p>
            <a:pPr marL="0" indent="0">
              <a:buNone/>
            </a:pPr>
            <a:r>
              <a:rPr lang="en-US" altLang="ja-JP" sz="1400" dirty="0"/>
              <a:t>    double dy1 = dy0+v_em*t*</a:t>
            </a:r>
            <a:r>
              <a:rPr lang="en-US" altLang="ja-JP" sz="1400" dirty="0" err="1"/>
              <a:t>Math.sin</a:t>
            </a:r>
            <a:r>
              <a:rPr lang="en-US" altLang="ja-JP" sz="1400" dirty="0"/>
              <a:t>(seta2);</a:t>
            </a:r>
          </a:p>
          <a:p>
            <a:pPr marL="0" indent="0">
              <a:buNone/>
            </a:pPr>
            <a:endParaRPr lang="en-US" altLang="ja-JP" sz="14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sp>
        <p:nvSpPr>
          <p:cNvPr id="5" name="コンテンツ プレースホルダー 2"/>
          <p:cNvSpPr txBox="1">
            <a:spLocks/>
          </p:cNvSpPr>
          <p:nvPr/>
        </p:nvSpPr>
        <p:spPr>
          <a:xfrm>
            <a:off x="4436368" y="1412776"/>
            <a:ext cx="4176464" cy="49685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ja-JP" altLang="en-US" sz="1400" dirty="0"/>
              <a:t>    </a:t>
            </a:r>
            <a:r>
              <a:rPr lang="en-US" altLang="ja-JP" sz="1400" dirty="0"/>
              <a:t>if(</a:t>
            </a:r>
            <a:r>
              <a:rPr lang="en-US" altLang="ja-JP" sz="1400" dirty="0" err="1"/>
              <a:t>getX</a:t>
            </a:r>
            <a:r>
              <a:rPr lang="en-US" altLang="ja-JP" sz="1400" dirty="0"/>
              <a:t>()+dx1 &lt; </a:t>
            </a:r>
            <a:r>
              <a:rPr lang="en-US" altLang="ja-JP" sz="1400" dirty="0" err="1"/>
              <a:t>getWidth</a:t>
            </a:r>
            <a:r>
              <a:rPr lang="en-US" altLang="ja-JP" sz="1400" dirty="0"/>
              <a:t>()/2){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    dx1 = </a:t>
            </a:r>
            <a:r>
              <a:rPr lang="en-US" altLang="ja-JP" sz="1400" dirty="0" err="1"/>
              <a:t>getWidth</a:t>
            </a:r>
            <a:r>
              <a:rPr lang="en-US" altLang="ja-JP" sz="1400" dirty="0"/>
              <a:t>()/2-getX();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}else if(</a:t>
            </a:r>
            <a:r>
              <a:rPr lang="en-US" altLang="ja-JP" sz="1400" dirty="0" err="1"/>
              <a:t>getX</a:t>
            </a:r>
            <a:r>
              <a:rPr lang="en-US" altLang="ja-JP" sz="1400" dirty="0"/>
              <a:t>()+dx1 &gt; </a:t>
            </a:r>
            <a:r>
              <a:rPr lang="en-US" altLang="ja-JP" sz="1400" dirty="0" err="1"/>
              <a:t>getBattleFieldWidth</a:t>
            </a:r>
            <a:r>
              <a:rPr lang="en-US" altLang="ja-JP" sz="1400" dirty="0"/>
              <a:t>()-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    </a:t>
            </a:r>
            <a:r>
              <a:rPr lang="en-US" altLang="ja-JP" sz="1400" dirty="0" err="1"/>
              <a:t>getWidth</a:t>
            </a:r>
            <a:r>
              <a:rPr lang="en-US" altLang="ja-JP" sz="1400" dirty="0"/>
              <a:t>()/2){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    dx1 = </a:t>
            </a:r>
            <a:r>
              <a:rPr lang="en-US" altLang="ja-JP" sz="1400" dirty="0" err="1"/>
              <a:t>getBattleFieldWidth</a:t>
            </a:r>
            <a:r>
              <a:rPr lang="en-US" altLang="ja-JP" sz="1400" dirty="0"/>
              <a:t>()-</a:t>
            </a:r>
            <a:r>
              <a:rPr lang="en-US" altLang="ja-JP" sz="1400" dirty="0" err="1"/>
              <a:t>getWidth</a:t>
            </a:r>
            <a:r>
              <a:rPr lang="en-US" altLang="ja-JP" sz="1400" dirty="0"/>
              <a:t>()/2-getX();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}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if(</a:t>
            </a:r>
            <a:r>
              <a:rPr lang="en-US" altLang="ja-JP" sz="1400" dirty="0" err="1"/>
              <a:t>getY</a:t>
            </a:r>
            <a:r>
              <a:rPr lang="en-US" altLang="ja-JP" sz="1400" dirty="0"/>
              <a:t>()+dy1 &lt; </a:t>
            </a:r>
            <a:r>
              <a:rPr lang="en-US" altLang="ja-JP" sz="1400" dirty="0" err="1"/>
              <a:t>getHeight</a:t>
            </a:r>
            <a:r>
              <a:rPr lang="en-US" altLang="ja-JP" sz="1400" dirty="0"/>
              <a:t>()/2){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    dy1 = </a:t>
            </a:r>
            <a:r>
              <a:rPr lang="en-US" altLang="ja-JP" sz="1400" dirty="0" err="1"/>
              <a:t>getHeight</a:t>
            </a:r>
            <a:r>
              <a:rPr lang="en-US" altLang="ja-JP" sz="1400" dirty="0"/>
              <a:t>()/2-getY();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}else if(</a:t>
            </a:r>
            <a:r>
              <a:rPr lang="en-US" altLang="ja-JP" sz="1400" dirty="0" err="1"/>
              <a:t>getY</a:t>
            </a:r>
            <a:r>
              <a:rPr lang="en-US" altLang="ja-JP" sz="1400" dirty="0"/>
              <a:t>()+dy1 &gt; </a:t>
            </a:r>
            <a:r>
              <a:rPr lang="en-US" altLang="ja-JP" sz="1400" dirty="0" err="1"/>
              <a:t>getBattleFieldHeight</a:t>
            </a:r>
            <a:r>
              <a:rPr lang="en-US" altLang="ja-JP" sz="1400" dirty="0"/>
              <a:t>()-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    </a:t>
            </a:r>
            <a:r>
              <a:rPr lang="en-US" altLang="ja-JP" sz="1400" dirty="0" err="1"/>
              <a:t>getHeight</a:t>
            </a:r>
            <a:r>
              <a:rPr lang="en-US" altLang="ja-JP" sz="1400" dirty="0"/>
              <a:t>()/2){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    dy1 = </a:t>
            </a:r>
            <a:r>
              <a:rPr lang="en-US" altLang="ja-JP" sz="1400" dirty="0" err="1"/>
              <a:t>getBattleFieldHeight</a:t>
            </a:r>
            <a:r>
              <a:rPr lang="en-US" altLang="ja-JP" sz="1400" dirty="0"/>
              <a:t>()-</a:t>
            </a:r>
            <a:r>
              <a:rPr lang="en-US" altLang="ja-JP" sz="1400" dirty="0" err="1"/>
              <a:t>getHeight</a:t>
            </a:r>
            <a:r>
              <a:rPr lang="en-US" altLang="ja-JP" sz="1400" dirty="0"/>
              <a:t>()/2-getY();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}</a:t>
            </a:r>
          </a:p>
          <a:p>
            <a:pPr marL="0" indent="0">
              <a:buFont typeface="Arial" pitchFamily="34" charset="0"/>
              <a:buNone/>
            </a:pPr>
            <a:endParaRPr lang="en-US" altLang="ja-JP" sz="1400" dirty="0"/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double degree = 90-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    </a:t>
            </a:r>
            <a:r>
              <a:rPr lang="en-US" altLang="ja-JP" sz="1400" dirty="0" err="1"/>
              <a:t>Math.toDegrees</a:t>
            </a:r>
            <a:r>
              <a:rPr lang="en-US" altLang="ja-JP" sz="1400" dirty="0"/>
              <a:t>(Math.atan2(dy1,dx1));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</a:t>
            </a:r>
            <a:r>
              <a:rPr lang="en-US" altLang="ja-JP" sz="1400" dirty="0" err="1"/>
              <a:t>turnGunRight</a:t>
            </a:r>
            <a:r>
              <a:rPr lang="en-US" altLang="ja-JP" sz="1400" dirty="0"/>
              <a:t>(</a:t>
            </a:r>
            <a:r>
              <a:rPr lang="en-US" altLang="ja-JP" sz="1400" dirty="0" err="1"/>
              <a:t>normalizeDegree</a:t>
            </a:r>
            <a:r>
              <a:rPr lang="en-US" altLang="ja-JP" sz="1400" dirty="0"/>
              <a:t>(degree-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    </a:t>
            </a:r>
            <a:r>
              <a:rPr lang="en-US" altLang="ja-JP" sz="1400" dirty="0" err="1"/>
              <a:t>getGunHeading</a:t>
            </a:r>
            <a:r>
              <a:rPr lang="en-US" altLang="ja-JP" sz="1400" dirty="0"/>
              <a:t>()));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    fire(power);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ja-JP" sz="1400" dirty="0"/>
              <a:t>}</a:t>
            </a:r>
          </a:p>
          <a:p>
            <a:pPr marL="0" indent="0">
              <a:buFont typeface="Arial" pitchFamily="34" charset="0"/>
              <a:buNone/>
            </a:pPr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1167506057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参考文献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可知豊</a:t>
            </a:r>
            <a:r>
              <a:rPr lang="en-US" altLang="ja-JP" dirty="0"/>
              <a:t>, </a:t>
            </a:r>
            <a:r>
              <a:rPr kumimoji="1" lang="en-US" altLang="ja-JP" dirty="0"/>
              <a:t>Java</a:t>
            </a:r>
            <a:r>
              <a:rPr kumimoji="1" lang="ja-JP" altLang="en-US" dirty="0"/>
              <a:t>プログラマーにもなれちゃう </a:t>
            </a:r>
            <a:r>
              <a:rPr kumimoji="1" lang="en-US" altLang="ja-JP" dirty="0" err="1"/>
              <a:t>Robocode</a:t>
            </a:r>
            <a:r>
              <a:rPr kumimoji="1" lang="en-US" altLang="ja-JP" dirty="0"/>
              <a:t> &amp; </a:t>
            </a:r>
            <a:r>
              <a:rPr kumimoji="1" lang="ja-JP" altLang="en-US" dirty="0"/>
              <a:t>ゲームプログラミング学習術</a:t>
            </a:r>
            <a:r>
              <a:rPr kumimoji="1" lang="en-US" altLang="ja-JP" dirty="0"/>
              <a:t>, </a:t>
            </a:r>
            <a:r>
              <a:rPr kumimoji="1" lang="ja-JP" altLang="en-US" dirty="0"/>
              <a:t>ソシム株式会社</a:t>
            </a:r>
            <a:r>
              <a:rPr kumimoji="1" lang="en-US" altLang="ja-JP" dirty="0"/>
              <a:t>, ISBN4-88337-373-8, 2003.</a:t>
            </a:r>
          </a:p>
          <a:p>
            <a:r>
              <a:rPr lang="en-US" altLang="ja-JP" dirty="0"/>
              <a:t>IBM</a:t>
            </a:r>
            <a:r>
              <a:rPr lang="ja-JP" altLang="en-US" dirty="0"/>
              <a:t>東京基礎研究所ロボコード・サポーターズ</a:t>
            </a:r>
            <a:r>
              <a:rPr lang="en-US" altLang="ja-JP" dirty="0"/>
              <a:t> </a:t>
            </a:r>
            <a:r>
              <a:rPr lang="ja-JP" altLang="en-US" dirty="0"/>
              <a:t>立堀道昭</a:t>
            </a:r>
            <a:r>
              <a:rPr lang="en-US" altLang="ja-JP" dirty="0"/>
              <a:t>,</a:t>
            </a:r>
            <a:r>
              <a:rPr lang="ja-JP" altLang="en-US" dirty="0"/>
              <a:t>杉原亮</a:t>
            </a:r>
            <a:r>
              <a:rPr lang="en-US" altLang="ja-JP" dirty="0"/>
              <a:t>, </a:t>
            </a:r>
            <a:r>
              <a:rPr lang="ja-JP" altLang="en-US" dirty="0"/>
              <a:t>益満健</a:t>
            </a:r>
            <a:r>
              <a:rPr lang="en-US" altLang="ja-JP" dirty="0"/>
              <a:t>, </a:t>
            </a:r>
            <a:r>
              <a:rPr lang="ja-JP" altLang="en-US" dirty="0"/>
              <a:t>梶永泰正</a:t>
            </a:r>
            <a:r>
              <a:rPr lang="en-US" altLang="ja-JP" dirty="0"/>
              <a:t>, </a:t>
            </a:r>
            <a:r>
              <a:rPr lang="ja-JP" altLang="en-US" dirty="0"/>
              <a:t>小柳光生</a:t>
            </a:r>
            <a:r>
              <a:rPr lang="en-US" altLang="ja-JP" dirty="0"/>
              <a:t>, ROBOCODE BIBLE </a:t>
            </a:r>
            <a:r>
              <a:rPr lang="ja-JP" altLang="en-US" dirty="0"/>
              <a:t>最強ロボットへの道</a:t>
            </a:r>
            <a:r>
              <a:rPr lang="en-US" altLang="ja-JP" dirty="0"/>
              <a:t>, </a:t>
            </a:r>
            <a:r>
              <a:rPr lang="ja-JP" altLang="en-US" dirty="0"/>
              <a:t>株式会社技術評論社</a:t>
            </a:r>
            <a:r>
              <a:rPr lang="en-US" altLang="ja-JP" dirty="0"/>
              <a:t>, ISBN4-7741-1738-2, 2003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738662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3386</TotalTime>
  <Words>1173</Words>
  <Application>Microsoft Office PowerPoint</Application>
  <PresentationFormat>画面に合わせる (4:3)</PresentationFormat>
  <Paragraphs>143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Consolas</vt:lpstr>
      <vt:lpstr>Office テーマ</vt:lpstr>
      <vt:lpstr>PowerPoint プレゼンテーション</vt:lpstr>
      <vt:lpstr>PowerPoint プレゼンテーション</vt:lpstr>
      <vt:lpstr>敵の動作の予測（幾何学）</vt:lpstr>
      <vt:lpstr>敵の動作の予測（三角関数、二次関数の解）</vt:lpstr>
      <vt:lpstr>敵の動作の予測（二次関数の解）</vt:lpstr>
      <vt:lpstr>敵の動作の予測（サンプルプログラム）</vt:lpstr>
      <vt:lpstr>参考文献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論理学入門</dc:title>
  <cp:lastModifiedBy>中田 豊久</cp:lastModifiedBy>
  <cp:revision>1736</cp:revision>
  <cp:lastPrinted>2018-04-17T03:01:17Z</cp:lastPrinted>
  <dcterms:modified xsi:type="dcterms:W3CDTF">2026-04-07T14:04:06Z</dcterms:modified>
</cp:coreProperties>
</file>